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882" r:id="rId4"/>
  </p:sldMasterIdLst>
  <p:notesMasterIdLst>
    <p:notesMasterId r:id="rId18"/>
  </p:notesMasterIdLst>
  <p:sldIdLst>
    <p:sldId id="2147479397" r:id="rId5"/>
    <p:sldId id="2147479406" r:id="rId6"/>
    <p:sldId id="2147479408" r:id="rId7"/>
    <p:sldId id="2147471712" r:id="rId8"/>
    <p:sldId id="2147479400" r:id="rId9"/>
    <p:sldId id="2147479374" r:id="rId10"/>
    <p:sldId id="2147479401" r:id="rId11"/>
    <p:sldId id="2147479402" r:id="rId12"/>
    <p:sldId id="271" r:id="rId13"/>
    <p:sldId id="272" r:id="rId14"/>
    <p:sldId id="2147471722" r:id="rId15"/>
    <p:sldId id="2147471723" r:id="rId16"/>
    <p:sldId id="214747940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8C0B00-017C-20A6-9458-344ED394DBA9}" name="Shifa Redmond (US)" initials="" userId="S::shifa.r.redmond@pwc.com::68370f3e-6c23-4943-a4d2-06cb360c246e" providerId="AD"/>
  <p188:author id="{47DCCD06-5AE8-1D81-CFA9-0A187D2C9977}" name="Jarrod Sullivan (US)" initials="J(" userId="S::jarrod.d.sullivan@pwc.com::560a88e7-ba46-4912-9e87-ef9f3d564636" providerId="AD"/>
  <p188:author id="{6C920E11-B945-51AC-7E9E-C79FAEFCAAFB}" name="Amy Weissler (US)" initials="" userId="S::amy.a.weissler@pwc.com::fca708b9-145c-4f9e-9370-a39f7b0f4dc1" providerId="AD"/>
  <p188:author id="{EDDD641E-A4BE-2A12-9283-6EBF7E476C08}" name="Monika Vesela (CZ)" initials="MV(" userId="S::monika.vesela@pwc.com::c95f48f4-195e-4d9a-afa9-da90de6403f7" providerId="AD"/>
  <p188:author id="{9C83CB2A-D817-95EC-65FE-B80AE8F1CA35}" name="Angie Fiore (US)" initials="A(" userId="S::angela.d.fiore@pwc.com::04b6baf1-b833-4d9f-b843-9b9ee067a7c3" providerId="AD"/>
  <p188:author id="{BBC4E02A-5A84-086C-AE19-01844E5838EE}" name="Giselle Kolkoto (ZA)" initials="G(" userId="S::giselle.kolkoto@pwc.com::4dc6c8da-c291-438d-94e8-a8c1460bda11" providerId="AD"/>
  <p188:author id="{16DDA839-3071-41FE-2B3F-1A02B3B7FE4C}" name="Jessica Veith (UK)" initials="J(" userId="S::jessica.c.veith@pwc.com::df60fb55-bd6b-45b5-a410-b6af3c47904e" providerId="AD"/>
  <p188:author id="{8F25DC49-0DCE-BDBA-C876-74DCA066ADBB}" name="Catherine Pinchen (UK)" initials="C(" userId="S::catherine.pinchen@pwc.com::1b40acb8-3595-4e5a-874e-a41cbd097041" providerId="AD"/>
  <p188:author id="{E8CF044F-75AB-C1AD-113A-C040E2B895AD}" name="Emitom Hillsman (US)" initials="E(" userId="S::emitom.a.hillsman@pwc.com::d1af1e42-3d21-4865-9492-7b52ef72bad8" providerId="AD"/>
  <p188:author id="{81C5AB6A-8C82-7B16-EF64-ADEBCB9C2E45}" name="Barbara Slepaczuk (PL)" initials="BS" userId="S::barbara.slepaczuk@pwc.com::926710e9-8eb9-470e-b6ce-b08877f0728e" providerId="AD"/>
  <p188:author id="{DF4F1B6D-9E03-C6A7-CBD9-604F8A86C4A9}" name="Kelly Bailey (US)" initials="KB" userId="S::kelly.l.bailey@pwc.com::878131dc-1b22-4595-b7a4-85c2e472ef0c" providerId="AD"/>
  <p188:author id="{E4689587-3A02-D816-BE22-CAC902794B47}" name="Aoife Flood (IE)" initials="A(" userId="S::aoife.flood@pwc.com::a2680a46-a6e6-4223-b865-ccb7ff1e8b7d" providerId="AD"/>
  <p188:author id="{E71C788B-D54A-B4E8-94C3-CF4EC063A2F6}" name="Daria Zarubina (UK)" initials="D(" userId="S::daria.x.zarubina@pwc.com::e88f5a40-552d-45b3-b33e-a310d9083cd6" providerId="AD"/>
  <p188:author id="{2FC4E291-3443-D3FE-67EB-7F6A76CE76DC}" name="Kathryn Kavanagh (US)" initials="" userId="S::kathryn.f.kavanagh@pwc.com::dd43e0bc-860a-4cd1-84ea-2a8348f94eac" providerId="AD"/>
  <p188:author id="{874468C4-6347-ABB2-00A2-987B6384C103}" name="Aigerim Seitkali (KZ)" initials="AS" userId="S::aigerim.seitkali@pwc.com::0ee0fdb9-32a2-404f-981e-33ec43c023ac" providerId="AD"/>
  <p188:author id="{E2632FE4-E371-3C8C-845B-E2A474695A78}" name="Lynda Wiggins (UK)" initials="" userId="S::lynda.wiggins@pwc.com::23b3381d-fb85-4154-a47d-7f0f77cec1ae" providerId="AD"/>
  <p188:author id="{5154E3F0-3C4F-4332-4BED-7D0E6CA9C5E9}" name="Ally McAleese (US)" initials="AM" userId="S::ally.mcaleese@pwc.com::958ff1bd-17b5-457d-816c-9f93ec95f6ee" providerId="AD"/>
  <p188:author id="{93F888F9-C981-313A-8F14-029CCA87CDFA}" name="Beth Czechanski (US)" initials="" userId="S::elizabeth.czechanski@pwc.com::5dd5bf71-5f2e-49ed-8a38-1f08bb7d0c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FF1"/>
    <a:srgbClr val="FF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ustomXml" Target="../customXml/item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gerim Seitkali (KZ)" userId="0ee0fdb9-32a2-404f-981e-33ec43c023ac" providerId="ADAL" clId="{6DC37B1F-D284-4033-B34F-31D5FE082355}"/>
    <pc:docChg chg="undo custSel addSld delSld modSld sldOrd delMainMaster addSection delSection modSection">
      <pc:chgData name="Aigerim Seitkali (KZ)" userId="0ee0fdb9-32a2-404f-981e-33ec43c023ac" providerId="ADAL" clId="{6DC37B1F-D284-4033-B34F-31D5FE082355}" dt="2026-08-26T09:38:26.852" v="1709"/>
      <pc:docMkLst>
        <pc:docMk/>
      </pc:docMkLst>
      <pc:sldChg chg="modSp mod">
        <pc:chgData name="Aigerim Seitkali (KZ)" userId="0ee0fdb9-32a2-404f-981e-33ec43c023ac" providerId="ADAL" clId="{6DC37B1F-D284-4033-B34F-31D5FE082355}" dt="2026-08-26T09:36:23.468" v="1705" actId="20577"/>
        <pc:sldMkLst>
          <pc:docMk/>
          <pc:sldMk cId="0" sldId="271"/>
        </pc:sldMkLst>
        <pc:graphicFrameChg chg="modGraphic">
          <ac:chgData name="Aigerim Seitkali (KZ)" userId="0ee0fdb9-32a2-404f-981e-33ec43c023ac" providerId="ADAL" clId="{6DC37B1F-D284-4033-B34F-31D5FE082355}" dt="2026-08-26T09:36:23.468" v="1705" actId="20577"/>
          <ac:graphicFrameMkLst>
            <pc:docMk/>
            <pc:sldMk cId="0" sldId="271"/>
            <ac:graphicFrameMk id="1391" creationId="{00000000-0000-0000-0000-000000000000}"/>
          </ac:graphicFrameMkLst>
        </pc:graphicFrameChg>
      </pc:sldChg>
      <pc:sldChg chg="modSp mod">
        <pc:chgData name="Aigerim Seitkali (KZ)" userId="0ee0fdb9-32a2-404f-981e-33ec43c023ac" providerId="ADAL" clId="{6DC37B1F-D284-4033-B34F-31D5FE082355}" dt="2026-08-26T09:37:31.821" v="1707" actId="20577"/>
        <pc:sldMkLst>
          <pc:docMk/>
          <pc:sldMk cId="0" sldId="272"/>
        </pc:sldMkLst>
        <pc:graphicFrameChg chg="modGraphic">
          <ac:chgData name="Aigerim Seitkali (KZ)" userId="0ee0fdb9-32a2-404f-981e-33ec43c023ac" providerId="ADAL" clId="{6DC37B1F-D284-4033-B34F-31D5FE082355}" dt="2026-08-26T09:37:31.821" v="1707" actId="20577"/>
          <ac:graphicFrameMkLst>
            <pc:docMk/>
            <pc:sldMk cId="0" sldId="272"/>
            <ac:graphicFrameMk id="1407" creationId="{00000000-0000-0000-0000-000000000000}"/>
          </ac:graphicFrameMkLst>
        </pc:graphicFrameChg>
      </pc:sldChg>
      <pc:sldChg chg="del">
        <pc:chgData name="Aigerim Seitkali (KZ)" userId="0ee0fdb9-32a2-404f-981e-33ec43c023ac" providerId="ADAL" clId="{6DC37B1F-D284-4033-B34F-31D5FE082355}" dt="2026-08-26T09:33:11.395" v="1679" actId="47"/>
        <pc:sldMkLst>
          <pc:docMk/>
          <pc:sldMk cId="4272548412" sldId="2147471713"/>
        </pc:sldMkLst>
      </pc:sldChg>
      <pc:sldChg chg="del">
        <pc:chgData name="Aigerim Seitkali (KZ)" userId="0ee0fdb9-32a2-404f-981e-33ec43c023ac" providerId="ADAL" clId="{6DC37B1F-D284-4033-B34F-31D5FE082355}" dt="2026-08-26T09:32:55.438" v="1675" actId="47"/>
        <pc:sldMkLst>
          <pc:docMk/>
          <pc:sldMk cId="3355502796" sldId="2147471717"/>
        </pc:sldMkLst>
      </pc:sldChg>
      <pc:sldChg chg="del">
        <pc:chgData name="Aigerim Seitkali (KZ)" userId="0ee0fdb9-32a2-404f-981e-33ec43c023ac" providerId="ADAL" clId="{6DC37B1F-D284-4033-B34F-31D5FE082355}" dt="2026-08-26T09:32:58.352" v="1677" actId="47"/>
        <pc:sldMkLst>
          <pc:docMk/>
          <pc:sldMk cId="1550893237" sldId="2147471718"/>
        </pc:sldMkLst>
      </pc:sldChg>
      <pc:sldChg chg="del">
        <pc:chgData name="Aigerim Seitkali (KZ)" userId="0ee0fdb9-32a2-404f-981e-33ec43c023ac" providerId="ADAL" clId="{6DC37B1F-D284-4033-B34F-31D5FE082355}" dt="2026-08-26T09:32:59.347" v="1678" actId="47"/>
        <pc:sldMkLst>
          <pc:docMk/>
          <pc:sldMk cId="381159982" sldId="2147471719"/>
        </pc:sldMkLst>
      </pc:sldChg>
      <pc:sldChg chg="del">
        <pc:chgData name="Aigerim Seitkali (KZ)" userId="0ee0fdb9-32a2-404f-981e-33ec43c023ac" providerId="ADAL" clId="{6DC37B1F-D284-4033-B34F-31D5FE082355}" dt="2026-08-26T08:58:10.918" v="1671" actId="47"/>
        <pc:sldMkLst>
          <pc:docMk/>
          <pc:sldMk cId="2428835930" sldId="2147471720"/>
        </pc:sldMkLst>
      </pc:sldChg>
      <pc:sldChg chg="del">
        <pc:chgData name="Aigerim Seitkali (KZ)" userId="0ee0fdb9-32a2-404f-981e-33ec43c023ac" providerId="ADAL" clId="{6DC37B1F-D284-4033-B34F-31D5FE082355}" dt="2026-08-26T09:32:44.047" v="1674" actId="47"/>
        <pc:sldMkLst>
          <pc:docMk/>
          <pc:sldMk cId="2282674132" sldId="2147471724"/>
        </pc:sldMkLst>
      </pc:sldChg>
      <pc:sldChg chg="del">
        <pc:chgData name="Aigerim Seitkali (KZ)" userId="0ee0fdb9-32a2-404f-981e-33ec43c023ac" providerId="ADAL" clId="{6DC37B1F-D284-4033-B34F-31D5FE082355}" dt="2026-08-26T08:55:47.858" v="1669" actId="47"/>
        <pc:sldMkLst>
          <pc:docMk/>
          <pc:sldMk cId="1009249405" sldId="2147479391"/>
        </pc:sldMkLst>
      </pc:sldChg>
      <pc:sldChg chg="del">
        <pc:chgData name="Aigerim Seitkali (KZ)" userId="0ee0fdb9-32a2-404f-981e-33ec43c023ac" providerId="ADAL" clId="{6DC37B1F-D284-4033-B34F-31D5FE082355}" dt="2026-08-26T08:56:27.486" v="1670" actId="47"/>
        <pc:sldMkLst>
          <pc:docMk/>
          <pc:sldMk cId="2088111812" sldId="2147479393"/>
        </pc:sldMkLst>
      </pc:sldChg>
      <pc:sldChg chg="del">
        <pc:chgData name="Aigerim Seitkali (KZ)" userId="0ee0fdb9-32a2-404f-981e-33ec43c023ac" providerId="ADAL" clId="{6DC37B1F-D284-4033-B34F-31D5FE082355}" dt="2026-08-26T09:32:56.686" v="1676" actId="47"/>
        <pc:sldMkLst>
          <pc:docMk/>
          <pc:sldMk cId="3253045851" sldId="2147479403"/>
        </pc:sldMkLst>
      </pc:sldChg>
      <pc:sldChg chg="ord">
        <pc:chgData name="Aigerim Seitkali (KZ)" userId="0ee0fdb9-32a2-404f-981e-33ec43c023ac" providerId="ADAL" clId="{6DC37B1F-D284-4033-B34F-31D5FE082355}" dt="2026-08-26T09:38:26.852" v="1709"/>
        <pc:sldMkLst>
          <pc:docMk/>
          <pc:sldMk cId="3026796191" sldId="2147479404"/>
        </pc:sldMkLst>
      </pc:sldChg>
      <pc:sldChg chg="addSp delSp mod">
        <pc:chgData name="Aigerim Seitkali (KZ)" userId="0ee0fdb9-32a2-404f-981e-33ec43c023ac" providerId="ADAL" clId="{6DC37B1F-D284-4033-B34F-31D5FE082355}" dt="2026-08-26T08:59:36.483" v="1673" actId="478"/>
        <pc:sldMkLst>
          <pc:docMk/>
          <pc:sldMk cId="2044269696" sldId="2147479406"/>
        </pc:sldMkLst>
        <pc:graphicFrameChg chg="add del">
          <ac:chgData name="Aigerim Seitkali (KZ)" userId="0ee0fdb9-32a2-404f-981e-33ec43c023ac" providerId="ADAL" clId="{6DC37B1F-D284-4033-B34F-31D5FE082355}" dt="2026-08-26T08:59:36.483" v="1673" actId="478"/>
          <ac:graphicFrameMkLst>
            <pc:docMk/>
            <pc:sldMk cId="2044269696" sldId="2147479406"/>
            <ac:graphicFrameMk id="8" creationId="{93BCC5A9-8CF6-D9A6-1506-2994892E13F8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9:40:4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1 0 32767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DD28-6A63-7CD9-1215-1BE54E87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EDB04-9D6E-F82F-611E-19103231F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D1C45-B3BF-E528-D8CA-9EDB7B1D9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2C19A-6035-FED8-11FA-F04BC4334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3137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1B3F7-F651-5810-B346-D05AF564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FD2F3-FB44-06EC-D511-757074DFA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617BB-B90E-1D1D-9F88-25A35E1EC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C03BA-1CE1-29D3-E79D-41C59504F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697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B37A2-FFD3-808A-1F56-B5BFFB7C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8BDD6-4E89-BAD6-7C81-B22081D1F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50CDB-1424-74DA-34CA-A470EC0F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58495-C799-DF83-01FF-BDC97BBBA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9982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5D6DD-F877-C1BF-4B23-C82C5E78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94B28-20F5-A622-9F9C-A755A3008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B78A4-1C91-FEE5-4CE2-6E97CF06C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EAF96-0BB5-2832-0174-01D89E8D4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0675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FE05-59C3-2557-1E2D-5BA73103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FA50C-E30E-9C4D-A5CD-8C9AAAA8E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49D42-C0B1-A8BE-D659-6FE5AC646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0FFDC-54E8-3E70-80D5-FD01D4376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44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0537dcbf03_0_3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4" name="Google Shape;1384;g30537dcbf03_0_37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1-pager discussion aid</a:t>
            </a:r>
            <a:endParaRPr/>
          </a:p>
        </p:txBody>
      </p:sp>
      <p:sp>
        <p:nvSpPr>
          <p:cNvPr id="1385" name="Google Shape;1385;g30537dcbf03_0_37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0537dcbf03_0_4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8" name="Google Shape;1398;g30537dcbf03_0_4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7379-A1FF-FD32-45CA-35A31801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263A2-B6F2-D207-2138-9F49E1EA0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1520D-6A0E-D60A-C239-8DAE96624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4A309-AF0F-0B38-82A3-8E9F2C2F5B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008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FCEAE-6568-8EED-B2E7-7AB827AE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4765E-2424-1074-2862-CAFCAF21B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D139-4F21-B9ED-B058-2C7A8DCCC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9DFAC-59F7-6DCD-45B8-0424020C4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2287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45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39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36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48822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10618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95396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51357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56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48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407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728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508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98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38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5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9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1259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226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2273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245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263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131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78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40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707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06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59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51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43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01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91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52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046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9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16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85564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10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991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03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256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130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C43A2-F505-459A-B731-902E78F588EB}"/>
              </a:ext>
            </a:extLst>
          </p:cNvPr>
          <p:cNvSpPr txBox="1"/>
          <p:nvPr userDrawn="1"/>
        </p:nvSpPr>
        <p:spPr>
          <a:xfrm>
            <a:off x="2472397" y="3035716"/>
            <a:ext cx="6478172" cy="34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500" b="0" i="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Herehere</a:t>
            </a:r>
          </a:p>
        </p:txBody>
      </p:sp>
    </p:spTree>
    <p:extLst>
      <p:ext uri="{BB962C8B-B14F-4D97-AF65-F5344CB8AC3E}">
        <p14:creationId xmlns:p14="http://schemas.microsoft.com/office/powerpoint/2010/main" val="40406415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3804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 dirty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 dirty="0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5CC5F4-F710-E179-E30A-EDC1D0B99DD9}"/>
                  </a:ext>
                </a:extLst>
              </p14:cNvPr>
              <p14:cNvContentPartPr/>
              <p14:nvPr userDrawn="1"/>
            </p14:nvContentPartPr>
            <p14:xfrm>
              <a:off x="6198120" y="7218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5CC5F4-F710-E179-E30A-EDC1D0B99D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9120" y="631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96522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428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8340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2681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0412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" tIns="1554480" rIns="9144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548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" tIns="1554480" rIns="9144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088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7931334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955731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364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79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769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 dirty="0"/>
              <a:t>0,000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5510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918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1583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4133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695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478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335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9676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164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772662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535985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09489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36328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268276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3373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hart">
  <p:cSld name="1_One Column Chart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2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35289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1" name="Google Shape;621;p9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622" name="Google Shape;622;p9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473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31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  <p:sldLayoutId id="2147483900" r:id="rId18"/>
    <p:sldLayoutId id="2147483901" r:id="rId19"/>
    <p:sldLayoutId id="2147483902" r:id="rId20"/>
    <p:sldLayoutId id="2147483903" r:id="rId21"/>
    <p:sldLayoutId id="2147483904" r:id="rId22"/>
    <p:sldLayoutId id="2147483905" r:id="rId23"/>
    <p:sldLayoutId id="2147483906" r:id="rId24"/>
    <p:sldLayoutId id="2147483907" r:id="rId25"/>
    <p:sldLayoutId id="2147483908" r:id="rId26"/>
    <p:sldLayoutId id="2147483909" r:id="rId27"/>
    <p:sldLayoutId id="2147483910" r:id="rId28"/>
    <p:sldLayoutId id="2147483911" r:id="rId29"/>
    <p:sldLayoutId id="2147483912" r:id="rId30"/>
    <p:sldLayoutId id="2147483913" r:id="rId31"/>
    <p:sldLayoutId id="2147483914" r:id="rId32"/>
    <p:sldLayoutId id="2147483915" r:id="rId33"/>
    <p:sldLayoutId id="2147483916" r:id="rId34"/>
    <p:sldLayoutId id="2147483917" r:id="rId35"/>
    <p:sldLayoutId id="2147483918" r:id="rId36"/>
    <p:sldLayoutId id="2147483919" r:id="rId37"/>
    <p:sldLayoutId id="2147483920" r:id="rId38"/>
    <p:sldLayoutId id="2147483921" r:id="rId39"/>
    <p:sldLayoutId id="2147483922" r:id="rId40"/>
    <p:sldLayoutId id="2147483923" r:id="rId41"/>
    <p:sldLayoutId id="2147483924" r:id="rId42"/>
    <p:sldLayoutId id="2147483925" r:id="rId43"/>
    <p:sldLayoutId id="2147483926" r:id="rId44"/>
    <p:sldLayoutId id="2147483927" r:id="rId45"/>
    <p:sldLayoutId id="2147483928" r:id="rId46"/>
    <p:sldLayoutId id="2147483929" r:id="rId47"/>
    <p:sldLayoutId id="2147483930" r:id="rId48"/>
    <p:sldLayoutId id="2147483931" r:id="rId49"/>
    <p:sldLayoutId id="2147483932" r:id="rId50"/>
    <p:sldLayoutId id="2147483933" r:id="rId51"/>
    <p:sldLayoutId id="2147483934" r:id="rId52"/>
    <p:sldLayoutId id="2147483935" r:id="rId53"/>
    <p:sldLayoutId id="2147483936" r:id="rId54"/>
    <p:sldLayoutId id="2147483937" r:id="rId55"/>
    <p:sldLayoutId id="2147483938" r:id="rId56"/>
    <p:sldLayoutId id="2147483939" r:id="rId57"/>
    <p:sldLayoutId id="2147483940" r:id="rId58"/>
    <p:sldLayoutId id="2147483941" r:id="rId59"/>
    <p:sldLayoutId id="2147483942" r:id="rId60"/>
    <p:sldLayoutId id="2147483943" r:id="rId61"/>
    <p:sldLayoutId id="2147483944" r:id="rId62"/>
    <p:sldLayoutId id="2147483945" r:id="rId63"/>
    <p:sldLayoutId id="2147483946" r:id="rId64"/>
    <p:sldLayoutId id="2147483947" r:id="rId65"/>
    <p:sldLayoutId id="2147483948" r:id="rId66"/>
    <p:sldLayoutId id="2147483949" r:id="rId67"/>
    <p:sldLayoutId id="2147483950" r:id="rId68"/>
    <p:sldLayoutId id="2147483951" r:id="rId69"/>
    <p:sldLayoutId id="2147483952" r:id="rId70"/>
    <p:sldLayoutId id="2147483953" r:id="rId7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wcgbr.sharepoint.com/:p:/r/sites/GBL-xLoS-EvolvedPwCProfessional/Shared%20Documents/Refreshed%20ePP%20materials/Evolved%20PwC%20Professional%20-%20Expectations%20-%20Grade%20level%20supplements.pptx?d=wd6db3ab0e7034e8786f94d80ba2c2ddf&amp;csf=1&amp;web=1&amp;e=E5ees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pwcgbr.sharepoint.com/:p:/r/sites/GBL-xLoS-EvolvedPwCProfessional/Shared%20Documents/Refreshed%20ePP%20materials/Evolved%20PwC%20Professional_Day%20in%20the%20life%20grade%20level%20supplements.pptx?d=wa92d03463b804ce59832b3a8c0ad5ef7&amp;csf=1&amp;web=1&amp;e=hcFw2c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wceur.sharepoint.com/sites/ThePwcProfessional/SitePages/Home.aspx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B9EB-3996-6C66-7ACD-A30A1A50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BBC7F17B-8E04-C7FC-6CD2-CB47FD57E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Welcome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2EC724AF-9F03-30E8-EA11-ECB081496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Google Shape;841;p99">
            <a:extLst>
              <a:ext uri="{FF2B5EF4-FFF2-40B4-BE49-F238E27FC236}">
                <a16:creationId xmlns:a16="http://schemas.microsoft.com/office/drawing/2014/main" id="{2DBCEF4E-AE0C-C51D-1908-F9DFE3351713}"/>
              </a:ext>
            </a:extLst>
          </p:cNvPr>
          <p:cNvSpPr txBox="1">
            <a:spLocks/>
          </p:cNvSpPr>
          <p:nvPr/>
        </p:nvSpPr>
        <p:spPr>
          <a:xfrm>
            <a:off x="402336" y="1585654"/>
            <a:ext cx="2879025" cy="1179576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0" tIns="91440" rIns="182880" bIns="18288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“I aspire to grow as a Trusted Leader who delivers Distinctive Outcomes”</a:t>
            </a:r>
          </a:p>
        </p:txBody>
      </p:sp>
      <p:sp>
        <p:nvSpPr>
          <p:cNvPr id="24" name="Google Shape;841;p99">
            <a:extLst>
              <a:ext uri="{FF2B5EF4-FFF2-40B4-BE49-F238E27FC236}">
                <a16:creationId xmlns:a16="http://schemas.microsoft.com/office/drawing/2014/main" id="{7273703A-B17B-6251-5821-DC04C7CB23CE}"/>
              </a:ext>
            </a:extLst>
          </p:cNvPr>
          <p:cNvSpPr txBox="1">
            <a:spLocks/>
          </p:cNvSpPr>
          <p:nvPr/>
        </p:nvSpPr>
        <p:spPr>
          <a:xfrm>
            <a:off x="402336" y="4718419"/>
            <a:ext cx="2879025" cy="1177245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0" tIns="91440" rIns="182880" bIns="18288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“I understand the value I create and my impact on everyone around me”</a:t>
            </a:r>
          </a:p>
        </p:txBody>
      </p:sp>
      <p:sp>
        <p:nvSpPr>
          <p:cNvPr id="25" name="Google Shape;841;p99">
            <a:extLst>
              <a:ext uri="{FF2B5EF4-FFF2-40B4-BE49-F238E27FC236}">
                <a16:creationId xmlns:a16="http://schemas.microsoft.com/office/drawing/2014/main" id="{139D74BA-8791-7096-8358-C3D1C7BA2904}"/>
              </a:ext>
            </a:extLst>
          </p:cNvPr>
          <p:cNvSpPr txBox="1">
            <a:spLocks/>
          </p:cNvSpPr>
          <p:nvPr/>
        </p:nvSpPr>
        <p:spPr>
          <a:xfrm>
            <a:off x="402336" y="3137269"/>
            <a:ext cx="2879025" cy="1177245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0" tIns="91440" rIns="182880" bIns="18288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“I know how the value I deliver is evaluated and recognized”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29D8D4-DB9B-5FC2-2321-ED4C03187437}"/>
              </a:ext>
            </a:extLst>
          </p:cNvPr>
          <p:cNvGrpSpPr/>
          <p:nvPr/>
        </p:nvGrpSpPr>
        <p:grpSpPr>
          <a:xfrm>
            <a:off x="402336" y="585836"/>
            <a:ext cx="1683997" cy="797865"/>
            <a:chOff x="402336" y="850194"/>
            <a:chExt cx="1683997" cy="797865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28C75A3-29D3-89EF-7952-F6A62EFBBC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2336" y="1058026"/>
              <a:ext cx="1683996" cy="590033"/>
            </a:xfrm>
            <a:prstGeom prst="rect">
              <a:avLst/>
            </a:prstGeom>
          </p:spPr>
        </p:pic>
        <p:sp>
          <p:nvSpPr>
            <p:cNvPr id="35" name="Google Shape;841;p99">
              <a:extLst>
                <a:ext uri="{FF2B5EF4-FFF2-40B4-BE49-F238E27FC236}">
                  <a16:creationId xmlns:a16="http://schemas.microsoft.com/office/drawing/2014/main" id="{5FC8D9F7-E95B-730C-12FD-3C4B0217DBFF}"/>
                </a:ext>
              </a:extLst>
            </p:cNvPr>
            <p:cNvSpPr txBox="1">
              <a:spLocks/>
            </p:cNvSpPr>
            <p:nvPr/>
          </p:nvSpPr>
          <p:spPr>
            <a:xfrm>
              <a:off x="402337" y="850194"/>
              <a:ext cx="1683996" cy="147117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5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344488" indent="-173038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Georgia" panose="02040502050405020303" pitchFamily="18" charset="0"/>
                <a:buChar char="–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515938" indent="-171450" algn="l" defTabSz="914400" rtl="0" eaLnBrk="1" latinLnBrk="0" hangingPunct="1">
                <a:lnSpc>
                  <a:spcPct val="125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  <a:sym typeface="Arial"/>
                </a:rPr>
                <a:t>PwC Professional</a:t>
              </a:r>
            </a:p>
          </p:txBody>
        </p:sp>
      </p:grpSp>
      <p:sp>
        <p:nvSpPr>
          <p:cNvPr id="43" name="Google Shape;841;p99">
            <a:extLst>
              <a:ext uri="{FF2B5EF4-FFF2-40B4-BE49-F238E27FC236}">
                <a16:creationId xmlns:a16="http://schemas.microsoft.com/office/drawing/2014/main" id="{A2A7EDF2-4566-B9CE-20DE-BB1B96FD467D}"/>
              </a:ext>
            </a:extLst>
          </p:cNvPr>
          <p:cNvSpPr txBox="1">
            <a:spLocks/>
          </p:cNvSpPr>
          <p:nvPr/>
        </p:nvSpPr>
        <p:spPr>
          <a:xfrm>
            <a:off x="9073162" y="1584694"/>
            <a:ext cx="2728865" cy="1180536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0" tIns="91440" rIns="182880" bIns="18288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“I have goals that challenge me to create value and grow my career at the firm”</a:t>
            </a:r>
          </a:p>
        </p:txBody>
      </p:sp>
      <p:sp>
        <p:nvSpPr>
          <p:cNvPr id="44" name="Google Shape;841;p99">
            <a:extLst>
              <a:ext uri="{FF2B5EF4-FFF2-40B4-BE49-F238E27FC236}">
                <a16:creationId xmlns:a16="http://schemas.microsoft.com/office/drawing/2014/main" id="{075AE8A7-FDE4-3011-F8AE-E7457859D951}"/>
              </a:ext>
            </a:extLst>
          </p:cNvPr>
          <p:cNvSpPr txBox="1">
            <a:spLocks/>
          </p:cNvSpPr>
          <p:nvPr/>
        </p:nvSpPr>
        <p:spPr>
          <a:xfrm>
            <a:off x="9073162" y="4718419"/>
            <a:ext cx="2728865" cy="1177245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0" tIns="91440" rIns="182880" bIns="18288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“Every day presents new learning opportunities”</a:t>
            </a:r>
          </a:p>
        </p:txBody>
      </p:sp>
      <p:sp>
        <p:nvSpPr>
          <p:cNvPr id="48" name="Google Shape;841;p99">
            <a:extLst>
              <a:ext uri="{FF2B5EF4-FFF2-40B4-BE49-F238E27FC236}">
                <a16:creationId xmlns:a16="http://schemas.microsoft.com/office/drawing/2014/main" id="{7FB8D998-9BA7-A4D1-A0C5-DB5190D925A8}"/>
              </a:ext>
            </a:extLst>
          </p:cNvPr>
          <p:cNvSpPr txBox="1">
            <a:spLocks/>
          </p:cNvSpPr>
          <p:nvPr/>
        </p:nvSpPr>
        <p:spPr>
          <a:xfrm>
            <a:off x="9073162" y="3137269"/>
            <a:ext cx="2728865" cy="1177245"/>
          </a:xfrm>
          <a:prstGeom prst="rect">
            <a:avLst/>
          </a:prstGeom>
          <a:solidFill>
            <a:schemeClr val="bg1"/>
          </a:solidFill>
        </p:spPr>
        <p:txBody>
          <a:bodyPr spcFirstLastPara="1" vert="horz" wrap="square" lIns="0" tIns="91440" rIns="182880" bIns="18288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“I have the right support to navigate the firm and advance my career”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44BF428-27B3-F525-02A3-543EAF5707E7}"/>
              </a:ext>
            </a:extLst>
          </p:cNvPr>
          <p:cNvGrpSpPr/>
          <p:nvPr/>
        </p:nvGrpSpPr>
        <p:grpSpPr>
          <a:xfrm>
            <a:off x="3862250" y="1318831"/>
            <a:ext cx="4630023" cy="4732231"/>
            <a:chOff x="3867434" y="1451790"/>
            <a:chExt cx="4630023" cy="3954420"/>
          </a:xfrm>
        </p:grpSpPr>
        <p:sp>
          <p:nvSpPr>
            <p:cNvPr id="53" name="Google Shape;1105;g2dadf144c14_0_0">
              <a:extLst>
                <a:ext uri="{FF2B5EF4-FFF2-40B4-BE49-F238E27FC236}">
                  <a16:creationId xmlns:a16="http://schemas.microsoft.com/office/drawing/2014/main" id="{F89706AA-9CF1-9B91-6607-F196B19E7D34}"/>
                </a:ext>
              </a:extLst>
            </p:cNvPr>
            <p:cNvSpPr txBox="1"/>
            <p:nvPr/>
          </p:nvSpPr>
          <p:spPr>
            <a:xfrm>
              <a:off x="3867434" y="2788920"/>
              <a:ext cx="2286000" cy="1280160"/>
            </a:xfrm>
            <a:prstGeom prst="rect">
              <a:avLst/>
            </a:prstGeom>
            <a:solidFill>
              <a:srgbClr val="FFE8D4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My performance </a:t>
              </a:r>
              <a:br>
                <a:rPr lang="en-GB" sz="1200" dirty="0">
                  <a:solidFill>
                    <a:schemeClr val="tx1"/>
                  </a:solidFill>
                </a:rPr>
              </a:br>
              <a:r>
                <a:rPr lang="en-GB" sz="1200" dirty="0">
                  <a:solidFill>
                    <a:schemeClr val="tx1"/>
                  </a:solidFill>
                </a:rPr>
                <a:t>&amp; recognition</a:t>
              </a:r>
              <a:endParaRPr sz="1200" dirty="0">
                <a:solidFill>
                  <a:schemeClr val="tx1"/>
                </a:solidFill>
              </a:endParaRPr>
            </a:p>
          </p:txBody>
        </p:sp>
        <p:sp>
          <p:nvSpPr>
            <p:cNvPr id="55" name="Google Shape;1105;g2dadf144c14_0_0">
              <a:extLst>
                <a:ext uri="{FF2B5EF4-FFF2-40B4-BE49-F238E27FC236}">
                  <a16:creationId xmlns:a16="http://schemas.microsoft.com/office/drawing/2014/main" id="{41B37DED-52D9-E8E8-12E1-B3911B1DC229}"/>
                </a:ext>
              </a:extLst>
            </p:cNvPr>
            <p:cNvSpPr txBox="1"/>
            <p:nvPr/>
          </p:nvSpPr>
          <p:spPr>
            <a:xfrm>
              <a:off x="6211457" y="2788920"/>
              <a:ext cx="2286000" cy="1280160"/>
            </a:xfrm>
            <a:prstGeom prst="rect">
              <a:avLst/>
            </a:prstGeom>
            <a:solidFill>
              <a:srgbClr val="FFE8D4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My support</a:t>
              </a:r>
              <a:br>
                <a:rPr lang="en-GB" sz="1200" dirty="0">
                  <a:solidFill>
                    <a:schemeClr val="tx1"/>
                  </a:solidFill>
                </a:rPr>
              </a:br>
              <a:r>
                <a:rPr lang="en-GB" sz="1200" dirty="0">
                  <a:solidFill>
                    <a:schemeClr val="tx1"/>
                  </a:solidFill>
                </a:rPr>
                <a:t> network</a:t>
              </a:r>
            </a:p>
          </p:txBody>
        </p:sp>
        <p:sp>
          <p:nvSpPr>
            <p:cNvPr id="56" name="Google Shape;1105;g2dadf144c14_0_0">
              <a:extLst>
                <a:ext uri="{FF2B5EF4-FFF2-40B4-BE49-F238E27FC236}">
                  <a16:creationId xmlns:a16="http://schemas.microsoft.com/office/drawing/2014/main" id="{F17D1C1B-9439-60BA-3E0B-A3124BC1B7F3}"/>
                </a:ext>
              </a:extLst>
            </p:cNvPr>
            <p:cNvSpPr txBox="1"/>
            <p:nvPr/>
          </p:nvSpPr>
          <p:spPr>
            <a:xfrm>
              <a:off x="6211457" y="1451790"/>
              <a:ext cx="2286000" cy="1280160"/>
            </a:xfrm>
            <a:prstGeom prst="rect">
              <a:avLst/>
            </a:prstGeom>
            <a:solidFill>
              <a:srgbClr val="FFE8D4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My </a:t>
              </a:r>
              <a:br>
                <a:rPr lang="en-GB" sz="1200" dirty="0">
                  <a:solidFill>
                    <a:schemeClr val="tx1"/>
                  </a:solidFill>
                </a:rPr>
              </a:br>
              <a:r>
                <a:rPr lang="en-GB" sz="1200" dirty="0">
                  <a:solidFill>
                    <a:schemeClr val="tx1"/>
                  </a:solidFill>
                </a:rPr>
                <a:t>goals</a:t>
              </a:r>
            </a:p>
          </p:txBody>
        </p:sp>
        <p:sp>
          <p:nvSpPr>
            <p:cNvPr id="57" name="Google Shape;1105;g2dadf144c14_0_0">
              <a:extLst>
                <a:ext uri="{FF2B5EF4-FFF2-40B4-BE49-F238E27FC236}">
                  <a16:creationId xmlns:a16="http://schemas.microsoft.com/office/drawing/2014/main" id="{3F5C09BD-618F-DF57-6565-90A2907AB742}"/>
                </a:ext>
              </a:extLst>
            </p:cNvPr>
            <p:cNvSpPr txBox="1"/>
            <p:nvPr/>
          </p:nvSpPr>
          <p:spPr>
            <a:xfrm>
              <a:off x="3867434" y="1451790"/>
              <a:ext cx="2286000" cy="1280160"/>
            </a:xfrm>
            <a:prstGeom prst="rect">
              <a:avLst/>
            </a:prstGeom>
            <a:solidFill>
              <a:srgbClr val="FFE8D4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The PwC </a:t>
              </a:r>
              <a:br>
                <a:rPr lang="en-GB" sz="1200" dirty="0">
                  <a:solidFill>
                    <a:schemeClr val="tx1"/>
                  </a:solidFill>
                </a:rPr>
              </a:br>
              <a:r>
                <a:rPr lang="en-GB" sz="1200" dirty="0">
                  <a:solidFill>
                    <a:schemeClr val="tx1"/>
                  </a:solidFill>
                </a:rPr>
                <a:t>Professional</a:t>
              </a:r>
            </a:p>
          </p:txBody>
        </p:sp>
        <p:sp>
          <p:nvSpPr>
            <p:cNvPr id="58" name="Google Shape;1105;g2dadf144c14_0_0">
              <a:extLst>
                <a:ext uri="{FF2B5EF4-FFF2-40B4-BE49-F238E27FC236}">
                  <a16:creationId xmlns:a16="http://schemas.microsoft.com/office/drawing/2014/main" id="{F164B883-76BC-048D-1330-8A322C04E2C0}"/>
                </a:ext>
              </a:extLst>
            </p:cNvPr>
            <p:cNvSpPr txBox="1"/>
            <p:nvPr/>
          </p:nvSpPr>
          <p:spPr>
            <a:xfrm>
              <a:off x="6211457" y="4126050"/>
              <a:ext cx="2286000" cy="1280160"/>
            </a:xfrm>
            <a:prstGeom prst="rect">
              <a:avLst/>
            </a:prstGeom>
            <a:solidFill>
              <a:srgbClr val="FFE8D4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My continuous </a:t>
              </a:r>
              <a:br>
                <a:rPr lang="en-GB" sz="1200" dirty="0">
                  <a:solidFill>
                    <a:schemeClr val="tx1"/>
                  </a:solidFill>
                </a:rPr>
              </a:br>
              <a:r>
                <a:rPr lang="en-GB" sz="1200" dirty="0">
                  <a:solidFill>
                    <a:schemeClr val="tx1"/>
                  </a:solidFill>
                </a:rPr>
                <a:t>development</a:t>
              </a:r>
            </a:p>
          </p:txBody>
        </p:sp>
        <p:sp>
          <p:nvSpPr>
            <p:cNvPr id="59" name="Google Shape;1105;g2dadf144c14_0_0">
              <a:extLst>
                <a:ext uri="{FF2B5EF4-FFF2-40B4-BE49-F238E27FC236}">
                  <a16:creationId xmlns:a16="http://schemas.microsoft.com/office/drawing/2014/main" id="{932BF79A-7009-1125-F2A1-CEA69E487574}"/>
                </a:ext>
              </a:extLst>
            </p:cNvPr>
            <p:cNvSpPr txBox="1"/>
            <p:nvPr/>
          </p:nvSpPr>
          <p:spPr>
            <a:xfrm>
              <a:off x="3867434" y="4126050"/>
              <a:ext cx="2286000" cy="1280160"/>
            </a:xfrm>
            <a:prstGeom prst="rect">
              <a:avLst/>
            </a:prstGeom>
            <a:solidFill>
              <a:srgbClr val="FFE8D4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My </a:t>
              </a:r>
            </a:p>
            <a:p>
              <a:pPr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GB" sz="1200" dirty="0">
                  <a:solidFill>
                    <a:schemeClr val="tx1"/>
                  </a:solidFill>
                </a:rPr>
                <a:t>feedback </a:t>
              </a:r>
            </a:p>
          </p:txBody>
        </p:sp>
        <p:sp>
          <p:nvSpPr>
            <p:cNvPr id="54" name="Google Shape;1105;g2dadf144c14_0_0">
              <a:extLst>
                <a:ext uri="{FF2B5EF4-FFF2-40B4-BE49-F238E27FC236}">
                  <a16:creationId xmlns:a16="http://schemas.microsoft.com/office/drawing/2014/main" id="{E132932F-ED8D-6CCB-EBFE-8FAA1DD201E9}"/>
                </a:ext>
              </a:extLst>
            </p:cNvPr>
            <p:cNvSpPr txBox="1"/>
            <p:nvPr/>
          </p:nvSpPr>
          <p:spPr>
            <a:xfrm>
              <a:off x="5257136" y="2312616"/>
              <a:ext cx="1850618" cy="22327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82880" tIns="182880" rIns="182880" bIns="18288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0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US" sz="1400" b="1" dirty="0">
                  <a:solidFill>
                    <a:schemeClr val="tx1"/>
                  </a:solidFill>
                </a:rPr>
                <a:t>How I lead and </a:t>
              </a:r>
            </a:p>
            <a:p>
              <a:pPr algn="ctr">
                <a:lnSpc>
                  <a:spcPct val="125000"/>
                </a:lnSpc>
                <a:buClr>
                  <a:schemeClr val="dk1"/>
                </a:buClr>
                <a:buSzPts val="935"/>
              </a:pPr>
              <a:r>
                <a:rPr lang="en-US" sz="1400" b="1" dirty="0">
                  <a:solidFill>
                    <a:schemeClr val="tx1"/>
                  </a:solidFill>
                </a:rPr>
                <a:t>deliver value </a:t>
              </a:r>
              <a:br>
                <a:rPr lang="en-US" sz="1400" b="1" dirty="0">
                  <a:solidFill>
                    <a:schemeClr val="tx1"/>
                  </a:solidFill>
                </a:rPr>
              </a:br>
              <a:r>
                <a:rPr lang="en-US" sz="1400" b="1" dirty="0">
                  <a:solidFill>
                    <a:schemeClr val="tx1"/>
                  </a:solidFill>
                </a:rPr>
                <a:t>as a PwC Professional</a:t>
              </a: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D68A94-754E-C957-7FDF-E683EB4FDAC8}"/>
              </a:ext>
            </a:extLst>
          </p:cNvPr>
          <p:cNvCxnSpPr>
            <a:cxnSpLocks/>
          </p:cNvCxnSpPr>
          <p:nvPr/>
        </p:nvCxnSpPr>
        <p:spPr>
          <a:xfrm>
            <a:off x="8111137" y="1559663"/>
            <a:ext cx="1924050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A19D62-75C6-52EC-53C5-5FB95597146F}"/>
              </a:ext>
            </a:extLst>
          </p:cNvPr>
          <p:cNvCxnSpPr>
            <a:cxnSpLocks/>
          </p:cNvCxnSpPr>
          <p:nvPr/>
        </p:nvCxnSpPr>
        <p:spPr>
          <a:xfrm>
            <a:off x="8111137" y="3137269"/>
            <a:ext cx="1924050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8F0A40-EF65-B947-0186-EF436C866DB2}"/>
              </a:ext>
            </a:extLst>
          </p:cNvPr>
          <p:cNvCxnSpPr>
            <a:cxnSpLocks/>
          </p:cNvCxnSpPr>
          <p:nvPr/>
        </p:nvCxnSpPr>
        <p:spPr>
          <a:xfrm>
            <a:off x="8111137" y="4718419"/>
            <a:ext cx="1924050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2F2C25-4423-7665-9FFD-E2AEB0BBD342}"/>
              </a:ext>
            </a:extLst>
          </p:cNvPr>
          <p:cNvCxnSpPr>
            <a:cxnSpLocks/>
          </p:cNvCxnSpPr>
          <p:nvPr/>
        </p:nvCxnSpPr>
        <p:spPr>
          <a:xfrm flipH="1">
            <a:off x="2319336" y="1559663"/>
            <a:ext cx="1924050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217FD1-58D3-940E-375F-F103481F1208}"/>
              </a:ext>
            </a:extLst>
          </p:cNvPr>
          <p:cNvCxnSpPr>
            <a:cxnSpLocks/>
          </p:cNvCxnSpPr>
          <p:nvPr/>
        </p:nvCxnSpPr>
        <p:spPr>
          <a:xfrm flipH="1">
            <a:off x="2319336" y="3137269"/>
            <a:ext cx="1924050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277CC5-053A-DF2E-6117-1D43134E3ADE}"/>
              </a:ext>
            </a:extLst>
          </p:cNvPr>
          <p:cNvCxnSpPr>
            <a:cxnSpLocks/>
          </p:cNvCxnSpPr>
          <p:nvPr/>
        </p:nvCxnSpPr>
        <p:spPr>
          <a:xfrm flipH="1">
            <a:off x="2319336" y="4718419"/>
            <a:ext cx="1924050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48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E2CC-0619-7A5E-C604-5228031C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Development Experience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642C-CB4E-17AC-E76F-E6713BC9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3604B-5AA8-4A70-76A9-199CCA096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0D4EC-8BD0-6343-98CD-5FB52411A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FA6605-DE85-DC6A-319E-BE331A42C4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Performance management </a:t>
            </a:r>
            <a:endParaRPr lang="ru-RU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BCC5A9-8CF6-D9A6-1506-2994892E1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155164"/>
              </p:ext>
            </p:extLst>
          </p:nvPr>
        </p:nvGraphicFramePr>
        <p:xfrm>
          <a:off x="401544" y="1324532"/>
          <a:ext cx="4390785" cy="5533468"/>
        </p:xfrm>
        <a:graphic>
          <a:graphicData uri="http://schemas.openxmlformats.org/drawingml/2006/table">
            <a:tbl>
              <a:tblPr/>
              <a:tblGrid>
                <a:gridCol w="4390785">
                  <a:extLst>
                    <a:ext uri="{9D8B030D-6E8A-4147-A177-3AD203B41FA5}">
                      <a16:colId xmlns:a16="http://schemas.microsoft.com/office/drawing/2014/main" val="3772444819"/>
                    </a:ext>
                  </a:extLst>
                </a:gridCol>
              </a:tblGrid>
              <a:tr h="3034691">
                <a:tc>
                  <a:txBody>
                    <a:bodyPr/>
                    <a:lstStyle/>
                    <a:p>
                      <a:pPr fontAlgn="t">
                        <a:lnSpc>
                          <a:spcPct val="200000"/>
                        </a:lnSpc>
                        <a:buNone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Leadership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Experience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PwC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ongoing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helping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people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grow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into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Trusted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Leaders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through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feedback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coaching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stretch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opportunities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meaningful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career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conversations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living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PwC Professional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behaviours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people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firm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society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ru-RU" sz="18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19653"/>
                  </a:ext>
                </a:extLst>
              </a:tr>
              <a:tr h="65095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5316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E4447C-CB32-E5CD-6B63-3C5A66D86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485606"/>
              </p:ext>
            </p:extLst>
          </p:nvPr>
        </p:nvGraphicFramePr>
        <p:xfrm>
          <a:off x="5103256" y="1942982"/>
          <a:ext cx="6607175" cy="2980262"/>
        </p:xfrm>
        <a:graphic>
          <a:graphicData uri="http://schemas.openxmlformats.org/drawingml/2006/table">
            <a:tbl>
              <a:tblPr/>
              <a:tblGrid>
                <a:gridCol w="6607175">
                  <a:extLst>
                    <a:ext uri="{9D8B030D-6E8A-4147-A177-3AD203B41FA5}">
                      <a16:colId xmlns:a16="http://schemas.microsoft.com/office/drawing/2014/main" val="3772444819"/>
                    </a:ext>
                  </a:extLst>
                </a:gridCol>
              </a:tblGrid>
              <a:tr h="2021315">
                <a:tc>
                  <a:txBody>
                    <a:bodyPr/>
                    <a:lstStyle/>
                    <a:p>
                      <a:pPr fontAlgn="t">
                        <a:lnSpc>
                          <a:spcPct val="2000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implement it,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PwC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has a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 that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transparent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development-focused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trust-based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Evolved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PwC Professional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framework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19653"/>
                  </a:ext>
                </a:extLst>
              </a:tr>
              <a:tr h="69426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531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26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2E4C-9AD0-1B79-EBFC-701499F6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936A-8079-DF36-D6EE-D925A3074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100" dirty="0"/>
              <a:t>Performance is assessed holistically</a:t>
            </a:r>
          </a:p>
          <a:p>
            <a:r>
              <a:rPr lang="en-US" sz="1100" b="0" dirty="0"/>
              <a:t>There is no formula or simple scorecard. Team Leaders are expected to review all relevant evidence and make a holistic judgment. </a:t>
            </a:r>
          </a:p>
          <a:p>
            <a:r>
              <a:rPr lang="ru-RU" sz="1100" b="0" dirty="0" err="1"/>
              <a:t>Evidence</a:t>
            </a:r>
            <a:r>
              <a:rPr lang="ru-RU" sz="1100" b="0" dirty="0"/>
              <a:t> </a:t>
            </a:r>
            <a:r>
              <a:rPr lang="ru-RU" sz="1100" b="0" dirty="0" err="1"/>
              <a:t>includes</a:t>
            </a:r>
            <a:r>
              <a:rPr lang="ru-RU" sz="1100" b="0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Multi-directional feedback (upward, peer, downward)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/>
              <a:t>PwC Professional </a:t>
            </a:r>
            <a:r>
              <a:rPr lang="ru-RU" sz="1100" b="0" dirty="0" err="1"/>
              <a:t>behaviours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 err="1"/>
              <a:t>Knowledge</a:t>
            </a:r>
            <a:r>
              <a:rPr lang="ru-RU" sz="1100" b="0" dirty="0"/>
              <a:t>, </a:t>
            </a:r>
            <a:r>
              <a:rPr lang="ru-RU" sz="1100" b="0" dirty="0" err="1"/>
              <a:t>skills</a:t>
            </a:r>
            <a:r>
              <a:rPr lang="ru-RU" sz="1100" b="0" dirty="0"/>
              <a:t> </a:t>
            </a:r>
            <a:r>
              <a:rPr lang="ru-RU" sz="1100" b="0" dirty="0" err="1"/>
              <a:t>and</a:t>
            </a:r>
            <a:r>
              <a:rPr lang="ru-RU" sz="1100" b="0" dirty="0"/>
              <a:t> </a:t>
            </a:r>
            <a:r>
              <a:rPr lang="ru-RU" sz="1100" b="0" dirty="0" err="1"/>
              <a:t>expertise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/>
              <a:t>Quality </a:t>
            </a:r>
            <a:r>
              <a:rPr lang="ru-RU" sz="1100" b="0" dirty="0" err="1"/>
              <a:t>measures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/>
              <a:t>KPI </a:t>
            </a:r>
            <a:r>
              <a:rPr lang="ru-RU" sz="1100" b="0" dirty="0" err="1"/>
              <a:t>targets</a:t>
            </a:r>
            <a:r>
              <a:rPr lang="ru-RU" sz="1100" b="0" dirty="0"/>
              <a:t> </a:t>
            </a:r>
            <a:r>
              <a:rPr lang="ru-RU" sz="1100" b="0" dirty="0" err="1"/>
              <a:t>and</a:t>
            </a:r>
            <a:r>
              <a:rPr lang="ru-RU" sz="1100" b="0" dirty="0"/>
              <a:t> </a:t>
            </a:r>
            <a:r>
              <a:rPr lang="ru-RU" sz="1100" b="0" dirty="0" err="1"/>
              <a:t>compliance</a:t>
            </a:r>
            <a:endParaRPr lang="ru-RU" sz="11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Self and Manager Evaluations.</a:t>
            </a:r>
            <a:endParaRPr lang="ru-RU" sz="1100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3F765-69A0-8100-6F1F-188280A62F0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1100" dirty="0"/>
              <a:t>Performance is evaluated based on both "What” and "How"</a:t>
            </a:r>
            <a:endParaRPr lang="ru-RU" sz="1100" dirty="0"/>
          </a:p>
          <a:p>
            <a:r>
              <a:rPr lang="en-US" sz="1100" b="0" dirty="0"/>
              <a:t>PwC do not focus only on results and financial metrics</a:t>
            </a:r>
            <a:r>
              <a:rPr lang="en-US" sz="1100" dirty="0"/>
              <a:t>. </a:t>
            </a:r>
          </a:p>
          <a:p>
            <a:r>
              <a:rPr lang="ru-RU" sz="1100" b="0" dirty="0"/>
              <a:t>Performance </a:t>
            </a:r>
            <a:r>
              <a:rPr lang="ru-RU" sz="1100" b="0" dirty="0" err="1"/>
              <a:t>decisions</a:t>
            </a:r>
            <a:r>
              <a:rPr lang="ru-RU" sz="1100" b="0" dirty="0"/>
              <a:t> </a:t>
            </a:r>
            <a:r>
              <a:rPr lang="ru-RU" sz="1100" b="0" dirty="0" err="1"/>
              <a:t>consider</a:t>
            </a:r>
            <a:r>
              <a:rPr lang="ru-RU" sz="1100" b="0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What an employee achieves (outcomes, value creation)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How they achieve it (PwC Professional </a:t>
            </a:r>
            <a:r>
              <a:rPr lang="en-US" sz="1100" b="0" dirty="0" err="1"/>
              <a:t>behaviours</a:t>
            </a:r>
            <a:r>
              <a:rPr lang="en-US" sz="1100" b="0" dirty="0"/>
              <a:t>)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/>
              <a:t>Quality </a:t>
            </a:r>
            <a:r>
              <a:rPr lang="ru-RU" sz="1100" b="0" dirty="0" err="1"/>
              <a:t>of</a:t>
            </a:r>
            <a:r>
              <a:rPr lang="ru-RU" sz="1100" b="0" dirty="0"/>
              <a:t> </a:t>
            </a:r>
            <a:r>
              <a:rPr lang="ru-RU" sz="1100" b="0" dirty="0" err="1"/>
              <a:t>work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 err="1"/>
              <a:t>Compliance</a:t>
            </a:r>
            <a:r>
              <a:rPr lang="ru-RU" sz="1100" b="0" dirty="0"/>
              <a:t> </a:t>
            </a:r>
            <a:r>
              <a:rPr lang="ru-RU" sz="1100" b="0" dirty="0" err="1"/>
              <a:t>requirements</a:t>
            </a:r>
            <a:endParaRPr lang="ru-RU" sz="11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Feedback from multiple stakeholders. </a:t>
            </a:r>
            <a:endParaRPr lang="ru-RU" sz="1100" b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B5CB49-C25C-E047-3223-8A144294D90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sz="1100" dirty="0"/>
              <a:t>Goal setting supports development rather than “box-ticking“</a:t>
            </a:r>
          </a:p>
          <a:p>
            <a:r>
              <a:rPr lang="ru-RU" sz="1100" b="0" dirty="0" err="1"/>
              <a:t>Goals</a:t>
            </a:r>
            <a:r>
              <a:rPr lang="ru-RU" sz="1100" b="0" dirty="0"/>
              <a:t> </a:t>
            </a:r>
            <a:r>
              <a:rPr lang="ru-RU" sz="1100" b="0" dirty="0" err="1"/>
              <a:t>are</a:t>
            </a:r>
            <a:r>
              <a:rPr lang="ru-RU" sz="1100" b="0" dirty="0"/>
              <a:t> </a:t>
            </a:r>
            <a:r>
              <a:rPr lang="ru-RU" sz="1100" b="0" dirty="0" err="1"/>
              <a:t>intended</a:t>
            </a:r>
            <a:r>
              <a:rPr lang="ru-RU" sz="1100" b="0" dirty="0"/>
              <a:t> </a:t>
            </a:r>
            <a:r>
              <a:rPr lang="ru-RU" sz="1100" b="0" dirty="0" err="1"/>
              <a:t>to</a:t>
            </a:r>
            <a:r>
              <a:rPr lang="ru-RU" sz="1100" b="0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 err="1"/>
              <a:t>Align</a:t>
            </a:r>
            <a:r>
              <a:rPr lang="ru-RU" sz="1100" b="0" dirty="0"/>
              <a:t> </a:t>
            </a:r>
            <a:r>
              <a:rPr lang="ru-RU" sz="1100" b="0" dirty="0" err="1"/>
              <a:t>employees</a:t>
            </a:r>
            <a:r>
              <a:rPr lang="ru-RU" sz="1100" b="0" dirty="0"/>
              <a:t> </a:t>
            </a:r>
            <a:r>
              <a:rPr lang="ru-RU" sz="1100" b="0" dirty="0" err="1"/>
              <a:t>with</a:t>
            </a:r>
            <a:r>
              <a:rPr lang="ru-RU" sz="1100" b="0" dirty="0"/>
              <a:t> </a:t>
            </a:r>
            <a:r>
              <a:rPr lang="ru-RU" sz="1100" b="0" dirty="0" err="1"/>
              <a:t>business</a:t>
            </a:r>
            <a:r>
              <a:rPr lang="ru-RU" sz="1100" b="0" dirty="0"/>
              <a:t> </a:t>
            </a:r>
            <a:r>
              <a:rPr lang="ru-RU" sz="1100" b="0" dirty="0" err="1"/>
              <a:t>strategy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Help </a:t>
            </a:r>
            <a:r>
              <a:rPr lang="en-US" sz="1100" b="0" dirty="0" err="1"/>
              <a:t>prioritise</a:t>
            </a:r>
            <a:r>
              <a:rPr lang="en-US" sz="1100" b="0" dirty="0"/>
              <a:t> development and value creation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 err="1"/>
              <a:t>Encourage</a:t>
            </a:r>
            <a:r>
              <a:rPr lang="ru-RU" sz="1100" b="0" dirty="0"/>
              <a:t> </a:t>
            </a:r>
            <a:r>
              <a:rPr lang="ru-RU" sz="1100" b="0" dirty="0" err="1"/>
              <a:t>stretch</a:t>
            </a:r>
            <a:r>
              <a:rPr lang="ru-RU" sz="1100" b="0" dirty="0"/>
              <a:t> </a:t>
            </a:r>
            <a:r>
              <a:rPr lang="ru-RU" sz="1100" b="0" dirty="0" err="1"/>
              <a:t>goals</a:t>
            </a:r>
            <a:endParaRPr lang="ru-RU" sz="1100" b="0" dirty="0"/>
          </a:p>
          <a:p>
            <a:endParaRPr lang="ru-RU" sz="11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4259D-2558-F566-224C-D77D5966AD7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sz="1100" dirty="0"/>
              <a:t>Continuous feedback is central</a:t>
            </a:r>
          </a:p>
          <a:p>
            <a:r>
              <a:rPr lang="en-US" sz="1100" b="0" dirty="0"/>
              <a:t>Performance management is no longer a year-end exercise. We </a:t>
            </a:r>
            <a:r>
              <a:rPr lang="ru-RU" sz="1100" b="0" dirty="0" err="1"/>
              <a:t>promote</a:t>
            </a:r>
            <a:r>
              <a:rPr lang="ru-RU" sz="1100" b="0" dirty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/>
              <a:t>Real-</a:t>
            </a:r>
            <a:r>
              <a:rPr lang="ru-RU" sz="1100" b="0" dirty="0" err="1"/>
              <a:t>time</a:t>
            </a:r>
            <a:r>
              <a:rPr lang="ru-RU" sz="1100" b="0" dirty="0"/>
              <a:t> </a:t>
            </a:r>
            <a:r>
              <a:rPr lang="ru-RU" sz="1100" b="0" dirty="0" err="1"/>
              <a:t>feedback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100" b="0" dirty="0" err="1"/>
              <a:t>Coaching</a:t>
            </a:r>
            <a:r>
              <a:rPr lang="ru-RU" sz="1100" b="0" dirty="0"/>
              <a:t> </a:t>
            </a:r>
            <a:r>
              <a:rPr lang="ru-RU" sz="1100" b="0" dirty="0" err="1"/>
              <a:t>conversations</a:t>
            </a:r>
            <a:endParaRPr lang="ru-RU" sz="11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Feedback from peers, managers and team members</a:t>
            </a:r>
            <a:endParaRPr lang="ru-RU" sz="11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 dirty="0"/>
              <a:t>Continuous development discussions throughout the year.</a:t>
            </a:r>
            <a:endParaRPr lang="ru-RU" sz="1100" b="0" dirty="0"/>
          </a:p>
          <a:p>
            <a:endParaRPr lang="ru-R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1B46C3-25D7-1989-9236-7CB0EE0C0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   |   Section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6D4F03-B068-B1B0-C440-418DC9FD9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2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5EA-CA8F-E24F-CCED-28D86423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885BF5-57BE-95F7-1D69-74C7F74F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Performance year journey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358D65-634C-B3C6-9B87-0BF17AF7D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Leadership Development Experience (LDE)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805C4-D245-041C-44FE-256E327BC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" name="Google Shape;1196;p157">
            <a:extLst>
              <a:ext uri="{FF2B5EF4-FFF2-40B4-BE49-F238E27FC236}">
                <a16:creationId xmlns:a16="http://schemas.microsoft.com/office/drawing/2014/main" id="{A1FAC834-ED74-6807-0772-C9E8B8B7F817}"/>
              </a:ext>
            </a:extLst>
          </p:cNvPr>
          <p:cNvGrpSpPr/>
          <p:nvPr/>
        </p:nvGrpSpPr>
        <p:grpSpPr>
          <a:xfrm>
            <a:off x="492844" y="905015"/>
            <a:ext cx="11261778" cy="4527166"/>
            <a:chOff x="390278" y="1989064"/>
            <a:chExt cx="10934827" cy="4483457"/>
          </a:xfrm>
        </p:grpSpPr>
        <p:sp>
          <p:nvSpPr>
            <p:cNvPr id="5" name="Google Shape;1197;p157">
              <a:extLst>
                <a:ext uri="{FF2B5EF4-FFF2-40B4-BE49-F238E27FC236}">
                  <a16:creationId xmlns:a16="http://schemas.microsoft.com/office/drawing/2014/main" id="{BBC89CDD-1EB4-39CD-00E0-031EA7EE209D}"/>
                </a:ext>
              </a:extLst>
            </p:cNvPr>
            <p:cNvSpPr/>
            <p:nvPr/>
          </p:nvSpPr>
          <p:spPr>
            <a:xfrm>
              <a:off x="447804" y="1989064"/>
              <a:ext cx="10725211" cy="4483457"/>
            </a:xfrm>
            <a:custGeom>
              <a:avLst/>
              <a:gdLst/>
              <a:ahLst/>
              <a:cxnLst/>
              <a:rect l="l" t="t" r="r" b="b"/>
              <a:pathLst>
                <a:path w="13838" h="6349" extrusionOk="0">
                  <a:moveTo>
                    <a:pt x="0" y="2730"/>
                  </a:moveTo>
                  <a:lnTo>
                    <a:pt x="1380" y="2730"/>
                  </a:lnTo>
                  <a:lnTo>
                    <a:pt x="1380" y="2730"/>
                  </a:lnTo>
                  <a:lnTo>
                    <a:pt x="1416" y="2730"/>
                  </a:lnTo>
                  <a:lnTo>
                    <a:pt x="1452" y="2734"/>
                  </a:lnTo>
                  <a:lnTo>
                    <a:pt x="1488" y="2738"/>
                  </a:lnTo>
                  <a:lnTo>
                    <a:pt x="1522" y="2744"/>
                  </a:lnTo>
                  <a:lnTo>
                    <a:pt x="1556" y="2752"/>
                  </a:lnTo>
                  <a:lnTo>
                    <a:pt x="1590" y="2762"/>
                  </a:lnTo>
                  <a:lnTo>
                    <a:pt x="1622" y="2772"/>
                  </a:lnTo>
                  <a:lnTo>
                    <a:pt x="1654" y="2786"/>
                  </a:lnTo>
                  <a:lnTo>
                    <a:pt x="1686" y="2800"/>
                  </a:lnTo>
                  <a:lnTo>
                    <a:pt x="1716" y="2816"/>
                  </a:lnTo>
                  <a:lnTo>
                    <a:pt x="1746" y="2832"/>
                  </a:lnTo>
                  <a:lnTo>
                    <a:pt x="1774" y="2850"/>
                  </a:lnTo>
                  <a:lnTo>
                    <a:pt x="1802" y="2870"/>
                  </a:lnTo>
                  <a:lnTo>
                    <a:pt x="1830" y="2892"/>
                  </a:lnTo>
                  <a:lnTo>
                    <a:pt x="1854" y="2914"/>
                  </a:lnTo>
                  <a:lnTo>
                    <a:pt x="1880" y="2938"/>
                  </a:lnTo>
                  <a:lnTo>
                    <a:pt x="1902" y="2962"/>
                  </a:lnTo>
                  <a:lnTo>
                    <a:pt x="1924" y="2988"/>
                  </a:lnTo>
                  <a:lnTo>
                    <a:pt x="1946" y="3014"/>
                  </a:lnTo>
                  <a:lnTo>
                    <a:pt x="1966" y="3042"/>
                  </a:lnTo>
                  <a:lnTo>
                    <a:pt x="1984" y="3070"/>
                  </a:lnTo>
                  <a:lnTo>
                    <a:pt x="2002" y="3100"/>
                  </a:lnTo>
                  <a:lnTo>
                    <a:pt x="2016" y="3130"/>
                  </a:lnTo>
                  <a:lnTo>
                    <a:pt x="2032" y="3162"/>
                  </a:lnTo>
                  <a:lnTo>
                    <a:pt x="2044" y="3193"/>
                  </a:lnTo>
                  <a:lnTo>
                    <a:pt x="2054" y="3225"/>
                  </a:lnTo>
                  <a:lnTo>
                    <a:pt x="2064" y="3259"/>
                  </a:lnTo>
                  <a:lnTo>
                    <a:pt x="2072" y="3293"/>
                  </a:lnTo>
                  <a:lnTo>
                    <a:pt x="2078" y="3329"/>
                  </a:lnTo>
                  <a:lnTo>
                    <a:pt x="2084" y="3363"/>
                  </a:lnTo>
                  <a:lnTo>
                    <a:pt x="2086" y="3399"/>
                  </a:lnTo>
                  <a:lnTo>
                    <a:pt x="2086" y="3435"/>
                  </a:lnTo>
                  <a:lnTo>
                    <a:pt x="2086" y="5643"/>
                  </a:lnTo>
                  <a:lnTo>
                    <a:pt x="2086" y="5643"/>
                  </a:lnTo>
                  <a:lnTo>
                    <a:pt x="2088" y="5679"/>
                  </a:lnTo>
                  <a:lnTo>
                    <a:pt x="2090" y="5715"/>
                  </a:lnTo>
                  <a:lnTo>
                    <a:pt x="2096" y="5751"/>
                  </a:lnTo>
                  <a:lnTo>
                    <a:pt x="2102" y="5785"/>
                  </a:lnTo>
                  <a:lnTo>
                    <a:pt x="2110" y="5819"/>
                  </a:lnTo>
                  <a:lnTo>
                    <a:pt x="2118" y="5853"/>
                  </a:lnTo>
                  <a:lnTo>
                    <a:pt x="2130" y="5885"/>
                  </a:lnTo>
                  <a:lnTo>
                    <a:pt x="2142" y="5917"/>
                  </a:lnTo>
                  <a:lnTo>
                    <a:pt x="2156" y="5949"/>
                  </a:lnTo>
                  <a:lnTo>
                    <a:pt x="2172" y="5979"/>
                  </a:lnTo>
                  <a:lnTo>
                    <a:pt x="2190" y="6009"/>
                  </a:lnTo>
                  <a:lnTo>
                    <a:pt x="2208" y="6037"/>
                  </a:lnTo>
                  <a:lnTo>
                    <a:pt x="2228" y="6065"/>
                  </a:lnTo>
                  <a:lnTo>
                    <a:pt x="2248" y="6093"/>
                  </a:lnTo>
                  <a:lnTo>
                    <a:pt x="2272" y="6117"/>
                  </a:lnTo>
                  <a:lnTo>
                    <a:pt x="2294" y="6143"/>
                  </a:lnTo>
                  <a:lnTo>
                    <a:pt x="2320" y="6165"/>
                  </a:lnTo>
                  <a:lnTo>
                    <a:pt x="2344" y="6187"/>
                  </a:lnTo>
                  <a:lnTo>
                    <a:pt x="2372" y="6209"/>
                  </a:lnTo>
                  <a:lnTo>
                    <a:pt x="2400" y="6229"/>
                  </a:lnTo>
                  <a:lnTo>
                    <a:pt x="2428" y="6247"/>
                  </a:lnTo>
                  <a:lnTo>
                    <a:pt x="2458" y="6265"/>
                  </a:lnTo>
                  <a:lnTo>
                    <a:pt x="2488" y="6279"/>
                  </a:lnTo>
                  <a:lnTo>
                    <a:pt x="2520" y="6295"/>
                  </a:lnTo>
                  <a:lnTo>
                    <a:pt x="2552" y="6307"/>
                  </a:lnTo>
                  <a:lnTo>
                    <a:pt x="2584" y="6317"/>
                  </a:lnTo>
                  <a:lnTo>
                    <a:pt x="2618" y="6327"/>
                  </a:lnTo>
                  <a:lnTo>
                    <a:pt x="2652" y="6335"/>
                  </a:lnTo>
                  <a:lnTo>
                    <a:pt x="2686" y="6341"/>
                  </a:lnTo>
                  <a:lnTo>
                    <a:pt x="2722" y="6347"/>
                  </a:lnTo>
                  <a:lnTo>
                    <a:pt x="2758" y="6349"/>
                  </a:lnTo>
                  <a:lnTo>
                    <a:pt x="2794" y="6349"/>
                  </a:lnTo>
                  <a:lnTo>
                    <a:pt x="3840" y="6349"/>
                  </a:lnTo>
                  <a:lnTo>
                    <a:pt x="3840" y="6349"/>
                  </a:lnTo>
                  <a:lnTo>
                    <a:pt x="3876" y="6349"/>
                  </a:lnTo>
                  <a:lnTo>
                    <a:pt x="3912" y="6347"/>
                  </a:lnTo>
                  <a:lnTo>
                    <a:pt x="3948" y="6341"/>
                  </a:lnTo>
                  <a:lnTo>
                    <a:pt x="3982" y="6335"/>
                  </a:lnTo>
                  <a:lnTo>
                    <a:pt x="4016" y="6327"/>
                  </a:lnTo>
                  <a:lnTo>
                    <a:pt x="4050" y="6317"/>
                  </a:lnTo>
                  <a:lnTo>
                    <a:pt x="4082" y="6307"/>
                  </a:lnTo>
                  <a:lnTo>
                    <a:pt x="4114" y="6295"/>
                  </a:lnTo>
                  <a:lnTo>
                    <a:pt x="4146" y="6279"/>
                  </a:lnTo>
                  <a:lnTo>
                    <a:pt x="4176" y="6265"/>
                  </a:lnTo>
                  <a:lnTo>
                    <a:pt x="4206" y="6247"/>
                  </a:lnTo>
                  <a:lnTo>
                    <a:pt x="4234" y="6229"/>
                  </a:lnTo>
                  <a:lnTo>
                    <a:pt x="4262" y="6209"/>
                  </a:lnTo>
                  <a:lnTo>
                    <a:pt x="4290" y="6187"/>
                  </a:lnTo>
                  <a:lnTo>
                    <a:pt x="4314" y="6165"/>
                  </a:lnTo>
                  <a:lnTo>
                    <a:pt x="4340" y="6143"/>
                  </a:lnTo>
                  <a:lnTo>
                    <a:pt x="4362" y="6117"/>
                  </a:lnTo>
                  <a:lnTo>
                    <a:pt x="4386" y="6093"/>
                  </a:lnTo>
                  <a:lnTo>
                    <a:pt x="4406" y="6065"/>
                  </a:lnTo>
                  <a:lnTo>
                    <a:pt x="4426" y="6037"/>
                  </a:lnTo>
                  <a:lnTo>
                    <a:pt x="4444" y="6009"/>
                  </a:lnTo>
                  <a:lnTo>
                    <a:pt x="4462" y="5979"/>
                  </a:lnTo>
                  <a:lnTo>
                    <a:pt x="4478" y="5949"/>
                  </a:lnTo>
                  <a:lnTo>
                    <a:pt x="4492" y="5917"/>
                  </a:lnTo>
                  <a:lnTo>
                    <a:pt x="4504" y="5885"/>
                  </a:lnTo>
                  <a:lnTo>
                    <a:pt x="4516" y="5853"/>
                  </a:lnTo>
                  <a:lnTo>
                    <a:pt x="4524" y="5819"/>
                  </a:lnTo>
                  <a:lnTo>
                    <a:pt x="4532" y="5785"/>
                  </a:lnTo>
                  <a:lnTo>
                    <a:pt x="4538" y="5751"/>
                  </a:lnTo>
                  <a:lnTo>
                    <a:pt x="4544" y="5715"/>
                  </a:lnTo>
                  <a:lnTo>
                    <a:pt x="4546" y="5679"/>
                  </a:lnTo>
                  <a:lnTo>
                    <a:pt x="4548" y="5643"/>
                  </a:lnTo>
                  <a:lnTo>
                    <a:pt x="4548" y="1900"/>
                  </a:lnTo>
                  <a:lnTo>
                    <a:pt x="4548" y="1900"/>
                  </a:lnTo>
                  <a:lnTo>
                    <a:pt x="4548" y="1864"/>
                  </a:lnTo>
                  <a:lnTo>
                    <a:pt x="4550" y="1828"/>
                  </a:lnTo>
                  <a:lnTo>
                    <a:pt x="4556" y="1794"/>
                  </a:lnTo>
                  <a:lnTo>
                    <a:pt x="4562" y="1758"/>
                  </a:lnTo>
                  <a:lnTo>
                    <a:pt x="4570" y="1724"/>
                  </a:lnTo>
                  <a:lnTo>
                    <a:pt x="4578" y="1692"/>
                  </a:lnTo>
                  <a:lnTo>
                    <a:pt x="4590" y="1658"/>
                  </a:lnTo>
                  <a:lnTo>
                    <a:pt x="4602" y="1626"/>
                  </a:lnTo>
                  <a:lnTo>
                    <a:pt x="4618" y="1594"/>
                  </a:lnTo>
                  <a:lnTo>
                    <a:pt x="4632" y="1564"/>
                  </a:lnTo>
                  <a:lnTo>
                    <a:pt x="4650" y="1534"/>
                  </a:lnTo>
                  <a:lnTo>
                    <a:pt x="4668" y="1506"/>
                  </a:lnTo>
                  <a:lnTo>
                    <a:pt x="4688" y="1478"/>
                  </a:lnTo>
                  <a:lnTo>
                    <a:pt x="4708" y="1452"/>
                  </a:lnTo>
                  <a:lnTo>
                    <a:pt x="4732" y="1426"/>
                  </a:lnTo>
                  <a:lnTo>
                    <a:pt x="4754" y="1402"/>
                  </a:lnTo>
                  <a:lnTo>
                    <a:pt x="4780" y="1378"/>
                  </a:lnTo>
                  <a:lnTo>
                    <a:pt x="4804" y="1356"/>
                  </a:lnTo>
                  <a:lnTo>
                    <a:pt x="4832" y="1334"/>
                  </a:lnTo>
                  <a:lnTo>
                    <a:pt x="4860" y="1316"/>
                  </a:lnTo>
                  <a:lnTo>
                    <a:pt x="4888" y="1296"/>
                  </a:lnTo>
                  <a:lnTo>
                    <a:pt x="4918" y="1280"/>
                  </a:lnTo>
                  <a:lnTo>
                    <a:pt x="4948" y="1264"/>
                  </a:lnTo>
                  <a:lnTo>
                    <a:pt x="4980" y="1250"/>
                  </a:lnTo>
                  <a:lnTo>
                    <a:pt x="5012" y="1238"/>
                  </a:lnTo>
                  <a:lnTo>
                    <a:pt x="5044" y="1226"/>
                  </a:lnTo>
                  <a:lnTo>
                    <a:pt x="5078" y="1216"/>
                  </a:lnTo>
                  <a:lnTo>
                    <a:pt x="5112" y="1208"/>
                  </a:lnTo>
                  <a:lnTo>
                    <a:pt x="5146" y="1202"/>
                  </a:lnTo>
                  <a:lnTo>
                    <a:pt x="5182" y="1198"/>
                  </a:lnTo>
                  <a:lnTo>
                    <a:pt x="5218" y="1194"/>
                  </a:lnTo>
                  <a:lnTo>
                    <a:pt x="5254" y="1194"/>
                  </a:lnTo>
                  <a:lnTo>
                    <a:pt x="6258" y="1194"/>
                  </a:lnTo>
                  <a:lnTo>
                    <a:pt x="6258" y="1194"/>
                  </a:lnTo>
                  <a:lnTo>
                    <a:pt x="6294" y="1194"/>
                  </a:lnTo>
                  <a:lnTo>
                    <a:pt x="6330" y="1198"/>
                  </a:lnTo>
                  <a:lnTo>
                    <a:pt x="6364" y="1202"/>
                  </a:lnTo>
                  <a:lnTo>
                    <a:pt x="6400" y="1208"/>
                  </a:lnTo>
                  <a:lnTo>
                    <a:pt x="6434" y="1216"/>
                  </a:lnTo>
                  <a:lnTo>
                    <a:pt x="6468" y="1226"/>
                  </a:lnTo>
                  <a:lnTo>
                    <a:pt x="6500" y="1238"/>
                  </a:lnTo>
                  <a:lnTo>
                    <a:pt x="6532" y="1250"/>
                  </a:lnTo>
                  <a:lnTo>
                    <a:pt x="6564" y="1264"/>
                  </a:lnTo>
                  <a:lnTo>
                    <a:pt x="6594" y="1280"/>
                  </a:lnTo>
                  <a:lnTo>
                    <a:pt x="6624" y="1296"/>
                  </a:lnTo>
                  <a:lnTo>
                    <a:pt x="6652" y="1316"/>
                  </a:lnTo>
                  <a:lnTo>
                    <a:pt x="6680" y="1334"/>
                  </a:lnTo>
                  <a:lnTo>
                    <a:pt x="6706" y="1356"/>
                  </a:lnTo>
                  <a:lnTo>
                    <a:pt x="6732" y="1378"/>
                  </a:lnTo>
                  <a:lnTo>
                    <a:pt x="6756" y="1402"/>
                  </a:lnTo>
                  <a:lnTo>
                    <a:pt x="6780" y="1426"/>
                  </a:lnTo>
                  <a:lnTo>
                    <a:pt x="6802" y="1452"/>
                  </a:lnTo>
                  <a:lnTo>
                    <a:pt x="6824" y="1478"/>
                  </a:lnTo>
                  <a:lnTo>
                    <a:pt x="6844" y="1506"/>
                  </a:lnTo>
                  <a:lnTo>
                    <a:pt x="6862" y="1534"/>
                  </a:lnTo>
                  <a:lnTo>
                    <a:pt x="6878" y="1564"/>
                  </a:lnTo>
                  <a:lnTo>
                    <a:pt x="6894" y="1594"/>
                  </a:lnTo>
                  <a:lnTo>
                    <a:pt x="6908" y="1626"/>
                  </a:lnTo>
                  <a:lnTo>
                    <a:pt x="6922" y="1658"/>
                  </a:lnTo>
                  <a:lnTo>
                    <a:pt x="6932" y="1692"/>
                  </a:lnTo>
                  <a:lnTo>
                    <a:pt x="6942" y="1724"/>
                  </a:lnTo>
                  <a:lnTo>
                    <a:pt x="6950" y="1758"/>
                  </a:lnTo>
                  <a:lnTo>
                    <a:pt x="6956" y="1794"/>
                  </a:lnTo>
                  <a:lnTo>
                    <a:pt x="6960" y="1828"/>
                  </a:lnTo>
                  <a:lnTo>
                    <a:pt x="6964" y="1864"/>
                  </a:lnTo>
                  <a:lnTo>
                    <a:pt x="6964" y="1900"/>
                  </a:lnTo>
                  <a:lnTo>
                    <a:pt x="6964" y="4459"/>
                  </a:lnTo>
                  <a:lnTo>
                    <a:pt x="6964" y="4459"/>
                  </a:lnTo>
                  <a:lnTo>
                    <a:pt x="6966" y="4495"/>
                  </a:lnTo>
                  <a:lnTo>
                    <a:pt x="6968" y="4531"/>
                  </a:lnTo>
                  <a:lnTo>
                    <a:pt x="6972" y="4567"/>
                  </a:lnTo>
                  <a:lnTo>
                    <a:pt x="6978" y="4601"/>
                  </a:lnTo>
                  <a:lnTo>
                    <a:pt x="6986" y="4635"/>
                  </a:lnTo>
                  <a:lnTo>
                    <a:pt x="6996" y="4669"/>
                  </a:lnTo>
                  <a:lnTo>
                    <a:pt x="7008" y="4701"/>
                  </a:lnTo>
                  <a:lnTo>
                    <a:pt x="7020" y="4733"/>
                  </a:lnTo>
                  <a:lnTo>
                    <a:pt x="7034" y="4765"/>
                  </a:lnTo>
                  <a:lnTo>
                    <a:pt x="7050" y="4795"/>
                  </a:lnTo>
                  <a:lnTo>
                    <a:pt x="7068" y="4825"/>
                  </a:lnTo>
                  <a:lnTo>
                    <a:pt x="7086" y="4853"/>
                  </a:lnTo>
                  <a:lnTo>
                    <a:pt x="7106" y="4881"/>
                  </a:lnTo>
                  <a:lnTo>
                    <a:pt x="7126" y="4907"/>
                  </a:lnTo>
                  <a:lnTo>
                    <a:pt x="7148" y="4933"/>
                  </a:lnTo>
                  <a:lnTo>
                    <a:pt x="7172" y="4957"/>
                  </a:lnTo>
                  <a:lnTo>
                    <a:pt x="7196" y="4981"/>
                  </a:lnTo>
                  <a:lnTo>
                    <a:pt x="7222" y="5003"/>
                  </a:lnTo>
                  <a:lnTo>
                    <a:pt x="7248" y="5025"/>
                  </a:lnTo>
                  <a:lnTo>
                    <a:pt x="7276" y="5045"/>
                  </a:lnTo>
                  <a:lnTo>
                    <a:pt x="7306" y="5063"/>
                  </a:lnTo>
                  <a:lnTo>
                    <a:pt x="7334" y="5079"/>
                  </a:lnTo>
                  <a:lnTo>
                    <a:pt x="7366" y="5095"/>
                  </a:lnTo>
                  <a:lnTo>
                    <a:pt x="7396" y="5109"/>
                  </a:lnTo>
                  <a:lnTo>
                    <a:pt x="7428" y="5123"/>
                  </a:lnTo>
                  <a:lnTo>
                    <a:pt x="7462" y="5133"/>
                  </a:lnTo>
                  <a:lnTo>
                    <a:pt x="7496" y="5143"/>
                  </a:lnTo>
                  <a:lnTo>
                    <a:pt x="7530" y="5151"/>
                  </a:lnTo>
                  <a:lnTo>
                    <a:pt x="7564" y="5157"/>
                  </a:lnTo>
                  <a:lnTo>
                    <a:pt x="7600" y="5161"/>
                  </a:lnTo>
                  <a:lnTo>
                    <a:pt x="7634" y="5165"/>
                  </a:lnTo>
                  <a:lnTo>
                    <a:pt x="7672" y="5165"/>
                  </a:lnTo>
                  <a:lnTo>
                    <a:pt x="8704" y="5165"/>
                  </a:lnTo>
                  <a:lnTo>
                    <a:pt x="8704" y="5165"/>
                  </a:lnTo>
                  <a:lnTo>
                    <a:pt x="8740" y="5165"/>
                  </a:lnTo>
                  <a:lnTo>
                    <a:pt x="8776" y="5161"/>
                  </a:lnTo>
                  <a:lnTo>
                    <a:pt x="8812" y="5157"/>
                  </a:lnTo>
                  <a:lnTo>
                    <a:pt x="8846" y="5151"/>
                  </a:lnTo>
                  <a:lnTo>
                    <a:pt x="8880" y="5143"/>
                  </a:lnTo>
                  <a:lnTo>
                    <a:pt x="8914" y="5133"/>
                  </a:lnTo>
                  <a:lnTo>
                    <a:pt x="8946" y="5123"/>
                  </a:lnTo>
                  <a:lnTo>
                    <a:pt x="8978" y="5109"/>
                  </a:lnTo>
                  <a:lnTo>
                    <a:pt x="9010" y="5095"/>
                  </a:lnTo>
                  <a:lnTo>
                    <a:pt x="9040" y="5079"/>
                  </a:lnTo>
                  <a:lnTo>
                    <a:pt x="9070" y="5063"/>
                  </a:lnTo>
                  <a:lnTo>
                    <a:pt x="9098" y="5045"/>
                  </a:lnTo>
                  <a:lnTo>
                    <a:pt x="9126" y="5025"/>
                  </a:lnTo>
                  <a:lnTo>
                    <a:pt x="9154" y="5003"/>
                  </a:lnTo>
                  <a:lnTo>
                    <a:pt x="9178" y="4981"/>
                  </a:lnTo>
                  <a:lnTo>
                    <a:pt x="9204" y="4957"/>
                  </a:lnTo>
                  <a:lnTo>
                    <a:pt x="9226" y="4933"/>
                  </a:lnTo>
                  <a:lnTo>
                    <a:pt x="9250" y="4907"/>
                  </a:lnTo>
                  <a:lnTo>
                    <a:pt x="9270" y="4881"/>
                  </a:lnTo>
                  <a:lnTo>
                    <a:pt x="9290" y="4853"/>
                  </a:lnTo>
                  <a:lnTo>
                    <a:pt x="9308" y="4825"/>
                  </a:lnTo>
                  <a:lnTo>
                    <a:pt x="9326" y="4795"/>
                  </a:lnTo>
                  <a:lnTo>
                    <a:pt x="9340" y="4765"/>
                  </a:lnTo>
                  <a:lnTo>
                    <a:pt x="9356" y="4733"/>
                  </a:lnTo>
                  <a:lnTo>
                    <a:pt x="9368" y="4701"/>
                  </a:lnTo>
                  <a:lnTo>
                    <a:pt x="9378" y="4669"/>
                  </a:lnTo>
                  <a:lnTo>
                    <a:pt x="9388" y="4635"/>
                  </a:lnTo>
                  <a:lnTo>
                    <a:pt x="9396" y="4601"/>
                  </a:lnTo>
                  <a:lnTo>
                    <a:pt x="9402" y="4567"/>
                  </a:lnTo>
                  <a:lnTo>
                    <a:pt x="9408" y="4531"/>
                  </a:lnTo>
                  <a:lnTo>
                    <a:pt x="9410" y="4495"/>
                  </a:lnTo>
                  <a:lnTo>
                    <a:pt x="9410" y="4459"/>
                  </a:lnTo>
                  <a:lnTo>
                    <a:pt x="9410" y="706"/>
                  </a:lnTo>
                  <a:lnTo>
                    <a:pt x="9410" y="706"/>
                  </a:lnTo>
                  <a:lnTo>
                    <a:pt x="9412" y="670"/>
                  </a:lnTo>
                  <a:lnTo>
                    <a:pt x="9414" y="634"/>
                  </a:lnTo>
                  <a:lnTo>
                    <a:pt x="9420" y="598"/>
                  </a:lnTo>
                  <a:lnTo>
                    <a:pt x="9426" y="564"/>
                  </a:lnTo>
                  <a:lnTo>
                    <a:pt x="9434" y="530"/>
                  </a:lnTo>
                  <a:lnTo>
                    <a:pt x="9442" y="496"/>
                  </a:lnTo>
                  <a:lnTo>
                    <a:pt x="9454" y="464"/>
                  </a:lnTo>
                  <a:lnTo>
                    <a:pt x="9466" y="432"/>
                  </a:lnTo>
                  <a:lnTo>
                    <a:pt x="9480" y="400"/>
                  </a:lnTo>
                  <a:lnTo>
                    <a:pt x="9496" y="370"/>
                  </a:lnTo>
                  <a:lnTo>
                    <a:pt x="9514" y="340"/>
                  </a:lnTo>
                  <a:lnTo>
                    <a:pt x="9532" y="312"/>
                  </a:lnTo>
                  <a:lnTo>
                    <a:pt x="9552" y="284"/>
                  </a:lnTo>
                  <a:lnTo>
                    <a:pt x="9572" y="256"/>
                  </a:lnTo>
                  <a:lnTo>
                    <a:pt x="9596" y="232"/>
                  </a:lnTo>
                  <a:lnTo>
                    <a:pt x="9618" y="206"/>
                  </a:lnTo>
                  <a:lnTo>
                    <a:pt x="9644" y="184"/>
                  </a:lnTo>
                  <a:lnTo>
                    <a:pt x="9668" y="160"/>
                  </a:lnTo>
                  <a:lnTo>
                    <a:pt x="9696" y="140"/>
                  </a:lnTo>
                  <a:lnTo>
                    <a:pt x="9724" y="120"/>
                  </a:lnTo>
                  <a:lnTo>
                    <a:pt x="9752" y="102"/>
                  </a:lnTo>
                  <a:lnTo>
                    <a:pt x="9782" y="84"/>
                  </a:lnTo>
                  <a:lnTo>
                    <a:pt x="9812" y="68"/>
                  </a:lnTo>
                  <a:lnTo>
                    <a:pt x="9844" y="54"/>
                  </a:lnTo>
                  <a:lnTo>
                    <a:pt x="9876" y="42"/>
                  </a:lnTo>
                  <a:lnTo>
                    <a:pt x="9908" y="30"/>
                  </a:lnTo>
                  <a:lnTo>
                    <a:pt x="9942" y="22"/>
                  </a:lnTo>
                  <a:lnTo>
                    <a:pt x="9976" y="14"/>
                  </a:lnTo>
                  <a:lnTo>
                    <a:pt x="10010" y="8"/>
                  </a:lnTo>
                  <a:lnTo>
                    <a:pt x="10046" y="2"/>
                  </a:lnTo>
                  <a:lnTo>
                    <a:pt x="10082" y="0"/>
                  </a:lnTo>
                  <a:lnTo>
                    <a:pt x="10118" y="0"/>
                  </a:lnTo>
                  <a:lnTo>
                    <a:pt x="11108" y="0"/>
                  </a:lnTo>
                  <a:lnTo>
                    <a:pt x="11108" y="0"/>
                  </a:lnTo>
                  <a:lnTo>
                    <a:pt x="11144" y="0"/>
                  </a:lnTo>
                  <a:lnTo>
                    <a:pt x="11180" y="2"/>
                  </a:lnTo>
                  <a:lnTo>
                    <a:pt x="11216" y="8"/>
                  </a:lnTo>
                  <a:lnTo>
                    <a:pt x="11250" y="14"/>
                  </a:lnTo>
                  <a:lnTo>
                    <a:pt x="11284" y="22"/>
                  </a:lnTo>
                  <a:lnTo>
                    <a:pt x="11318" y="30"/>
                  </a:lnTo>
                  <a:lnTo>
                    <a:pt x="11350" y="42"/>
                  </a:lnTo>
                  <a:lnTo>
                    <a:pt x="11382" y="54"/>
                  </a:lnTo>
                  <a:lnTo>
                    <a:pt x="11414" y="68"/>
                  </a:lnTo>
                  <a:lnTo>
                    <a:pt x="11444" y="84"/>
                  </a:lnTo>
                  <a:lnTo>
                    <a:pt x="11474" y="102"/>
                  </a:lnTo>
                  <a:lnTo>
                    <a:pt x="11502" y="120"/>
                  </a:lnTo>
                  <a:lnTo>
                    <a:pt x="11530" y="140"/>
                  </a:lnTo>
                  <a:lnTo>
                    <a:pt x="11556" y="160"/>
                  </a:lnTo>
                  <a:lnTo>
                    <a:pt x="11582" y="184"/>
                  </a:lnTo>
                  <a:lnTo>
                    <a:pt x="11606" y="206"/>
                  </a:lnTo>
                  <a:lnTo>
                    <a:pt x="11630" y="232"/>
                  </a:lnTo>
                  <a:lnTo>
                    <a:pt x="11652" y="256"/>
                  </a:lnTo>
                  <a:lnTo>
                    <a:pt x="11674" y="284"/>
                  </a:lnTo>
                  <a:lnTo>
                    <a:pt x="11694" y="312"/>
                  </a:lnTo>
                  <a:lnTo>
                    <a:pt x="11712" y="340"/>
                  </a:lnTo>
                  <a:lnTo>
                    <a:pt x="11728" y="370"/>
                  </a:lnTo>
                  <a:lnTo>
                    <a:pt x="11744" y="400"/>
                  </a:lnTo>
                  <a:lnTo>
                    <a:pt x="11758" y="432"/>
                  </a:lnTo>
                  <a:lnTo>
                    <a:pt x="11772" y="464"/>
                  </a:lnTo>
                  <a:lnTo>
                    <a:pt x="11782" y="496"/>
                  </a:lnTo>
                  <a:lnTo>
                    <a:pt x="11792" y="530"/>
                  </a:lnTo>
                  <a:lnTo>
                    <a:pt x="11800" y="564"/>
                  </a:lnTo>
                  <a:lnTo>
                    <a:pt x="11806" y="598"/>
                  </a:lnTo>
                  <a:lnTo>
                    <a:pt x="11810" y="634"/>
                  </a:lnTo>
                  <a:lnTo>
                    <a:pt x="11814" y="670"/>
                  </a:lnTo>
                  <a:lnTo>
                    <a:pt x="11814" y="706"/>
                  </a:lnTo>
                  <a:lnTo>
                    <a:pt x="11814" y="2350"/>
                  </a:lnTo>
                  <a:lnTo>
                    <a:pt x="11814" y="2350"/>
                  </a:lnTo>
                  <a:lnTo>
                    <a:pt x="11816" y="2386"/>
                  </a:lnTo>
                  <a:lnTo>
                    <a:pt x="11818" y="2422"/>
                  </a:lnTo>
                  <a:lnTo>
                    <a:pt x="11822" y="2456"/>
                  </a:lnTo>
                  <a:lnTo>
                    <a:pt x="11828" y="2492"/>
                  </a:lnTo>
                  <a:lnTo>
                    <a:pt x="11836" y="2526"/>
                  </a:lnTo>
                  <a:lnTo>
                    <a:pt x="11846" y="2560"/>
                  </a:lnTo>
                  <a:lnTo>
                    <a:pt x="11858" y="2592"/>
                  </a:lnTo>
                  <a:lnTo>
                    <a:pt x="11870" y="2624"/>
                  </a:lnTo>
                  <a:lnTo>
                    <a:pt x="11884" y="2656"/>
                  </a:lnTo>
                  <a:lnTo>
                    <a:pt x="11900" y="2686"/>
                  </a:lnTo>
                  <a:lnTo>
                    <a:pt x="11918" y="2716"/>
                  </a:lnTo>
                  <a:lnTo>
                    <a:pt x="11936" y="2744"/>
                  </a:lnTo>
                  <a:lnTo>
                    <a:pt x="11956" y="2772"/>
                  </a:lnTo>
                  <a:lnTo>
                    <a:pt x="11976" y="2798"/>
                  </a:lnTo>
                  <a:lnTo>
                    <a:pt x="11998" y="2824"/>
                  </a:lnTo>
                  <a:lnTo>
                    <a:pt x="12022" y="2848"/>
                  </a:lnTo>
                  <a:lnTo>
                    <a:pt x="12046" y="2872"/>
                  </a:lnTo>
                  <a:lnTo>
                    <a:pt x="12072" y="2894"/>
                  </a:lnTo>
                  <a:lnTo>
                    <a:pt x="12100" y="2916"/>
                  </a:lnTo>
                  <a:lnTo>
                    <a:pt x="12126" y="2936"/>
                  </a:lnTo>
                  <a:lnTo>
                    <a:pt x="12156" y="2954"/>
                  </a:lnTo>
                  <a:lnTo>
                    <a:pt x="12186" y="2970"/>
                  </a:lnTo>
                  <a:lnTo>
                    <a:pt x="12216" y="2986"/>
                  </a:lnTo>
                  <a:lnTo>
                    <a:pt x="12246" y="3000"/>
                  </a:lnTo>
                  <a:lnTo>
                    <a:pt x="12278" y="3014"/>
                  </a:lnTo>
                  <a:lnTo>
                    <a:pt x="12312" y="3024"/>
                  </a:lnTo>
                  <a:lnTo>
                    <a:pt x="12346" y="3034"/>
                  </a:lnTo>
                  <a:lnTo>
                    <a:pt x="12380" y="3042"/>
                  </a:lnTo>
                  <a:lnTo>
                    <a:pt x="12414" y="3048"/>
                  </a:lnTo>
                  <a:lnTo>
                    <a:pt x="12450" y="3052"/>
                  </a:lnTo>
                  <a:lnTo>
                    <a:pt x="12486" y="3056"/>
                  </a:lnTo>
                  <a:lnTo>
                    <a:pt x="12522" y="3056"/>
                  </a:lnTo>
                  <a:lnTo>
                    <a:pt x="13838" y="3056"/>
                  </a:lnTo>
                </a:path>
              </a:pathLst>
            </a:custGeom>
            <a:noFill/>
            <a:ln w="762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8150" tIns="39050" rIns="78150" bIns="390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98;p157">
              <a:extLst>
                <a:ext uri="{FF2B5EF4-FFF2-40B4-BE49-F238E27FC236}">
                  <a16:creationId xmlns:a16="http://schemas.microsoft.com/office/drawing/2014/main" id="{B2C30A7C-FE72-3E04-1117-3C461C94C552}"/>
                </a:ext>
              </a:extLst>
            </p:cNvPr>
            <p:cNvSpPr/>
            <p:nvPr/>
          </p:nvSpPr>
          <p:spPr>
            <a:xfrm>
              <a:off x="390278" y="3838973"/>
              <a:ext cx="152100" cy="152100"/>
            </a:xfrm>
            <a:prstGeom prst="ellipse">
              <a:avLst/>
            </a:prstGeom>
            <a:solidFill>
              <a:schemeClr val="lt1"/>
            </a:solidFill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99;p157">
              <a:extLst>
                <a:ext uri="{FF2B5EF4-FFF2-40B4-BE49-F238E27FC236}">
                  <a16:creationId xmlns:a16="http://schemas.microsoft.com/office/drawing/2014/main" id="{7D006695-E57B-01BF-787F-FDF3B48CC184}"/>
                </a:ext>
              </a:extLst>
            </p:cNvPr>
            <p:cNvSpPr/>
            <p:nvPr/>
          </p:nvSpPr>
          <p:spPr>
            <a:xfrm>
              <a:off x="11173005" y="4071208"/>
              <a:ext cx="152100" cy="152100"/>
            </a:xfrm>
            <a:prstGeom prst="ellipse">
              <a:avLst/>
            </a:prstGeom>
            <a:solidFill>
              <a:schemeClr val="lt1"/>
            </a:solidFill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1203;p157">
            <a:extLst>
              <a:ext uri="{FF2B5EF4-FFF2-40B4-BE49-F238E27FC236}">
                <a16:creationId xmlns:a16="http://schemas.microsoft.com/office/drawing/2014/main" id="{7C80526F-EF09-9E77-4470-18233F1D79D6}"/>
              </a:ext>
            </a:extLst>
          </p:cNvPr>
          <p:cNvSpPr txBox="1"/>
          <p:nvPr/>
        </p:nvSpPr>
        <p:spPr>
          <a:xfrm>
            <a:off x="892968" y="865006"/>
            <a:ext cx="7019925" cy="45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buClr>
                <a:srgbClr val="000000"/>
              </a:buClr>
              <a:buSzPts val="12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Remember, </a:t>
            </a:r>
            <a:r>
              <a:rPr lang="en-US" sz="1300" dirty="0">
                <a:solidFill>
                  <a:schemeClr val="tx1"/>
                </a:solidFill>
                <a:latin typeface="+mj-lt"/>
              </a:rPr>
              <a:t>new joiners </a:t>
            </a:r>
            <a:r>
              <a:rPr lang="en-US" sz="13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could join the firm at any point in the performance year. Work with HC to understand what from the journey below is relevant for you and when.</a:t>
            </a:r>
            <a:endParaRPr sz="13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205;p157">
            <a:extLst>
              <a:ext uri="{FF2B5EF4-FFF2-40B4-BE49-F238E27FC236}">
                <a16:creationId xmlns:a16="http://schemas.microsoft.com/office/drawing/2014/main" id="{801CC7C7-DAD7-804A-686B-C3C94162E6C4}"/>
              </a:ext>
            </a:extLst>
          </p:cNvPr>
          <p:cNvCxnSpPr/>
          <p:nvPr/>
        </p:nvCxnSpPr>
        <p:spPr>
          <a:xfrm>
            <a:off x="9840050" y="1875536"/>
            <a:ext cx="624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oval" w="med" len="med"/>
          </a:ln>
        </p:spPr>
      </p:cxnSp>
      <p:grpSp>
        <p:nvGrpSpPr>
          <p:cNvPr id="14" name="Google Shape;1206;p157">
            <a:extLst>
              <a:ext uri="{FF2B5EF4-FFF2-40B4-BE49-F238E27FC236}">
                <a16:creationId xmlns:a16="http://schemas.microsoft.com/office/drawing/2014/main" id="{435F44C0-0880-0F34-02FA-19B7B9EE7F64}"/>
              </a:ext>
            </a:extLst>
          </p:cNvPr>
          <p:cNvGrpSpPr/>
          <p:nvPr/>
        </p:nvGrpSpPr>
        <p:grpSpPr>
          <a:xfrm>
            <a:off x="10615835" y="1723385"/>
            <a:ext cx="304267" cy="304267"/>
            <a:chOff x="2178073" y="2741395"/>
            <a:chExt cx="457200" cy="457200"/>
          </a:xfrm>
        </p:grpSpPr>
        <p:sp>
          <p:nvSpPr>
            <p:cNvPr id="31" name="Google Shape;1207;p157">
              <a:extLst>
                <a:ext uri="{FF2B5EF4-FFF2-40B4-BE49-F238E27FC236}">
                  <a16:creationId xmlns:a16="http://schemas.microsoft.com/office/drawing/2014/main" id="{AA7FE85C-6D7C-E3AD-F424-BBD86829DEB6}"/>
                </a:ext>
              </a:extLst>
            </p:cNvPr>
            <p:cNvSpPr/>
            <p:nvPr/>
          </p:nvSpPr>
          <p:spPr>
            <a:xfrm>
              <a:off x="2178073" y="27413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extrusionOk="0">
                  <a:moveTo>
                    <a:pt x="0" y="0"/>
                  </a:move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  <a:moveTo>
                    <a:pt x="239331" y="437706"/>
                  </a:moveTo>
                  <a:cubicBezTo>
                    <a:pt x="240094" y="419481"/>
                    <a:pt x="241014" y="384270"/>
                    <a:pt x="241554" y="379508"/>
                  </a:cubicBezTo>
                  <a:cubicBezTo>
                    <a:pt x="241999" y="375412"/>
                    <a:pt x="245523" y="369538"/>
                    <a:pt x="253905" y="366522"/>
                  </a:cubicBezTo>
                  <a:cubicBezTo>
                    <a:pt x="263430" y="363030"/>
                    <a:pt x="275495" y="358997"/>
                    <a:pt x="281781" y="356997"/>
                  </a:cubicBezTo>
                  <a:lnTo>
                    <a:pt x="282385" y="356807"/>
                  </a:lnTo>
                  <a:cubicBezTo>
                    <a:pt x="291328" y="367108"/>
                    <a:pt x="306929" y="368210"/>
                    <a:pt x="317231" y="359266"/>
                  </a:cubicBezTo>
                  <a:cubicBezTo>
                    <a:pt x="318108" y="358505"/>
                    <a:pt x="318930" y="357683"/>
                    <a:pt x="319691" y="356807"/>
                  </a:cubicBezTo>
                  <a:lnTo>
                    <a:pt x="320294" y="356997"/>
                  </a:lnTo>
                  <a:cubicBezTo>
                    <a:pt x="326644" y="359093"/>
                    <a:pt x="338550" y="363125"/>
                    <a:pt x="348171" y="366522"/>
                  </a:cubicBezTo>
                  <a:cubicBezTo>
                    <a:pt x="356553" y="369697"/>
                    <a:pt x="360077" y="375412"/>
                    <a:pt x="360521" y="379508"/>
                  </a:cubicBezTo>
                  <a:cubicBezTo>
                    <a:pt x="361061" y="384302"/>
                    <a:pt x="362014" y="419418"/>
                    <a:pt x="362744" y="437706"/>
                  </a:cubicBezTo>
                  <a:close/>
                  <a:moveTo>
                    <a:pt x="94488" y="437706"/>
                  </a:moveTo>
                  <a:cubicBezTo>
                    <a:pt x="95218" y="419481"/>
                    <a:pt x="96171" y="384270"/>
                    <a:pt x="96711" y="379508"/>
                  </a:cubicBezTo>
                  <a:cubicBezTo>
                    <a:pt x="97155" y="375412"/>
                    <a:pt x="100648" y="369538"/>
                    <a:pt x="109030" y="366522"/>
                  </a:cubicBezTo>
                  <a:cubicBezTo>
                    <a:pt x="118555" y="363030"/>
                    <a:pt x="130651" y="358997"/>
                    <a:pt x="136938" y="356997"/>
                  </a:cubicBezTo>
                  <a:lnTo>
                    <a:pt x="137541" y="356807"/>
                  </a:lnTo>
                  <a:cubicBezTo>
                    <a:pt x="142071" y="362394"/>
                    <a:pt x="148994" y="365484"/>
                    <a:pt x="156178" y="365125"/>
                  </a:cubicBezTo>
                  <a:cubicBezTo>
                    <a:pt x="163403" y="365433"/>
                    <a:pt x="170341" y="362271"/>
                    <a:pt x="174847" y="356616"/>
                  </a:cubicBezTo>
                  <a:lnTo>
                    <a:pt x="175419" y="356807"/>
                  </a:lnTo>
                  <a:cubicBezTo>
                    <a:pt x="181769" y="358902"/>
                    <a:pt x="193707" y="362934"/>
                    <a:pt x="203327" y="366332"/>
                  </a:cubicBezTo>
                  <a:cubicBezTo>
                    <a:pt x="211709" y="369507"/>
                    <a:pt x="215202" y="375222"/>
                    <a:pt x="215678" y="379317"/>
                  </a:cubicBezTo>
                  <a:cubicBezTo>
                    <a:pt x="216186" y="384112"/>
                    <a:pt x="217138" y="419227"/>
                    <a:pt x="217900" y="437515"/>
                  </a:cubicBezTo>
                  <a:close/>
                  <a:moveTo>
                    <a:pt x="437706" y="437706"/>
                  </a:moveTo>
                  <a:lnTo>
                    <a:pt x="382365" y="437706"/>
                  </a:lnTo>
                  <a:cubicBezTo>
                    <a:pt x="381572" y="419386"/>
                    <a:pt x="380397" y="382778"/>
                    <a:pt x="379794" y="377381"/>
                  </a:cubicBezTo>
                  <a:cubicBezTo>
                    <a:pt x="378365" y="364490"/>
                    <a:pt x="368776" y="353346"/>
                    <a:pt x="354775" y="348298"/>
                  </a:cubicBezTo>
                  <a:cubicBezTo>
                    <a:pt x="344932" y="344742"/>
                    <a:pt x="332772" y="340646"/>
                    <a:pt x="326422" y="338519"/>
                  </a:cubicBezTo>
                  <a:lnTo>
                    <a:pt x="325819" y="338296"/>
                  </a:lnTo>
                  <a:cubicBezTo>
                    <a:pt x="314516" y="334296"/>
                    <a:pt x="308102" y="339408"/>
                    <a:pt x="304705" y="344392"/>
                  </a:cubicBezTo>
                  <a:cubicBezTo>
                    <a:pt x="304006" y="345408"/>
                    <a:pt x="303467" y="345821"/>
                    <a:pt x="301022" y="345821"/>
                  </a:cubicBezTo>
                  <a:cubicBezTo>
                    <a:pt x="298577" y="345821"/>
                    <a:pt x="298069" y="345408"/>
                    <a:pt x="297371" y="344392"/>
                  </a:cubicBezTo>
                  <a:cubicBezTo>
                    <a:pt x="293973" y="339408"/>
                    <a:pt x="287560" y="334296"/>
                    <a:pt x="276257" y="338296"/>
                  </a:cubicBezTo>
                  <a:lnTo>
                    <a:pt x="275654" y="338519"/>
                  </a:lnTo>
                  <a:cubicBezTo>
                    <a:pt x="269304" y="340646"/>
                    <a:pt x="257143" y="344869"/>
                    <a:pt x="247301" y="348298"/>
                  </a:cubicBezTo>
                  <a:cubicBezTo>
                    <a:pt x="239894" y="350860"/>
                    <a:pt x="233395" y="355527"/>
                    <a:pt x="228600" y="361728"/>
                  </a:cubicBezTo>
                  <a:cubicBezTo>
                    <a:pt x="223811" y="355535"/>
                    <a:pt x="217325" y="350869"/>
                    <a:pt x="209931" y="348298"/>
                  </a:cubicBezTo>
                  <a:cubicBezTo>
                    <a:pt x="200089" y="344742"/>
                    <a:pt x="187928" y="340646"/>
                    <a:pt x="181547" y="338519"/>
                  </a:cubicBezTo>
                  <a:lnTo>
                    <a:pt x="180943" y="338296"/>
                  </a:lnTo>
                  <a:cubicBezTo>
                    <a:pt x="169672" y="334296"/>
                    <a:pt x="163259" y="339408"/>
                    <a:pt x="159861" y="344392"/>
                  </a:cubicBezTo>
                  <a:cubicBezTo>
                    <a:pt x="159163" y="345408"/>
                    <a:pt x="158623" y="345821"/>
                    <a:pt x="156178" y="345821"/>
                  </a:cubicBezTo>
                  <a:cubicBezTo>
                    <a:pt x="153734" y="345821"/>
                    <a:pt x="153226" y="345408"/>
                    <a:pt x="152527" y="344392"/>
                  </a:cubicBezTo>
                  <a:cubicBezTo>
                    <a:pt x="149130" y="339408"/>
                    <a:pt x="142716" y="334296"/>
                    <a:pt x="131413" y="338296"/>
                  </a:cubicBezTo>
                  <a:lnTo>
                    <a:pt x="130810" y="338519"/>
                  </a:lnTo>
                  <a:cubicBezTo>
                    <a:pt x="124460" y="340646"/>
                    <a:pt x="112268" y="344869"/>
                    <a:pt x="102457" y="348298"/>
                  </a:cubicBezTo>
                  <a:cubicBezTo>
                    <a:pt x="88456" y="353346"/>
                    <a:pt x="78867" y="364490"/>
                    <a:pt x="77438" y="377381"/>
                  </a:cubicBezTo>
                  <a:cubicBezTo>
                    <a:pt x="76835" y="382810"/>
                    <a:pt x="75629" y="419322"/>
                    <a:pt x="74835" y="437706"/>
                  </a:cubicBezTo>
                  <a:lnTo>
                    <a:pt x="19495" y="437706"/>
                  </a:lnTo>
                  <a:lnTo>
                    <a:pt x="19495" y="19495"/>
                  </a:lnTo>
                  <a:lnTo>
                    <a:pt x="437706" y="194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208;p157">
              <a:extLst>
                <a:ext uri="{FF2B5EF4-FFF2-40B4-BE49-F238E27FC236}">
                  <a16:creationId xmlns:a16="http://schemas.microsoft.com/office/drawing/2014/main" id="{609C14DC-6776-FA87-5FD5-C7A2D4F112F5}"/>
                </a:ext>
              </a:extLst>
            </p:cNvPr>
            <p:cNvSpPr/>
            <p:nvPr/>
          </p:nvSpPr>
          <p:spPr>
            <a:xfrm>
              <a:off x="2312407" y="2814991"/>
              <a:ext cx="69818" cy="58388"/>
            </a:xfrm>
            <a:custGeom>
              <a:avLst/>
              <a:gdLst/>
              <a:ahLst/>
              <a:cxnLst/>
              <a:rect l="l" t="t" r="r" b="b"/>
              <a:pathLst>
                <a:path w="69818" h="58388" extrusionOk="0">
                  <a:moveTo>
                    <a:pt x="25305" y="30861"/>
                  </a:moveTo>
                  <a:lnTo>
                    <a:pt x="13748" y="19272"/>
                  </a:lnTo>
                  <a:lnTo>
                    <a:pt x="0" y="33052"/>
                  </a:lnTo>
                  <a:lnTo>
                    <a:pt x="25336" y="58388"/>
                  </a:lnTo>
                  <a:lnTo>
                    <a:pt x="69818" y="13748"/>
                  </a:lnTo>
                  <a:lnTo>
                    <a:pt x="56039" y="0"/>
                  </a:lnTo>
                  <a:lnTo>
                    <a:pt x="25305" y="308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209;p157">
              <a:extLst>
                <a:ext uri="{FF2B5EF4-FFF2-40B4-BE49-F238E27FC236}">
                  <a16:creationId xmlns:a16="http://schemas.microsoft.com/office/drawing/2014/main" id="{0B809966-4150-A794-3C37-688840592D7F}"/>
                </a:ext>
              </a:extLst>
            </p:cNvPr>
            <p:cNvSpPr/>
            <p:nvPr/>
          </p:nvSpPr>
          <p:spPr>
            <a:xfrm>
              <a:off x="2312407" y="2871982"/>
              <a:ext cx="69818" cy="58356"/>
            </a:xfrm>
            <a:custGeom>
              <a:avLst/>
              <a:gdLst/>
              <a:ahLst/>
              <a:cxnLst/>
              <a:rect l="l" t="t" r="r" b="b"/>
              <a:pathLst>
                <a:path w="69818" h="58356" extrusionOk="0">
                  <a:moveTo>
                    <a:pt x="25305" y="30829"/>
                  </a:moveTo>
                  <a:lnTo>
                    <a:pt x="13748" y="19272"/>
                  </a:lnTo>
                  <a:lnTo>
                    <a:pt x="0" y="33020"/>
                  </a:lnTo>
                  <a:lnTo>
                    <a:pt x="25336" y="58356"/>
                  </a:lnTo>
                  <a:lnTo>
                    <a:pt x="69818" y="13716"/>
                  </a:lnTo>
                  <a:lnTo>
                    <a:pt x="56039" y="0"/>
                  </a:lnTo>
                  <a:lnTo>
                    <a:pt x="25305" y="308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210;p157">
              <a:extLst>
                <a:ext uri="{FF2B5EF4-FFF2-40B4-BE49-F238E27FC236}">
                  <a16:creationId xmlns:a16="http://schemas.microsoft.com/office/drawing/2014/main" id="{9EE38ABC-EA9E-DB30-DCEC-55D8F6C2C818}"/>
                </a:ext>
              </a:extLst>
            </p:cNvPr>
            <p:cNvSpPr/>
            <p:nvPr/>
          </p:nvSpPr>
          <p:spPr>
            <a:xfrm>
              <a:off x="2300808" y="2991489"/>
              <a:ext cx="67031" cy="86995"/>
            </a:xfrm>
            <a:custGeom>
              <a:avLst/>
              <a:gdLst/>
              <a:ahLst/>
              <a:cxnLst/>
              <a:rect l="l" t="t" r="r" b="b"/>
              <a:pathLst>
                <a:path w="67031" h="86995" extrusionOk="0">
                  <a:moveTo>
                    <a:pt x="33792" y="0"/>
                  </a:moveTo>
                  <a:lnTo>
                    <a:pt x="33443" y="0"/>
                  </a:lnTo>
                  <a:cubicBezTo>
                    <a:pt x="24410" y="395"/>
                    <a:pt x="15903" y="4357"/>
                    <a:pt x="9789" y="11017"/>
                  </a:cubicBezTo>
                  <a:cubicBezTo>
                    <a:pt x="2446" y="19170"/>
                    <a:pt x="-1025" y="30093"/>
                    <a:pt x="264" y="40989"/>
                  </a:cubicBezTo>
                  <a:cubicBezTo>
                    <a:pt x="2582" y="72739"/>
                    <a:pt x="18552" y="86995"/>
                    <a:pt x="33347" y="86995"/>
                  </a:cubicBezTo>
                  <a:lnTo>
                    <a:pt x="33697" y="86995"/>
                  </a:lnTo>
                  <a:cubicBezTo>
                    <a:pt x="48492" y="86995"/>
                    <a:pt x="64462" y="72771"/>
                    <a:pt x="66780" y="40989"/>
                  </a:cubicBezTo>
                  <a:cubicBezTo>
                    <a:pt x="68031" y="30097"/>
                    <a:pt x="64565" y="19189"/>
                    <a:pt x="57255" y="11017"/>
                  </a:cubicBezTo>
                  <a:cubicBezTo>
                    <a:pt x="51187" y="4402"/>
                    <a:pt x="42758" y="444"/>
                    <a:pt x="33792" y="0"/>
                  </a:cubicBezTo>
                  <a:close/>
                  <a:moveTo>
                    <a:pt x="47540" y="39561"/>
                  </a:moveTo>
                  <a:cubicBezTo>
                    <a:pt x="46111" y="58928"/>
                    <a:pt x="38650" y="67628"/>
                    <a:pt x="33792" y="67628"/>
                  </a:cubicBezTo>
                  <a:lnTo>
                    <a:pt x="33443" y="67628"/>
                  </a:lnTo>
                  <a:cubicBezTo>
                    <a:pt x="28585" y="67628"/>
                    <a:pt x="21092" y="58928"/>
                    <a:pt x="19695" y="39561"/>
                  </a:cubicBezTo>
                  <a:cubicBezTo>
                    <a:pt x="18887" y="34063"/>
                    <a:pt x="20444" y="28480"/>
                    <a:pt x="23981" y="24194"/>
                  </a:cubicBezTo>
                  <a:cubicBezTo>
                    <a:pt x="26484" y="21512"/>
                    <a:pt x="29862" y="19812"/>
                    <a:pt x="33506" y="19399"/>
                  </a:cubicBezTo>
                  <a:lnTo>
                    <a:pt x="33855" y="19399"/>
                  </a:lnTo>
                  <a:cubicBezTo>
                    <a:pt x="37500" y="19812"/>
                    <a:pt x="40878" y="21512"/>
                    <a:pt x="43380" y="24194"/>
                  </a:cubicBezTo>
                  <a:cubicBezTo>
                    <a:pt x="46862" y="28505"/>
                    <a:pt x="48371" y="34081"/>
                    <a:pt x="47540" y="395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211;p157">
              <a:extLst>
                <a:ext uri="{FF2B5EF4-FFF2-40B4-BE49-F238E27FC236}">
                  <a16:creationId xmlns:a16="http://schemas.microsoft.com/office/drawing/2014/main" id="{168ECBA2-4199-176E-2DB2-F351E20A0E09}"/>
                </a:ext>
              </a:extLst>
            </p:cNvPr>
            <p:cNvSpPr/>
            <p:nvPr/>
          </p:nvSpPr>
          <p:spPr>
            <a:xfrm>
              <a:off x="2445659" y="2991489"/>
              <a:ext cx="67005" cy="86995"/>
            </a:xfrm>
            <a:custGeom>
              <a:avLst/>
              <a:gdLst/>
              <a:ahLst/>
              <a:cxnLst/>
              <a:rect l="l" t="t" r="r" b="b"/>
              <a:pathLst>
                <a:path w="67005" h="86995" extrusionOk="0">
                  <a:moveTo>
                    <a:pt x="33785" y="0"/>
                  </a:moveTo>
                  <a:lnTo>
                    <a:pt x="33435" y="0"/>
                  </a:lnTo>
                  <a:cubicBezTo>
                    <a:pt x="24403" y="395"/>
                    <a:pt x="15896" y="4357"/>
                    <a:pt x="9782" y="11017"/>
                  </a:cubicBezTo>
                  <a:cubicBezTo>
                    <a:pt x="2457" y="19181"/>
                    <a:pt x="-1011" y="30095"/>
                    <a:pt x="257" y="40989"/>
                  </a:cubicBezTo>
                  <a:cubicBezTo>
                    <a:pt x="2574" y="72739"/>
                    <a:pt x="18513" y="86995"/>
                    <a:pt x="33308" y="86995"/>
                  </a:cubicBezTo>
                  <a:lnTo>
                    <a:pt x="33658" y="86995"/>
                  </a:lnTo>
                  <a:cubicBezTo>
                    <a:pt x="48453" y="86995"/>
                    <a:pt x="64423" y="72771"/>
                    <a:pt x="66741" y="40989"/>
                  </a:cubicBezTo>
                  <a:cubicBezTo>
                    <a:pt x="68030" y="30093"/>
                    <a:pt x="64559" y="19170"/>
                    <a:pt x="57216" y="11017"/>
                  </a:cubicBezTo>
                  <a:cubicBezTo>
                    <a:pt x="51156" y="4410"/>
                    <a:pt x="42739" y="452"/>
                    <a:pt x="33785" y="0"/>
                  </a:cubicBezTo>
                  <a:close/>
                  <a:moveTo>
                    <a:pt x="47532" y="39561"/>
                  </a:moveTo>
                  <a:cubicBezTo>
                    <a:pt x="46135" y="58928"/>
                    <a:pt x="38642" y="67628"/>
                    <a:pt x="33785" y="67628"/>
                  </a:cubicBezTo>
                  <a:lnTo>
                    <a:pt x="33435" y="67628"/>
                  </a:lnTo>
                  <a:cubicBezTo>
                    <a:pt x="28578" y="67628"/>
                    <a:pt x="21116" y="58928"/>
                    <a:pt x="19688" y="39561"/>
                  </a:cubicBezTo>
                  <a:cubicBezTo>
                    <a:pt x="18892" y="34063"/>
                    <a:pt x="20448" y="28485"/>
                    <a:pt x="23974" y="24194"/>
                  </a:cubicBezTo>
                  <a:cubicBezTo>
                    <a:pt x="26477" y="21512"/>
                    <a:pt x="29854" y="19812"/>
                    <a:pt x="33499" y="19399"/>
                  </a:cubicBezTo>
                  <a:lnTo>
                    <a:pt x="33848" y="19399"/>
                  </a:lnTo>
                  <a:cubicBezTo>
                    <a:pt x="37494" y="19806"/>
                    <a:pt x="40874" y="21507"/>
                    <a:pt x="43373" y="24194"/>
                  </a:cubicBezTo>
                  <a:cubicBezTo>
                    <a:pt x="46865" y="28500"/>
                    <a:pt x="48376" y="34081"/>
                    <a:pt x="47532" y="395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212;p157">
              <a:extLst>
                <a:ext uri="{FF2B5EF4-FFF2-40B4-BE49-F238E27FC236}">
                  <a16:creationId xmlns:a16="http://schemas.microsoft.com/office/drawing/2014/main" id="{D5E651DF-FCEE-327E-23C4-515781BB52DB}"/>
                </a:ext>
              </a:extLst>
            </p:cNvPr>
            <p:cNvSpPr/>
            <p:nvPr/>
          </p:nvSpPr>
          <p:spPr>
            <a:xfrm>
              <a:off x="2389813" y="2835533"/>
              <a:ext cx="112172" cy="19462"/>
            </a:xfrm>
            <a:custGeom>
              <a:avLst/>
              <a:gdLst/>
              <a:ahLst/>
              <a:cxnLst/>
              <a:rect l="l" t="t" r="r" b="b"/>
              <a:pathLst>
                <a:path w="112172" h="19462" extrusionOk="0">
                  <a:moveTo>
                    <a:pt x="0" y="0"/>
                  </a:moveTo>
                  <a:lnTo>
                    <a:pt x="112173" y="0"/>
                  </a:lnTo>
                  <a:lnTo>
                    <a:pt x="112173" y="19463"/>
                  </a:lnTo>
                  <a:lnTo>
                    <a:pt x="0" y="194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213;p157">
              <a:extLst>
                <a:ext uri="{FF2B5EF4-FFF2-40B4-BE49-F238E27FC236}">
                  <a16:creationId xmlns:a16="http://schemas.microsoft.com/office/drawing/2014/main" id="{12DF7268-A043-92B2-1DF6-2A3AB263C65A}"/>
                </a:ext>
              </a:extLst>
            </p:cNvPr>
            <p:cNvSpPr/>
            <p:nvPr/>
          </p:nvSpPr>
          <p:spPr>
            <a:xfrm>
              <a:off x="2389813" y="2892493"/>
              <a:ext cx="112172" cy="19462"/>
            </a:xfrm>
            <a:custGeom>
              <a:avLst/>
              <a:gdLst/>
              <a:ahLst/>
              <a:cxnLst/>
              <a:rect l="l" t="t" r="r" b="b"/>
              <a:pathLst>
                <a:path w="112172" h="19462" extrusionOk="0">
                  <a:moveTo>
                    <a:pt x="0" y="0"/>
                  </a:moveTo>
                  <a:lnTo>
                    <a:pt x="112173" y="0"/>
                  </a:lnTo>
                  <a:lnTo>
                    <a:pt x="112173" y="19463"/>
                  </a:lnTo>
                  <a:lnTo>
                    <a:pt x="0" y="194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214;p157">
              <a:extLst>
                <a:ext uri="{FF2B5EF4-FFF2-40B4-BE49-F238E27FC236}">
                  <a16:creationId xmlns:a16="http://schemas.microsoft.com/office/drawing/2014/main" id="{36380294-077B-635B-C169-42526D03928B}"/>
                </a:ext>
              </a:extLst>
            </p:cNvPr>
            <p:cNvSpPr/>
            <p:nvPr/>
          </p:nvSpPr>
          <p:spPr>
            <a:xfrm>
              <a:off x="2281228" y="2786670"/>
              <a:ext cx="255619" cy="230219"/>
            </a:xfrm>
            <a:custGeom>
              <a:avLst/>
              <a:gdLst/>
              <a:ahLst/>
              <a:cxnLst/>
              <a:rect l="l" t="t" r="r" b="b"/>
              <a:pathLst>
                <a:path w="255619" h="230219" extrusionOk="0">
                  <a:moveTo>
                    <a:pt x="110490" y="230219"/>
                  </a:moveTo>
                  <a:lnTo>
                    <a:pt x="192850" y="168466"/>
                  </a:lnTo>
                  <a:lnTo>
                    <a:pt x="255619" y="168466"/>
                  </a:lnTo>
                  <a:lnTo>
                    <a:pt x="255619" y="0"/>
                  </a:lnTo>
                  <a:lnTo>
                    <a:pt x="0" y="0"/>
                  </a:lnTo>
                  <a:lnTo>
                    <a:pt x="0" y="169355"/>
                  </a:lnTo>
                  <a:lnTo>
                    <a:pt x="110490" y="169355"/>
                  </a:lnTo>
                  <a:close/>
                  <a:moveTo>
                    <a:pt x="19431" y="149924"/>
                  </a:moveTo>
                  <a:lnTo>
                    <a:pt x="19431" y="19463"/>
                  </a:lnTo>
                  <a:lnTo>
                    <a:pt x="236315" y="19463"/>
                  </a:lnTo>
                  <a:lnTo>
                    <a:pt x="236315" y="149035"/>
                  </a:lnTo>
                  <a:lnTo>
                    <a:pt x="186373" y="149035"/>
                  </a:lnTo>
                  <a:lnTo>
                    <a:pt x="129953" y="191325"/>
                  </a:lnTo>
                  <a:lnTo>
                    <a:pt x="129953" y="1500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1216;p157">
            <a:extLst>
              <a:ext uri="{FF2B5EF4-FFF2-40B4-BE49-F238E27FC236}">
                <a16:creationId xmlns:a16="http://schemas.microsoft.com/office/drawing/2014/main" id="{FCD02BD8-6B32-3317-C63A-FE1A2A3769BC}"/>
              </a:ext>
            </a:extLst>
          </p:cNvPr>
          <p:cNvSpPr/>
          <p:nvPr/>
        </p:nvSpPr>
        <p:spPr>
          <a:xfrm>
            <a:off x="453105" y="1864376"/>
            <a:ext cx="1482453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Start of FY (01 July)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Promotions &amp; base compensation increases effective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1" name="Google Shape;1217;p157">
            <a:extLst>
              <a:ext uri="{FF2B5EF4-FFF2-40B4-BE49-F238E27FC236}">
                <a16:creationId xmlns:a16="http://schemas.microsoft.com/office/drawing/2014/main" id="{574BCB8F-EBED-0291-9E57-9659B414C0EE}"/>
              </a:ext>
            </a:extLst>
          </p:cNvPr>
          <p:cNvSpPr/>
          <p:nvPr/>
        </p:nvSpPr>
        <p:spPr>
          <a:xfrm>
            <a:off x="4444989" y="2057705"/>
            <a:ext cx="1454809" cy="122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Q2 Check in(s)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Check in with your 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Team Leader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on progress against self-defined/in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dividual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goals, </a:t>
            </a:r>
            <a:r>
              <a:rPr lang="en-US" sz="1000" b="0" i="0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feedback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, and future focus areas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2" name="Google Shape;1218;p157">
            <a:extLst>
              <a:ext uri="{FF2B5EF4-FFF2-40B4-BE49-F238E27FC236}">
                <a16:creationId xmlns:a16="http://schemas.microsoft.com/office/drawing/2014/main" id="{007FB037-4136-9BF0-5D47-D563FC6FB30C}"/>
              </a:ext>
            </a:extLst>
          </p:cNvPr>
          <p:cNvSpPr/>
          <p:nvPr/>
        </p:nvSpPr>
        <p:spPr>
          <a:xfrm>
            <a:off x="6376124" y="1820067"/>
            <a:ext cx="15513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Mid-year </a:t>
            </a:r>
            <a:endParaRPr sz="1000" b="1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  <a:latin typeface="+mj-lt"/>
              </a:rPr>
              <a:t>P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repare for mid-year conversations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3" name="Google Shape;1219;p157">
            <a:extLst>
              <a:ext uri="{FF2B5EF4-FFF2-40B4-BE49-F238E27FC236}">
                <a16:creationId xmlns:a16="http://schemas.microsoft.com/office/drawing/2014/main" id="{C654CDF8-89B6-A2A6-76BC-BE39D5B82B83}"/>
              </a:ext>
            </a:extLst>
          </p:cNvPr>
          <p:cNvSpPr/>
          <p:nvPr/>
        </p:nvSpPr>
        <p:spPr>
          <a:xfrm>
            <a:off x="6382476" y="3161342"/>
            <a:ext cx="1245600" cy="122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Q3 Check in(s)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Check in with your 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Team Leader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on progress against self-defined/indiv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idual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goals, feedback, and focus areas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4" name="Google Shape;1220;p157">
            <a:extLst>
              <a:ext uri="{FF2B5EF4-FFF2-40B4-BE49-F238E27FC236}">
                <a16:creationId xmlns:a16="http://schemas.microsoft.com/office/drawing/2014/main" id="{F6B7AEC8-F5BC-6A07-DE5E-3FAE1A4B477A}"/>
              </a:ext>
            </a:extLst>
          </p:cNvPr>
          <p:cNvSpPr/>
          <p:nvPr/>
        </p:nvSpPr>
        <p:spPr>
          <a:xfrm>
            <a:off x="8376509" y="1590074"/>
            <a:ext cx="13320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dirty="0">
                <a:solidFill>
                  <a:schemeClr val="tx1"/>
                </a:solidFill>
                <a:latin typeface="+mj-lt"/>
              </a:rPr>
              <a:t>CRT/</a:t>
            </a: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Moderation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  <a:latin typeface="+mj-lt"/>
              </a:rPr>
              <a:t>Your Team Leader p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articipates in the career round table discussions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221;p157">
            <a:extLst>
              <a:ext uri="{FF2B5EF4-FFF2-40B4-BE49-F238E27FC236}">
                <a16:creationId xmlns:a16="http://schemas.microsoft.com/office/drawing/2014/main" id="{125975A8-D0B0-6694-F299-6A041101DC31}"/>
              </a:ext>
            </a:extLst>
          </p:cNvPr>
          <p:cNvSpPr/>
          <p:nvPr/>
        </p:nvSpPr>
        <p:spPr>
          <a:xfrm>
            <a:off x="8376509" y="2918832"/>
            <a:ext cx="13320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Prepare for moderation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Meet with your 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Team Leader 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to discuss </a:t>
            </a:r>
            <a:r>
              <a:rPr lang="en-US" sz="1000" b="0" i="0" u="sng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performance and progression readiness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6" name="Google Shape;1222;p157">
            <a:extLst>
              <a:ext uri="{FF2B5EF4-FFF2-40B4-BE49-F238E27FC236}">
                <a16:creationId xmlns:a16="http://schemas.microsoft.com/office/drawing/2014/main" id="{F51FB4E5-498C-A687-7C91-6AE23111C157}"/>
              </a:ext>
            </a:extLst>
          </p:cNvPr>
          <p:cNvSpPr/>
          <p:nvPr/>
        </p:nvSpPr>
        <p:spPr>
          <a:xfrm>
            <a:off x="6382465" y="2556208"/>
            <a:ext cx="13320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</a:rPr>
              <a:t>1 March</a:t>
            </a:r>
            <a:endParaRPr sz="1000" b="0" i="0" u="none" strike="noStrike" cap="none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Mid-year promotions effective</a:t>
            </a:r>
            <a:endParaRPr sz="1000" b="0" i="0" u="none" strike="noStrike" cap="none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1224;p157">
            <a:extLst>
              <a:ext uri="{FF2B5EF4-FFF2-40B4-BE49-F238E27FC236}">
                <a16:creationId xmlns:a16="http://schemas.microsoft.com/office/drawing/2014/main" id="{29F1B7CD-4D59-7DC1-D8C5-A05F1587C593}"/>
              </a:ext>
            </a:extLst>
          </p:cNvPr>
          <p:cNvGrpSpPr/>
          <p:nvPr/>
        </p:nvGrpSpPr>
        <p:grpSpPr>
          <a:xfrm rot="10800000" flipH="1">
            <a:off x="1179187" y="2600699"/>
            <a:ext cx="111229" cy="259535"/>
            <a:chOff x="1056677" y="3860957"/>
            <a:chExt cx="108000" cy="252000"/>
          </a:xfrm>
        </p:grpSpPr>
        <p:cxnSp>
          <p:nvCxnSpPr>
            <p:cNvPr id="49" name="Google Shape;1225;p157">
              <a:extLst>
                <a:ext uri="{FF2B5EF4-FFF2-40B4-BE49-F238E27FC236}">
                  <a16:creationId xmlns:a16="http://schemas.microsoft.com/office/drawing/2014/main" id="{89E26F57-6E50-8A1C-5755-824C66672065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50" name="Google Shape;1226;p157">
              <a:extLst>
                <a:ext uri="{FF2B5EF4-FFF2-40B4-BE49-F238E27FC236}">
                  <a16:creationId xmlns:a16="http://schemas.microsoft.com/office/drawing/2014/main" id="{39466654-986D-CE7E-9891-51EFDEB38D83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Google Shape;1227;p157">
            <a:extLst>
              <a:ext uri="{FF2B5EF4-FFF2-40B4-BE49-F238E27FC236}">
                <a16:creationId xmlns:a16="http://schemas.microsoft.com/office/drawing/2014/main" id="{94B8A126-6105-A282-E2FF-1E142910D1F3}"/>
              </a:ext>
            </a:extLst>
          </p:cNvPr>
          <p:cNvGrpSpPr/>
          <p:nvPr/>
        </p:nvGrpSpPr>
        <p:grpSpPr>
          <a:xfrm rot="-5400000" flipH="1">
            <a:off x="6130600" y="3176313"/>
            <a:ext cx="111229" cy="259535"/>
            <a:chOff x="1056677" y="3860957"/>
            <a:chExt cx="108000" cy="252000"/>
          </a:xfrm>
        </p:grpSpPr>
        <p:cxnSp>
          <p:nvCxnSpPr>
            <p:cNvPr id="52" name="Google Shape;1228;p157">
              <a:extLst>
                <a:ext uri="{FF2B5EF4-FFF2-40B4-BE49-F238E27FC236}">
                  <a16:creationId xmlns:a16="http://schemas.microsoft.com/office/drawing/2014/main" id="{718B6887-D320-E092-C701-B6C6846EF72C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53" name="Google Shape;1229;p157">
              <a:extLst>
                <a:ext uri="{FF2B5EF4-FFF2-40B4-BE49-F238E27FC236}">
                  <a16:creationId xmlns:a16="http://schemas.microsoft.com/office/drawing/2014/main" id="{F3AD6FF8-04DD-940C-21CB-4B6B9EE01A31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1230;p157">
            <a:extLst>
              <a:ext uri="{FF2B5EF4-FFF2-40B4-BE49-F238E27FC236}">
                <a16:creationId xmlns:a16="http://schemas.microsoft.com/office/drawing/2014/main" id="{17ADE6D2-5AAC-C65D-E01A-DA2C36F27896}"/>
              </a:ext>
            </a:extLst>
          </p:cNvPr>
          <p:cNvGrpSpPr/>
          <p:nvPr/>
        </p:nvGrpSpPr>
        <p:grpSpPr>
          <a:xfrm rot="-5400000" flipH="1">
            <a:off x="6130600" y="2059167"/>
            <a:ext cx="111229" cy="259535"/>
            <a:chOff x="1056677" y="3860957"/>
            <a:chExt cx="108000" cy="252000"/>
          </a:xfrm>
        </p:grpSpPr>
        <p:cxnSp>
          <p:nvCxnSpPr>
            <p:cNvPr id="55" name="Google Shape;1231;p157">
              <a:extLst>
                <a:ext uri="{FF2B5EF4-FFF2-40B4-BE49-F238E27FC236}">
                  <a16:creationId xmlns:a16="http://schemas.microsoft.com/office/drawing/2014/main" id="{041FB1D6-205F-D96B-D117-C13630474BA2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56" name="Google Shape;1232;p157">
              <a:extLst>
                <a:ext uri="{FF2B5EF4-FFF2-40B4-BE49-F238E27FC236}">
                  <a16:creationId xmlns:a16="http://schemas.microsoft.com/office/drawing/2014/main" id="{8EFF6592-93CF-081C-AA95-47DF9341D089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1236;p157">
            <a:extLst>
              <a:ext uri="{FF2B5EF4-FFF2-40B4-BE49-F238E27FC236}">
                <a16:creationId xmlns:a16="http://schemas.microsoft.com/office/drawing/2014/main" id="{03D5CFC6-1ACE-56AA-19EF-161B963713C6}"/>
              </a:ext>
            </a:extLst>
          </p:cNvPr>
          <p:cNvGrpSpPr/>
          <p:nvPr/>
        </p:nvGrpSpPr>
        <p:grpSpPr>
          <a:xfrm rot="-5400000" flipH="1">
            <a:off x="4195720" y="2697050"/>
            <a:ext cx="111229" cy="259535"/>
            <a:chOff x="1056677" y="3860957"/>
            <a:chExt cx="108000" cy="252000"/>
          </a:xfrm>
        </p:grpSpPr>
        <p:cxnSp>
          <p:nvCxnSpPr>
            <p:cNvPr id="61" name="Google Shape;1237;p157">
              <a:extLst>
                <a:ext uri="{FF2B5EF4-FFF2-40B4-BE49-F238E27FC236}">
                  <a16:creationId xmlns:a16="http://schemas.microsoft.com/office/drawing/2014/main" id="{D7005602-83AD-AB24-155E-849E63828185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62" name="Google Shape;1238;p157">
              <a:extLst>
                <a:ext uri="{FF2B5EF4-FFF2-40B4-BE49-F238E27FC236}">
                  <a16:creationId xmlns:a16="http://schemas.microsoft.com/office/drawing/2014/main" id="{7F647469-88E8-FCF3-08A4-3B4DDBF63F12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1239;p157">
            <a:extLst>
              <a:ext uri="{FF2B5EF4-FFF2-40B4-BE49-F238E27FC236}">
                <a16:creationId xmlns:a16="http://schemas.microsoft.com/office/drawing/2014/main" id="{AB6D18BB-212A-61C8-9448-BA45223B7B26}"/>
              </a:ext>
            </a:extLst>
          </p:cNvPr>
          <p:cNvGrpSpPr/>
          <p:nvPr/>
        </p:nvGrpSpPr>
        <p:grpSpPr>
          <a:xfrm rot="-5400000" flipH="1">
            <a:off x="8085340" y="3100441"/>
            <a:ext cx="111229" cy="259535"/>
            <a:chOff x="1056677" y="3860957"/>
            <a:chExt cx="108000" cy="252000"/>
          </a:xfrm>
        </p:grpSpPr>
        <p:cxnSp>
          <p:nvCxnSpPr>
            <p:cNvPr id="64" name="Google Shape;1240;p157">
              <a:extLst>
                <a:ext uri="{FF2B5EF4-FFF2-40B4-BE49-F238E27FC236}">
                  <a16:creationId xmlns:a16="http://schemas.microsoft.com/office/drawing/2014/main" id="{B25AFD90-C092-97F9-9735-444486371AA3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65" name="Google Shape;1241;p157">
              <a:extLst>
                <a:ext uri="{FF2B5EF4-FFF2-40B4-BE49-F238E27FC236}">
                  <a16:creationId xmlns:a16="http://schemas.microsoft.com/office/drawing/2014/main" id="{ABF68C4A-CF8E-49CB-7570-E4581D648F6F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1242;p157">
            <a:extLst>
              <a:ext uri="{FF2B5EF4-FFF2-40B4-BE49-F238E27FC236}">
                <a16:creationId xmlns:a16="http://schemas.microsoft.com/office/drawing/2014/main" id="{32191A15-4D65-07A5-F695-A71B5C607A47}"/>
              </a:ext>
            </a:extLst>
          </p:cNvPr>
          <p:cNvGrpSpPr/>
          <p:nvPr/>
        </p:nvGrpSpPr>
        <p:grpSpPr>
          <a:xfrm rot="-5400000" flipH="1">
            <a:off x="8085340" y="1586569"/>
            <a:ext cx="111229" cy="259535"/>
            <a:chOff x="1056677" y="3860957"/>
            <a:chExt cx="108000" cy="252000"/>
          </a:xfrm>
        </p:grpSpPr>
        <p:cxnSp>
          <p:nvCxnSpPr>
            <p:cNvPr id="67" name="Google Shape;1243;p157">
              <a:extLst>
                <a:ext uri="{FF2B5EF4-FFF2-40B4-BE49-F238E27FC236}">
                  <a16:creationId xmlns:a16="http://schemas.microsoft.com/office/drawing/2014/main" id="{C2F62113-132B-D4A5-D345-35FF7FF10835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68" name="Google Shape;1244;p157">
              <a:extLst>
                <a:ext uri="{FF2B5EF4-FFF2-40B4-BE49-F238E27FC236}">
                  <a16:creationId xmlns:a16="http://schemas.microsoft.com/office/drawing/2014/main" id="{41BD76A2-4368-6194-02D7-D5C247D1AD9D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1245;p157">
            <a:extLst>
              <a:ext uri="{FF2B5EF4-FFF2-40B4-BE49-F238E27FC236}">
                <a16:creationId xmlns:a16="http://schemas.microsoft.com/office/drawing/2014/main" id="{5CC3BEE7-FA15-6D53-9089-59E65FE2AEF2}"/>
              </a:ext>
            </a:extLst>
          </p:cNvPr>
          <p:cNvGrpSpPr/>
          <p:nvPr/>
        </p:nvGrpSpPr>
        <p:grpSpPr>
          <a:xfrm flipH="1">
            <a:off x="5078249" y="1624769"/>
            <a:ext cx="111229" cy="259535"/>
            <a:chOff x="1056677" y="3860957"/>
            <a:chExt cx="108000" cy="252000"/>
          </a:xfrm>
        </p:grpSpPr>
        <p:cxnSp>
          <p:nvCxnSpPr>
            <p:cNvPr id="70" name="Google Shape;1246;p157">
              <a:extLst>
                <a:ext uri="{FF2B5EF4-FFF2-40B4-BE49-F238E27FC236}">
                  <a16:creationId xmlns:a16="http://schemas.microsoft.com/office/drawing/2014/main" id="{5214C0B9-87C7-7003-8223-2EDF57EBCD69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71" name="Google Shape;1247;p157">
              <a:extLst>
                <a:ext uri="{FF2B5EF4-FFF2-40B4-BE49-F238E27FC236}">
                  <a16:creationId xmlns:a16="http://schemas.microsoft.com/office/drawing/2014/main" id="{2C6D81B3-2029-50ED-4302-9D1AF405A5CF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1248;p157">
            <a:extLst>
              <a:ext uri="{FF2B5EF4-FFF2-40B4-BE49-F238E27FC236}">
                <a16:creationId xmlns:a16="http://schemas.microsoft.com/office/drawing/2014/main" id="{51A951A2-2A84-6F85-6664-C0F5C050CF3D}"/>
              </a:ext>
            </a:extLst>
          </p:cNvPr>
          <p:cNvSpPr/>
          <p:nvPr/>
        </p:nvSpPr>
        <p:spPr>
          <a:xfrm>
            <a:off x="2514731" y="3600528"/>
            <a:ext cx="1547146" cy="122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Q1 Goal setting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Meet your Team Lead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er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b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to review assigned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/organizational 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goals, discuss performance expectations, and </a:t>
            </a:r>
            <a:r>
              <a:rPr lang="en-US" sz="1000" b="0" i="0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set self-defined/in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dividual</a:t>
            </a:r>
            <a:r>
              <a:rPr lang="en-US" sz="1000" b="0" i="0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goals</a:t>
            </a:r>
            <a:endParaRPr sz="1000" b="0" i="0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1249;p157">
            <a:extLst>
              <a:ext uri="{FF2B5EF4-FFF2-40B4-BE49-F238E27FC236}">
                <a16:creationId xmlns:a16="http://schemas.microsoft.com/office/drawing/2014/main" id="{DBD6B10F-308E-5D2E-3783-2262E8897E6A}"/>
              </a:ext>
            </a:extLst>
          </p:cNvPr>
          <p:cNvGrpSpPr/>
          <p:nvPr/>
        </p:nvGrpSpPr>
        <p:grpSpPr>
          <a:xfrm rot="-5400000" flipH="1">
            <a:off x="2233141" y="3583520"/>
            <a:ext cx="111229" cy="259535"/>
            <a:chOff x="1056677" y="3860957"/>
            <a:chExt cx="108000" cy="252000"/>
          </a:xfrm>
        </p:grpSpPr>
        <p:cxnSp>
          <p:nvCxnSpPr>
            <p:cNvPr id="74" name="Google Shape;1250;p157">
              <a:extLst>
                <a:ext uri="{FF2B5EF4-FFF2-40B4-BE49-F238E27FC236}">
                  <a16:creationId xmlns:a16="http://schemas.microsoft.com/office/drawing/2014/main" id="{2AAAFD87-9AAA-9646-999B-7123C44BFDE9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75" name="Google Shape;1251;p157">
              <a:extLst>
                <a:ext uri="{FF2B5EF4-FFF2-40B4-BE49-F238E27FC236}">
                  <a16:creationId xmlns:a16="http://schemas.microsoft.com/office/drawing/2014/main" id="{19DA8E1D-9513-7E08-5B5F-7E9554083B72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1252;p157">
            <a:extLst>
              <a:ext uri="{FF2B5EF4-FFF2-40B4-BE49-F238E27FC236}">
                <a16:creationId xmlns:a16="http://schemas.microsoft.com/office/drawing/2014/main" id="{CD639F98-B863-1BB1-A50A-F02098AFB666}"/>
              </a:ext>
            </a:extLst>
          </p:cNvPr>
          <p:cNvSpPr/>
          <p:nvPr/>
        </p:nvSpPr>
        <p:spPr>
          <a:xfrm>
            <a:off x="10195469" y="1290427"/>
            <a:ext cx="1636949" cy="1578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Career Outlook conversation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Team Leader communicates outcomes </a:t>
            </a:r>
            <a:b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of moderation, including promotion decision </a:t>
            </a:r>
            <a:b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(if applicate), bonus / rewards, and future development areas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6" name="Google Shape;1262;p157">
            <a:extLst>
              <a:ext uri="{FF2B5EF4-FFF2-40B4-BE49-F238E27FC236}">
                <a16:creationId xmlns:a16="http://schemas.microsoft.com/office/drawing/2014/main" id="{9D693FEF-0809-F9E1-2F9F-0FC798BCF9A9}"/>
              </a:ext>
            </a:extLst>
          </p:cNvPr>
          <p:cNvSpPr/>
          <p:nvPr/>
        </p:nvSpPr>
        <p:spPr>
          <a:xfrm>
            <a:off x="4444989" y="3598359"/>
            <a:ext cx="1454809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Feedback</a:t>
            </a:r>
            <a:endParaRPr sz="1000" b="0" i="0" u="none" strike="noStrike" cap="none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Begin </a:t>
            </a:r>
            <a:r>
              <a:rPr lang="en-US" sz="1000" b="0" i="0" strike="noStrike" cap="none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giving and receiving feedback</a:t>
            </a:r>
            <a:endParaRPr sz="1000" b="0" i="0" u="none" strike="noStrike" cap="none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1263;p157">
            <a:extLst>
              <a:ext uri="{FF2B5EF4-FFF2-40B4-BE49-F238E27FC236}">
                <a16:creationId xmlns:a16="http://schemas.microsoft.com/office/drawing/2014/main" id="{2B1ADCCE-81AE-5CC3-ACD1-BD8AE2732761}"/>
              </a:ext>
            </a:extLst>
          </p:cNvPr>
          <p:cNvGrpSpPr/>
          <p:nvPr/>
        </p:nvGrpSpPr>
        <p:grpSpPr>
          <a:xfrm rot="-5400000" flipH="1">
            <a:off x="4195720" y="3664372"/>
            <a:ext cx="111229" cy="259535"/>
            <a:chOff x="1056677" y="3860957"/>
            <a:chExt cx="108000" cy="252000"/>
          </a:xfrm>
        </p:grpSpPr>
        <p:cxnSp>
          <p:nvCxnSpPr>
            <p:cNvPr id="88" name="Google Shape;1264;p157">
              <a:extLst>
                <a:ext uri="{FF2B5EF4-FFF2-40B4-BE49-F238E27FC236}">
                  <a16:creationId xmlns:a16="http://schemas.microsoft.com/office/drawing/2014/main" id="{71814472-8279-272F-CA2E-8396BE3AE7D5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89" name="Google Shape;1265;p157">
              <a:extLst>
                <a:ext uri="{FF2B5EF4-FFF2-40B4-BE49-F238E27FC236}">
                  <a16:creationId xmlns:a16="http://schemas.microsoft.com/office/drawing/2014/main" id="{CEB34F61-E4DF-CFC6-6A10-97C270CE34E6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1266;p157">
            <a:extLst>
              <a:ext uri="{FF2B5EF4-FFF2-40B4-BE49-F238E27FC236}">
                <a16:creationId xmlns:a16="http://schemas.microsoft.com/office/drawing/2014/main" id="{32AED394-16CB-E5D5-3408-5F85D4B66FC7}"/>
              </a:ext>
            </a:extLst>
          </p:cNvPr>
          <p:cNvSpPr/>
          <p:nvPr/>
        </p:nvSpPr>
        <p:spPr>
          <a:xfrm>
            <a:off x="7061888" y="4829214"/>
            <a:ext cx="1574159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Start of Q4</a:t>
            </a:r>
            <a:endParaRPr sz="1000" b="1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Check in with your 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Team Leader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as needed</a:t>
            </a:r>
            <a:endParaRPr sz="1000" b="1" i="0" u="none" strike="noStrike" cap="none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1267;p157">
            <a:extLst>
              <a:ext uri="{FF2B5EF4-FFF2-40B4-BE49-F238E27FC236}">
                <a16:creationId xmlns:a16="http://schemas.microsoft.com/office/drawing/2014/main" id="{6B8BA315-63DF-C88A-E5E7-C8A934B03486}"/>
              </a:ext>
            </a:extLst>
          </p:cNvPr>
          <p:cNvGrpSpPr/>
          <p:nvPr/>
        </p:nvGrpSpPr>
        <p:grpSpPr>
          <a:xfrm flipH="1">
            <a:off x="7032093" y="4515431"/>
            <a:ext cx="111229" cy="259535"/>
            <a:chOff x="1056677" y="3860957"/>
            <a:chExt cx="108000" cy="252000"/>
          </a:xfrm>
        </p:grpSpPr>
        <p:cxnSp>
          <p:nvCxnSpPr>
            <p:cNvPr id="92" name="Google Shape;1268;p157">
              <a:extLst>
                <a:ext uri="{FF2B5EF4-FFF2-40B4-BE49-F238E27FC236}">
                  <a16:creationId xmlns:a16="http://schemas.microsoft.com/office/drawing/2014/main" id="{994E01F7-C8D6-FA0B-2BC4-867CC3056F78}"/>
                </a:ext>
              </a:extLst>
            </p:cNvPr>
            <p:cNvCxnSpPr/>
            <p:nvPr/>
          </p:nvCxnSpPr>
          <p:spPr>
            <a:xfrm rot="10800000">
              <a:off x="1110677" y="3968957"/>
              <a:ext cx="0" cy="144000"/>
            </a:xfrm>
            <a:prstGeom prst="straightConnector1">
              <a:avLst/>
            </a:prstGeom>
            <a:noFill/>
            <a:ln w="19050" cap="rnd" cmpd="sng">
              <a:solidFill>
                <a:schemeClr val="accent6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93" name="Google Shape;1269;p157">
              <a:extLst>
                <a:ext uri="{FF2B5EF4-FFF2-40B4-BE49-F238E27FC236}">
                  <a16:creationId xmlns:a16="http://schemas.microsoft.com/office/drawing/2014/main" id="{C5EA843B-315A-D0AA-1AC5-047433E20C19}"/>
                </a:ext>
              </a:extLst>
            </p:cNvPr>
            <p:cNvSpPr/>
            <p:nvPr/>
          </p:nvSpPr>
          <p:spPr>
            <a:xfrm>
              <a:off x="1056677" y="3860957"/>
              <a:ext cx="108000" cy="1080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5" name="Graphic 94">
            <a:extLst>
              <a:ext uri="{FF2B5EF4-FFF2-40B4-BE49-F238E27FC236}">
                <a16:creationId xmlns:a16="http://schemas.microsoft.com/office/drawing/2014/main" id="{C353D90A-CDE4-956B-F849-411673E3AA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408" y="3518645"/>
            <a:ext cx="1262891" cy="1262891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60B6F0C3-698A-AB79-B8E4-36DFBE47B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4636" y="3682381"/>
            <a:ext cx="1324234" cy="1324234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38712B8A-C190-4D78-E7D2-DC4D971E6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8005" y="2027653"/>
            <a:ext cx="1188924" cy="1188924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42ED322A-9CE4-A24D-43E8-6AD7C0501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764" y="894305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6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55D7-9C65-D471-9AB7-7A2258F8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8CE9BE-A76A-DD44-CB25-0AD2098D1574}"/>
              </a:ext>
            </a:extLst>
          </p:cNvPr>
          <p:cNvSpPr/>
          <p:nvPr/>
        </p:nvSpPr>
        <p:spPr>
          <a:xfrm>
            <a:off x="8077200" y="1"/>
            <a:ext cx="4114800" cy="692467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3BEB0-BB3D-4540-692F-F38C7C07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801395" cy="1543939"/>
          </a:xfrm>
        </p:spPr>
        <p:txBody>
          <a:bodyPr/>
          <a:lstStyle/>
          <a:p>
            <a:r>
              <a:rPr lang="en-US" dirty="0"/>
              <a:t>Use the PwC Professional grade-level expectations </a:t>
            </a:r>
            <a:br>
              <a:rPr lang="en-US" dirty="0"/>
            </a:br>
            <a:r>
              <a:rPr lang="en-US" dirty="0"/>
              <a:t>to understand high </a:t>
            </a:r>
            <a:br>
              <a:rPr lang="en-US" dirty="0"/>
            </a:br>
            <a:r>
              <a:rPr lang="en-US" dirty="0"/>
              <a:t>performance at PwC</a:t>
            </a: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2957D6EB-EAE4-EFB8-9B7B-5E5FB6FC4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Welcome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DDA3B142-03D0-2412-A35C-0633626E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Google Shape;841;p99">
            <a:extLst>
              <a:ext uri="{FF2B5EF4-FFF2-40B4-BE49-F238E27FC236}">
                <a16:creationId xmlns:a16="http://schemas.microsoft.com/office/drawing/2014/main" id="{C4AED6FA-F05D-5331-B145-5B14DAF0C6D5}"/>
              </a:ext>
            </a:extLst>
          </p:cNvPr>
          <p:cNvSpPr txBox="1">
            <a:spLocks/>
          </p:cNvSpPr>
          <p:nvPr/>
        </p:nvSpPr>
        <p:spPr>
          <a:xfrm>
            <a:off x="397666" y="2505600"/>
            <a:ext cx="4801395" cy="319035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The PwC Professional: </a:t>
            </a:r>
            <a:b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</a:b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Grade-level </a:t>
            </a:r>
            <a:r>
              <a:rPr lang="en-US" sz="1400" dirty="0">
                <a:solidFill>
                  <a:srgbClr val="000000"/>
                </a:solidFill>
              </a:rPr>
              <a:t>expectations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Grade-level </a:t>
            </a:r>
            <a:r>
              <a:rPr lang="en-US" sz="1400" b="0" dirty="0">
                <a:solidFill>
                  <a:srgbClr val="000000"/>
                </a:solidFill>
                <a:latin typeface="Georgia"/>
              </a:rPr>
              <a:t>expectations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 help you understand how to grow and lead as PwC Professionals. They include two parts:</a:t>
            </a:r>
          </a:p>
          <a:p>
            <a:pPr marL="182880" marR="0" lvl="0" indent="-18288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  <a:hlinkClick r:id="rId3"/>
              </a:rPr>
              <a:t>What is expected of you as a PwC Professional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Defines the skills, knowledge and experience each grade should apply to be successful</a:t>
            </a:r>
          </a:p>
          <a:p>
            <a:pPr marL="182880" marR="0" lvl="0" indent="-18288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  <a:hlinkClick r:id="rId4"/>
              </a:rPr>
              <a:t>How I behave as a PwC Professional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Describes what it looks like to live PwC Professional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behaviours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rPr>
              <a:t> at each grade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  <a:sym typeface="Arial"/>
            </a:endParaRPr>
          </a:p>
        </p:txBody>
      </p:sp>
      <p:pic>
        <p:nvPicPr>
          <p:cNvPr id="6" name="Picture 5" descr="A person's profile on a website&#10;&#10;AI-generated content may be incorrect.">
            <a:extLst>
              <a:ext uri="{FF2B5EF4-FFF2-40B4-BE49-F238E27FC236}">
                <a16:creationId xmlns:a16="http://schemas.microsoft.com/office/drawing/2014/main" id="{6D246B89-8CC4-61C0-23FB-892A51009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88" y="402336"/>
            <a:ext cx="4953553" cy="2786373"/>
          </a:xfrm>
          <a:prstGeom prst="rect">
            <a:avLst/>
          </a:prstGeom>
          <a:ln>
            <a:solidFill>
              <a:srgbClr val="DFE3E6"/>
            </a:solidFill>
          </a:ln>
        </p:spPr>
      </p:pic>
      <p:pic>
        <p:nvPicPr>
          <p:cNvPr id="8" name="Picture 7" descr="A screenshot of a website&#10;&#10;AI-generated content may be incorrect.">
            <a:extLst>
              <a:ext uri="{FF2B5EF4-FFF2-40B4-BE49-F238E27FC236}">
                <a16:creationId xmlns:a16="http://schemas.microsoft.com/office/drawing/2014/main" id="{A2F74ADE-514A-99C3-971F-4B70ABB17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475" y="3451544"/>
            <a:ext cx="4953552" cy="277911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562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FF21-B291-7FB4-613E-82296F6B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A9606E02-FBE1-E57E-7FF2-242A6427C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Welcome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017871E-37B9-A200-1883-C9A2A116F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F3208-E431-6939-A95A-3B4C4E4B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350139"/>
          </a:xfrm>
        </p:spPr>
        <p:txBody>
          <a:bodyPr/>
          <a:lstStyle/>
          <a:p>
            <a:r>
              <a:rPr lang="en-US" dirty="0"/>
              <a:t>How we bring our culture to life: The PwC Professional </a:t>
            </a:r>
          </a:p>
        </p:txBody>
      </p:sp>
      <p:pic>
        <p:nvPicPr>
          <p:cNvPr id="7" name="Picture 6" descr="A diagram with text and symbols&#10;&#10;AI-generated content may be incorrect.">
            <a:extLst>
              <a:ext uri="{FF2B5EF4-FFF2-40B4-BE49-F238E27FC236}">
                <a16:creationId xmlns:a16="http://schemas.microsoft.com/office/drawing/2014/main" id="{2B2A2AA7-8A0C-00C3-4439-44452C440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67" y="1001638"/>
            <a:ext cx="9327358" cy="5246639"/>
          </a:xfrm>
          <a:prstGeom prst="rect">
            <a:avLst/>
          </a:prstGeom>
          <a:ln>
            <a:solidFill>
              <a:srgbClr val="DFE3E6"/>
            </a:solidFill>
          </a:ln>
        </p:spPr>
      </p:pic>
    </p:spTree>
    <p:extLst>
      <p:ext uri="{BB962C8B-B14F-4D97-AF65-F5344CB8AC3E}">
        <p14:creationId xmlns:p14="http://schemas.microsoft.com/office/powerpoint/2010/main" val="197545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B3D5-C470-7BC1-8770-E22607BA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8180-6BD3-F945-0440-23535B2D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7327108" cy="1543939"/>
          </a:xfrm>
        </p:spPr>
        <p:txBody>
          <a:bodyPr/>
          <a:lstStyle/>
          <a:p>
            <a:r>
              <a:rPr lang="en-US" dirty="0"/>
              <a:t>Your support network and goals help guide your continuous development journey</a:t>
            </a: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F43C0660-8F7A-CE6B-DE29-273EE0D2E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Welcome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E3588CCD-CDBF-AF06-F232-F7036B5AF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Prostokąt 14">
            <a:extLst>
              <a:ext uri="{FF2B5EF4-FFF2-40B4-BE49-F238E27FC236}">
                <a16:creationId xmlns:a16="http://schemas.microsoft.com/office/drawing/2014/main" id="{FA648860-CC55-8305-FA48-F4BE04F57905}"/>
              </a:ext>
            </a:extLst>
          </p:cNvPr>
          <p:cNvSpPr/>
          <p:nvPr/>
        </p:nvSpPr>
        <p:spPr>
          <a:xfrm>
            <a:off x="397668" y="1577181"/>
            <a:ext cx="3097562" cy="4614863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My goals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069E9-0CFB-8FF0-7668-668D167993B8}"/>
              </a:ext>
            </a:extLst>
          </p:cNvPr>
          <p:cNvSpPr txBox="1"/>
          <p:nvPr/>
        </p:nvSpPr>
        <p:spPr>
          <a:xfrm>
            <a:off x="552450" y="2446271"/>
            <a:ext cx="3199154" cy="1718646"/>
          </a:xfrm>
          <a:prstGeom prst="rect">
            <a:avLst/>
          </a:prstGeom>
          <a:solidFill>
            <a:schemeClr val="bg1"/>
          </a:solidFill>
          <a:ln>
            <a:solidFill>
              <a:srgbClr val="FFE8D4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b="1" dirty="0">
                <a:solidFill>
                  <a:schemeClr val="tx1"/>
                </a:solidFill>
                <a:latin typeface="+mj-lt"/>
              </a:rPr>
              <a:t>Assigned goals 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are aligned to our business strategy and are guideposts to help you 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prioritise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 your contributions and development.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C96229-CE7F-62EE-639D-C5C9EF105791}"/>
              </a:ext>
            </a:extLst>
          </p:cNvPr>
          <p:cNvSpPr txBox="1"/>
          <p:nvPr/>
        </p:nvSpPr>
        <p:spPr>
          <a:xfrm>
            <a:off x="552450" y="4283310"/>
            <a:ext cx="3199154" cy="1718646"/>
          </a:xfrm>
          <a:prstGeom prst="rect">
            <a:avLst/>
          </a:prstGeom>
          <a:solidFill>
            <a:schemeClr val="bg1"/>
          </a:solidFill>
          <a:ln>
            <a:solidFill>
              <a:srgbClr val="FFE8D4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b="1" dirty="0">
                <a:solidFill>
                  <a:schemeClr val="tx1"/>
                </a:solidFill>
                <a:latin typeface="+mj-lt"/>
              </a:rPr>
              <a:t>Self-defined goals 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are set by you to help shape your development, 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behaviours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, and unique contributions throughout the year.</a:t>
            </a:r>
          </a:p>
        </p:txBody>
      </p:sp>
      <p:sp>
        <p:nvSpPr>
          <p:cNvPr id="19" name="Prostokąt 14">
            <a:extLst>
              <a:ext uri="{FF2B5EF4-FFF2-40B4-BE49-F238E27FC236}">
                <a16:creationId xmlns:a16="http://schemas.microsoft.com/office/drawing/2014/main" id="{7961BAD5-8B9C-F807-7DAD-5B8736482F1F}"/>
              </a:ext>
            </a:extLst>
          </p:cNvPr>
          <p:cNvSpPr/>
          <p:nvPr/>
        </p:nvSpPr>
        <p:spPr>
          <a:xfrm>
            <a:off x="8127257" y="1577181"/>
            <a:ext cx="3097562" cy="4614863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My continuous development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05432F-7012-7665-BB5B-CCC5E340CDC7}"/>
              </a:ext>
            </a:extLst>
          </p:cNvPr>
          <p:cNvSpPr txBox="1"/>
          <p:nvPr/>
        </p:nvSpPr>
        <p:spPr>
          <a:xfrm>
            <a:off x="8282039" y="2446270"/>
            <a:ext cx="3199154" cy="3555685"/>
          </a:xfrm>
          <a:prstGeom prst="rect">
            <a:avLst/>
          </a:prstGeom>
          <a:solidFill>
            <a:schemeClr val="bg1"/>
          </a:solidFill>
          <a:ln>
            <a:solidFill>
              <a:srgbClr val="DFE3E6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Continuous development requires </a:t>
            </a:r>
            <a:br>
              <a:rPr lang="en-US" sz="1400" dirty="0">
                <a:solidFill>
                  <a:schemeClr val="tx1"/>
                </a:solidFill>
                <a:latin typeface="+mj-lt"/>
              </a:rPr>
            </a:br>
            <a:r>
              <a:rPr lang="en-US" sz="1400" dirty="0">
                <a:solidFill>
                  <a:schemeClr val="tx1"/>
                </a:solidFill>
                <a:latin typeface="+mj-lt"/>
              </a:rPr>
              <a:t>a 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growth mindset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. Frequent, in-the-moment feedback, guided by the PwC Professional, enables all of us to grow as professionals and leaders.</a:t>
            </a:r>
          </a:p>
        </p:txBody>
      </p:sp>
      <p:sp>
        <p:nvSpPr>
          <p:cNvPr id="22" name="Prostokąt 14">
            <a:extLst>
              <a:ext uri="{FF2B5EF4-FFF2-40B4-BE49-F238E27FC236}">
                <a16:creationId xmlns:a16="http://schemas.microsoft.com/office/drawing/2014/main" id="{7D5691D7-21B9-04FE-08F9-1B4249D15431}"/>
              </a:ext>
            </a:extLst>
          </p:cNvPr>
          <p:cNvSpPr/>
          <p:nvPr/>
        </p:nvSpPr>
        <p:spPr>
          <a:xfrm>
            <a:off x="4262462" y="1577181"/>
            <a:ext cx="3097562" cy="46148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My support network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3A0905-95EE-B8B2-A0E0-1448322FF3A9}"/>
              </a:ext>
            </a:extLst>
          </p:cNvPr>
          <p:cNvSpPr txBox="1"/>
          <p:nvPr/>
        </p:nvSpPr>
        <p:spPr>
          <a:xfrm>
            <a:off x="4417244" y="2446271"/>
            <a:ext cx="3199154" cy="1718646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Your 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Team Leader 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is responsible for supporting your overall performance, development and wellbeing.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D16D50-1872-9D1F-1502-6524198948AE}"/>
              </a:ext>
            </a:extLst>
          </p:cNvPr>
          <p:cNvSpPr txBox="1"/>
          <p:nvPr/>
        </p:nvSpPr>
        <p:spPr>
          <a:xfrm>
            <a:off x="4417244" y="4283310"/>
            <a:ext cx="3199154" cy="1718646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Associates, Senior Associates and new hires at other grades are also assigned a 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Buddy 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to provide additional support for your onboarding (explain how things work here, etc.)</a:t>
            </a:r>
          </a:p>
        </p:txBody>
      </p:sp>
    </p:spTree>
    <p:extLst>
      <p:ext uri="{BB962C8B-B14F-4D97-AF65-F5344CB8AC3E}">
        <p14:creationId xmlns:p14="http://schemas.microsoft.com/office/powerpoint/2010/main" val="38033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FC001-0A58-873A-7911-411E9D8C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02E2-63AD-887A-3AE4-7FCB93DE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7327108" cy="1543939"/>
          </a:xfrm>
        </p:spPr>
        <p:txBody>
          <a:bodyPr/>
          <a:lstStyle/>
          <a:p>
            <a:r>
              <a:rPr lang="en-US" dirty="0"/>
              <a:t>Feedback is a key enabler for development and an input into performance evaluation</a:t>
            </a: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F0650268-837A-B784-06C1-E8ACD7A09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Welcome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56EE2478-605D-F28D-9507-A7C215C6F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Prostokąt 14">
            <a:extLst>
              <a:ext uri="{FF2B5EF4-FFF2-40B4-BE49-F238E27FC236}">
                <a16:creationId xmlns:a16="http://schemas.microsoft.com/office/drawing/2014/main" id="{D0A0D72B-9DAD-BA57-D531-013A2ADC5ECD}"/>
              </a:ext>
            </a:extLst>
          </p:cNvPr>
          <p:cNvSpPr/>
          <p:nvPr/>
        </p:nvSpPr>
        <p:spPr>
          <a:xfrm>
            <a:off x="397668" y="1577181"/>
            <a:ext cx="4187888" cy="4614863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My 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3B499-4DE4-6584-3E81-25AFFED49523}"/>
              </a:ext>
            </a:extLst>
          </p:cNvPr>
          <p:cNvSpPr txBox="1"/>
          <p:nvPr/>
        </p:nvSpPr>
        <p:spPr>
          <a:xfrm>
            <a:off x="552449" y="2296720"/>
            <a:ext cx="4517136" cy="2064893"/>
          </a:xfrm>
          <a:prstGeom prst="rect">
            <a:avLst/>
          </a:prstGeom>
          <a:solidFill>
            <a:schemeClr val="bg1"/>
          </a:solidFill>
          <a:ln>
            <a:solidFill>
              <a:srgbClr val="FFE8D4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Use 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Feedback Exchange 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to request feedback, from all directions, that captures how you create value through both 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behaviours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(the PwC Professional) and project contributions. Written feedback should be accompanied by conversations to support your growth and development.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D7CD6-1E24-234E-704B-A4B5D4DD7334}"/>
              </a:ext>
            </a:extLst>
          </p:cNvPr>
          <p:cNvSpPr txBox="1"/>
          <p:nvPr/>
        </p:nvSpPr>
        <p:spPr>
          <a:xfrm>
            <a:off x="552448" y="4513264"/>
            <a:ext cx="4517136" cy="1488692"/>
          </a:xfrm>
          <a:prstGeom prst="rect">
            <a:avLst/>
          </a:prstGeom>
          <a:solidFill>
            <a:schemeClr val="bg1"/>
          </a:solidFill>
          <a:ln>
            <a:solidFill>
              <a:srgbClr val="FFE8D4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92E999-5A8D-EFE8-2851-0FD948B9389A}"/>
              </a:ext>
            </a:extLst>
          </p:cNvPr>
          <p:cNvGrpSpPr/>
          <p:nvPr/>
        </p:nvGrpSpPr>
        <p:grpSpPr>
          <a:xfrm>
            <a:off x="854819" y="4987049"/>
            <a:ext cx="2307481" cy="541123"/>
            <a:chOff x="854819" y="4980306"/>
            <a:chExt cx="2307481" cy="541123"/>
          </a:xfrm>
        </p:grpSpPr>
        <p:sp>
          <p:nvSpPr>
            <p:cNvPr id="14" name="Google Shape;1122;g26f7b6d200a_1_42">
              <a:extLst>
                <a:ext uri="{FF2B5EF4-FFF2-40B4-BE49-F238E27FC236}">
                  <a16:creationId xmlns:a16="http://schemas.microsoft.com/office/drawing/2014/main" id="{1DFA7919-D107-C472-BD39-78DA7B3955D0}"/>
                </a:ext>
              </a:extLst>
            </p:cNvPr>
            <p:cNvSpPr txBox="1">
              <a:spLocks/>
            </p:cNvSpPr>
            <p:nvPr/>
          </p:nvSpPr>
          <p:spPr>
            <a:xfrm>
              <a:off x="854819" y="4980306"/>
              <a:ext cx="2307481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GB" sz="2000" dirty="0">
                  <a:latin typeface="Georgia"/>
                  <a:ea typeface="Georgia"/>
                  <a:cs typeface="Georgia"/>
                  <a:sym typeface="Georgia"/>
                </a:rPr>
                <a:t>Feedback Exchange</a:t>
              </a:r>
              <a:endParaRPr sz="2000" dirty="0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" name="Google Shape;1130;g26f7b6d200a_1_42">
              <a:extLst>
                <a:ext uri="{FF2B5EF4-FFF2-40B4-BE49-F238E27FC236}">
                  <a16:creationId xmlns:a16="http://schemas.microsoft.com/office/drawing/2014/main" id="{8C97E86A-8798-A86A-94A5-14FB47EEF0C0}"/>
                </a:ext>
              </a:extLst>
            </p:cNvPr>
            <p:cNvSpPr txBox="1">
              <a:spLocks/>
            </p:cNvSpPr>
            <p:nvPr/>
          </p:nvSpPr>
          <p:spPr>
            <a:xfrm>
              <a:off x="854819" y="5399408"/>
              <a:ext cx="1026305" cy="1220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GB" sz="933" dirty="0">
                  <a:latin typeface="Georgia"/>
                  <a:ea typeface="Georgia"/>
                  <a:cs typeface="Georgia"/>
                  <a:sym typeface="Georgia"/>
                </a:rPr>
                <a:t>Share, Reflect, Act</a:t>
              </a:r>
              <a:endParaRPr sz="933" dirty="0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672883AD-59BE-0287-FC8D-6A2D057C0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7324" y="4800410"/>
            <a:ext cx="914400" cy="914400"/>
          </a:xfrm>
          <a:prstGeom prst="rect">
            <a:avLst/>
          </a:prstGeom>
        </p:spPr>
      </p:pic>
      <p:sp>
        <p:nvSpPr>
          <p:cNvPr id="28" name="Prostokąt 14">
            <a:extLst>
              <a:ext uri="{FF2B5EF4-FFF2-40B4-BE49-F238E27FC236}">
                <a16:creationId xmlns:a16="http://schemas.microsoft.com/office/drawing/2014/main" id="{21410E9C-ACD1-6F41-DB77-1FEE41C0C475}"/>
              </a:ext>
            </a:extLst>
          </p:cNvPr>
          <p:cNvSpPr/>
          <p:nvPr/>
        </p:nvSpPr>
        <p:spPr>
          <a:xfrm>
            <a:off x="6043613" y="1577181"/>
            <a:ext cx="4187888" cy="46148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My performance &amp; recognition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FEAE45-2072-835B-41E6-48ABEB4AF373}"/>
              </a:ext>
            </a:extLst>
          </p:cNvPr>
          <p:cNvSpPr txBox="1"/>
          <p:nvPr/>
        </p:nvSpPr>
        <p:spPr>
          <a:xfrm>
            <a:off x="6198393" y="2294622"/>
            <a:ext cx="4518247" cy="2066991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Your performance is evaluated by assessing – on a peer relative basis – how you've created value for our clients, people, firm and society. 'Value creation' includes both what you did (outcomes) and how you did it (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behaviours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).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E9979B-F9EE-DE24-DB50-173A50579AEF}"/>
              </a:ext>
            </a:extLst>
          </p:cNvPr>
          <p:cNvSpPr txBox="1"/>
          <p:nvPr/>
        </p:nvSpPr>
        <p:spPr>
          <a:xfrm>
            <a:off x="6198393" y="4513264"/>
            <a:ext cx="4518247" cy="1488692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lIns="182880" tIns="182880" rIns="182880" bIns="182880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During the 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Career Outlook 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meeting, your Team Leader will share performance and promotion decisions, corresponding reward implications and areas for development.</a:t>
            </a:r>
          </a:p>
        </p:txBody>
      </p:sp>
    </p:spTree>
    <p:extLst>
      <p:ext uri="{BB962C8B-B14F-4D97-AF65-F5344CB8AC3E}">
        <p14:creationId xmlns:p14="http://schemas.microsoft.com/office/powerpoint/2010/main" val="65685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34"/>
          <p:cNvSpPr/>
          <p:nvPr/>
        </p:nvSpPr>
        <p:spPr>
          <a:xfrm>
            <a:off x="-67" y="6461033"/>
            <a:ext cx="12192000" cy="39720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134"/>
          <p:cNvSpPr/>
          <p:nvPr/>
        </p:nvSpPr>
        <p:spPr>
          <a:xfrm>
            <a:off x="0" y="1218448"/>
            <a:ext cx="12192000" cy="5003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134"/>
          <p:cNvSpPr txBox="1"/>
          <p:nvPr/>
        </p:nvSpPr>
        <p:spPr>
          <a:xfrm>
            <a:off x="6467167" y="6578433"/>
            <a:ext cx="53652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4"/>
          <p:cNvSpPr txBox="1"/>
          <p:nvPr/>
        </p:nvSpPr>
        <p:spPr>
          <a:xfrm>
            <a:off x="351233" y="6576533"/>
            <a:ext cx="53652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GB" sz="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PwC </a:t>
            </a:r>
            <a:r>
              <a:rPr lang="en-GB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1" name="Google Shape;1391;p134"/>
          <p:cNvGraphicFramePr/>
          <p:nvPr>
            <p:extLst>
              <p:ext uri="{D42A27DB-BD31-4B8C-83A1-F6EECF244321}">
                <p14:modId xmlns:p14="http://schemas.microsoft.com/office/powerpoint/2010/main" val="1441258550"/>
              </p:ext>
            </p:extLst>
          </p:nvPr>
        </p:nvGraphicFramePr>
        <p:xfrm>
          <a:off x="347639" y="725731"/>
          <a:ext cx="5564875" cy="45289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5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b="1" u="none" strike="noStrike" cap="none">
                          <a:solidFill>
                            <a:schemeClr val="lt1"/>
                          </a:solidFill>
                        </a:rPr>
                        <a:t>Assigned</a:t>
                      </a:r>
                      <a:r>
                        <a:rPr lang="en-GB" b="1">
                          <a:solidFill>
                            <a:schemeClr val="lt1"/>
                          </a:solidFill>
                        </a:rPr>
                        <a:t>/Organization </a:t>
                      </a:r>
                      <a:r>
                        <a:rPr lang="en-GB" sz="1400" b="1" u="none" strike="noStrike" cap="none">
                          <a:solidFill>
                            <a:schemeClr val="lt1"/>
                          </a:solidFill>
                        </a:rPr>
                        <a:t>goals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304800" marR="304800" marT="108000" marB="10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53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accent5"/>
                          </a:solidFill>
                        </a:rPr>
                        <a:t>Assigned</a:t>
                      </a:r>
                      <a:r>
                        <a:rPr lang="en-GB" sz="1100" b="1" dirty="0">
                          <a:solidFill>
                            <a:schemeClr val="accent5"/>
                          </a:solidFill>
                        </a:rPr>
                        <a:t>/Organizational </a:t>
                      </a:r>
                      <a:r>
                        <a:rPr lang="en-GB" sz="1100" b="1" u="none" strike="noStrike" cap="none" dirty="0">
                          <a:solidFill>
                            <a:schemeClr val="accent5"/>
                          </a:solidFill>
                        </a:rPr>
                        <a:t>goals</a:t>
                      </a:r>
                      <a:r>
                        <a:rPr lang="en-GB" sz="1100" b="1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are aligned to our business strategy and are guide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lines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to help you prioritise your contributions and development. Review these goals and discuss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how to 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bring our strategy to life.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accent5"/>
                          </a:solidFill>
                        </a:rPr>
                        <a:t>1. </a:t>
                      </a:r>
                      <a:r>
                        <a:rPr lang="en-GB" sz="1100" b="1" dirty="0">
                          <a:solidFill>
                            <a:schemeClr val="accent5"/>
                          </a:solidFill>
                        </a:rPr>
                        <a:t>Goal #1</a:t>
                      </a:r>
                      <a:endParaRPr sz="1100" u="none" strike="noStrike" cap="none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accent5"/>
                          </a:solidFill>
                        </a:rPr>
                        <a:t>2. </a:t>
                      </a:r>
                      <a:r>
                        <a:rPr lang="en-GB" sz="1100" b="1" dirty="0">
                          <a:solidFill>
                            <a:schemeClr val="accent5"/>
                          </a:solidFill>
                        </a:rPr>
                        <a:t>Goal #2</a:t>
                      </a:r>
                      <a:endParaRPr sz="1100" u="none" strike="noStrike" cap="none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accent5"/>
                          </a:solidFill>
                        </a:rPr>
                        <a:t>3. </a:t>
                      </a:r>
                      <a:r>
                        <a:rPr lang="en-GB" sz="1100" b="1" dirty="0">
                          <a:solidFill>
                            <a:schemeClr val="accent5"/>
                          </a:solidFill>
                        </a:rPr>
                        <a:t>Goal #3</a:t>
                      </a:r>
                      <a:endParaRPr sz="1100" b="1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dirty="0">
                          <a:solidFill>
                            <a:schemeClr val="accent5"/>
                          </a:solidFill>
                        </a:rPr>
                        <a:t>….</a:t>
                      </a:r>
                      <a:endParaRPr sz="1100" b="1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The goals are gui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delines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to help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us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grow and deliver value in line with our </a:t>
                      </a:r>
                      <a:r>
                        <a:rPr lang="en-GB" sz="1100" u="none" strike="noStrike" cap="none" dirty="0">
                          <a:solidFill>
                            <a:schemeClr val="accent3"/>
                          </a:solidFill>
                        </a:rPr>
                        <a:t>FY</a:t>
                      </a:r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27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strategy. They are not a ‘check-the-box exercise’. However, the </a:t>
                      </a:r>
                      <a:r>
                        <a:rPr lang="en-GB" sz="1100" i="1" u="none" strike="noStrike" cap="none" dirty="0">
                          <a:solidFill>
                            <a:schemeClr val="dk1"/>
                          </a:solidFill>
                        </a:rPr>
                        <a:t>value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we 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deliver against your assigned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/organizational 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goals can be captured in Self Evaluation at year-end.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1" u="none" strike="noStrike" cap="none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accent5"/>
                          </a:solidFill>
                        </a:rPr>
                        <a:t>Metrics and compliance requirements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Please discuss </a:t>
                      </a:r>
                      <a:r>
                        <a:rPr lang="en-GB" sz="1100" u="sng" strike="noStrike" cap="none" dirty="0">
                          <a:solidFill>
                            <a:schemeClr val="dk1"/>
                          </a:solidFill>
                        </a:rPr>
                        <a:t>target metrics 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(e.g.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ales,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tilisation) and </a:t>
                      </a:r>
                      <a:r>
                        <a:rPr lang="en-GB" sz="1100" u="sng" strike="noStrike" cap="none" dirty="0">
                          <a:solidFill>
                            <a:schemeClr val="dk1"/>
                          </a:solidFill>
                        </a:rPr>
                        <a:t>compliance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requirements for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</a:rPr>
                        <a:t>the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GB" sz="1100" u="none" strike="noStrike" cap="none" dirty="0" err="1">
                          <a:solidFill>
                            <a:schemeClr val="dk1"/>
                          </a:solidFill>
                        </a:rPr>
                        <a:t>LoS</a:t>
                      </a:r>
                      <a:r>
                        <a:rPr lang="en-GB" sz="1100" u="none" strike="noStrike" cap="none" dirty="0">
                          <a:solidFill>
                            <a:schemeClr val="dk1"/>
                          </a:solidFill>
                        </a:rPr>
                        <a:t> and grade with your Team Leader. These support our firmwide strategy and help to outline expectations of high performers at the firm. They provide one input to year-end performance evaluation.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dirty="0"/>
                    </a:p>
                  </a:txBody>
                  <a:tcPr marL="304800" marR="304800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92" name="Google Shape;1392;p134"/>
          <p:cNvCxnSpPr/>
          <p:nvPr/>
        </p:nvCxnSpPr>
        <p:spPr>
          <a:xfrm>
            <a:off x="347639" y="6312877"/>
            <a:ext cx="5553900" cy="0"/>
          </a:xfrm>
          <a:prstGeom prst="straightConnector1">
            <a:avLst/>
          </a:prstGeom>
          <a:noFill/>
          <a:ln w="152400" cap="flat" cmpd="sng">
            <a:solidFill>
              <a:srgbClr val="EB8C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3" name="Google Shape;1393;p134"/>
          <p:cNvSpPr txBox="1"/>
          <p:nvPr/>
        </p:nvSpPr>
        <p:spPr>
          <a:xfrm>
            <a:off x="351225" y="215175"/>
            <a:ext cx="8043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GB"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Goal setting guidance</a:t>
            </a:r>
            <a:endParaRPr sz="2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394" name="Google Shape;1394;p134"/>
          <p:cNvGraphicFramePr/>
          <p:nvPr/>
        </p:nvGraphicFramePr>
        <p:xfrm>
          <a:off x="6222730" y="725732"/>
          <a:ext cx="5564875" cy="56443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</a:rPr>
                        <a:t>Self-defined/</a:t>
                      </a:r>
                      <a:r>
                        <a:rPr lang="en-GB" b="1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lang="en-GB" b="1">
                          <a:solidFill>
                            <a:schemeClr val="dk1"/>
                          </a:solidFill>
                        </a:rPr>
                        <a:t>dividual</a:t>
                      </a: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</a:rPr>
                        <a:t> goals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304800" marR="304800" marT="108000" marB="10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>
                          <a:solidFill>
                            <a:schemeClr val="accent4"/>
                          </a:solidFill>
                        </a:rPr>
                        <a:t>Self-defined/</a:t>
                      </a:r>
                      <a:r>
                        <a:rPr lang="en-GB" sz="1100" b="1">
                          <a:solidFill>
                            <a:schemeClr val="accent4"/>
                          </a:solidFill>
                        </a:rPr>
                        <a:t>I</a:t>
                      </a:r>
                      <a:r>
                        <a:rPr lang="en-GB" sz="1100" b="1" u="none" strike="noStrike" cap="none">
                          <a:solidFill>
                            <a:schemeClr val="accent4"/>
                          </a:solidFill>
                        </a:rPr>
                        <a:t>n</a:t>
                      </a:r>
                      <a:r>
                        <a:rPr lang="en-GB" sz="1100" b="1">
                          <a:solidFill>
                            <a:schemeClr val="accent4"/>
                          </a:solidFill>
                        </a:rPr>
                        <a:t>dividual </a:t>
                      </a:r>
                      <a:r>
                        <a:rPr lang="en-GB" sz="1100" b="1" u="none" strike="noStrike" cap="none">
                          <a:solidFill>
                            <a:schemeClr val="accent4"/>
                          </a:solidFill>
                        </a:rPr>
                        <a:t>goals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help 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us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shape 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our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behaviours, unique contributions, and development in the year ahead. </a:t>
                      </a:r>
                      <a:r>
                        <a:rPr lang="en-GB" sz="1100" i="1" u="none" strike="noStrike" cap="none">
                          <a:solidFill>
                            <a:schemeClr val="dk1"/>
                          </a:solidFill>
                        </a:rPr>
                        <a:t>Value delivered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against goals - rather than goal </a:t>
                      </a:r>
                      <a:r>
                        <a:rPr lang="en-GB" sz="1100" i="1" u="none" strike="noStrike" cap="none">
                          <a:solidFill>
                            <a:schemeClr val="dk1"/>
                          </a:solidFill>
                        </a:rPr>
                        <a:t>completion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- influence performance decisions. Remember that an ‘incomplete’ stretch goal can deliver more value than a less challenging goal that is fully ‘achieved’.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accent4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>
                          <a:solidFill>
                            <a:schemeClr val="accent4"/>
                          </a:solidFill>
                        </a:rPr>
                        <a:t>What to consider when setting self-defined goals</a:t>
                      </a:r>
                      <a:endParaRPr sz="1100" u="none" strike="noStrike" cap="none">
                        <a:solidFill>
                          <a:schemeClr val="accent4"/>
                        </a:solidFill>
                      </a:endParaRPr>
                    </a:p>
                    <a:p>
                      <a:pPr marL="179999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Will my goal </a:t>
                      </a:r>
                      <a:r>
                        <a:rPr lang="en-GB" sz="1100" b="1" u="none" strike="noStrike" cap="none">
                          <a:solidFill>
                            <a:schemeClr val="dk1"/>
                          </a:solidFill>
                        </a:rPr>
                        <a:t>challenge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me to perform at my best and grow as a</a:t>
                      </a:r>
                      <a:r>
                        <a:rPr lang="en-GB" sz="1100" u="none" strike="noStrike" cap="non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GB" sz="1100" u="sng" strike="noStrike" cap="none">
                          <a:solidFill>
                            <a:schemeClr val="accent4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PwC Professional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?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179999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Does my goal help bring our </a:t>
                      </a:r>
                      <a:r>
                        <a:rPr lang="en-GB" sz="1100" b="1" u="none" strike="noStrike" cap="none">
                          <a:solidFill>
                            <a:schemeClr val="dk1"/>
                          </a:solidFill>
                        </a:rPr>
                        <a:t>values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to life?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179999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If I achieve or partially achieve this goal, will I deliver significant </a:t>
                      </a:r>
                      <a:r>
                        <a:rPr lang="en-GB" sz="1100" b="1" u="none" strike="noStrike" cap="none">
                          <a:solidFill>
                            <a:schemeClr val="dk1"/>
                          </a:solidFill>
                        </a:rPr>
                        <a:t>value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to our clients, people, firm, or society?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179999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How </a:t>
                      </a:r>
                      <a:r>
                        <a:rPr lang="en-GB" sz="1100" b="1" u="none" strike="noStrike" cap="none">
                          <a:solidFill>
                            <a:schemeClr val="dk1"/>
                          </a:solidFill>
                        </a:rPr>
                        <a:t>specific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should my goal be (e.g. measurable - where applicable, timebound, clear)?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179999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Have I asked my </a:t>
                      </a:r>
                      <a:r>
                        <a:rPr lang="en-GB" sz="1100" b="1" u="none" strike="noStrike" cap="none">
                          <a:solidFill>
                            <a:schemeClr val="accent4"/>
                          </a:solidFill>
                        </a:rPr>
                        <a:t>Team Leader</a:t>
                      </a:r>
                      <a:r>
                        <a:rPr lang="en-GB" sz="1100" b="1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for feedback on my goals? Is my </a:t>
                      </a:r>
                      <a:r>
                        <a:rPr lang="en-GB" sz="1100" u="none" strike="noStrike" cap="none">
                          <a:solidFill>
                            <a:schemeClr val="accent4"/>
                          </a:solidFill>
                        </a:rPr>
                        <a:t>Team Leader 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aware of my aspirations and development priorities?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accent4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100" b="1" u="none" strike="noStrike" cap="none">
                          <a:solidFill>
                            <a:schemeClr val="accent4"/>
                          </a:solidFill>
                        </a:rPr>
                        <a:t>Use Workday to set 1 - 3 self-defined stretch goals for the year ahead</a:t>
                      </a:r>
                      <a:endParaRPr sz="1100" u="none" strike="noStrike" cap="none">
                        <a:solidFill>
                          <a:schemeClr val="accent4"/>
                        </a:solidFill>
                      </a:endParaRPr>
                    </a:p>
                    <a:p>
                      <a:pPr marL="216000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Review assigned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/organizational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goals and consider how your self-defined goals could support business priorities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216000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Establish 1 - 3 self-defined/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individual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stretch goals, each with the potential to deliver significant value to our clients, people, firm, and/or society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216000" marR="0" lvl="0" indent="-147149" algn="l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Review self-defined</a:t>
                      </a: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/individual</a:t>
                      </a: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 goals with your Team Leader and record them in Workday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304800" marR="304800" marT="182875" marB="18287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95" name="Google Shape;1395;p134"/>
          <p:cNvCxnSpPr/>
          <p:nvPr/>
        </p:nvCxnSpPr>
        <p:spPr>
          <a:xfrm>
            <a:off x="6222805" y="6284649"/>
            <a:ext cx="5564700" cy="0"/>
          </a:xfrm>
          <a:prstGeom prst="straightConnector1">
            <a:avLst/>
          </a:prstGeom>
          <a:noFill/>
          <a:ln w="152400" cap="flat" cmpd="sng">
            <a:solidFill>
              <a:srgbClr val="EB8C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35"/>
          <p:cNvSpPr txBox="1"/>
          <p:nvPr/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135"/>
          <p:cNvSpPr/>
          <p:nvPr/>
        </p:nvSpPr>
        <p:spPr>
          <a:xfrm flipH="1">
            <a:off x="9910200" y="134613"/>
            <a:ext cx="110524" cy="113485"/>
          </a:xfrm>
          <a:custGeom>
            <a:avLst/>
            <a:gdLst/>
            <a:ahLst/>
            <a:cxnLst/>
            <a:rect l="l" t="t" r="r" b="b"/>
            <a:pathLst>
              <a:path w="128" h="204" extrusionOk="0">
                <a:moveTo>
                  <a:pt x="95" y="7"/>
                </a:moveTo>
                <a:cubicBezTo>
                  <a:pt x="0" y="102"/>
                  <a:pt x="0" y="102"/>
                  <a:pt x="0" y="102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102" y="204"/>
                  <a:pt x="114" y="204"/>
                  <a:pt x="121" y="197"/>
                </a:cubicBezTo>
                <a:cubicBezTo>
                  <a:pt x="128" y="189"/>
                  <a:pt x="128" y="177"/>
                  <a:pt x="121" y="170"/>
                </a:cubicBezTo>
                <a:cubicBezTo>
                  <a:pt x="53" y="102"/>
                  <a:pt x="53" y="102"/>
                  <a:pt x="53" y="102"/>
                </a:cubicBezTo>
                <a:cubicBezTo>
                  <a:pt x="121" y="34"/>
                  <a:pt x="121" y="34"/>
                  <a:pt x="121" y="34"/>
                </a:cubicBezTo>
                <a:cubicBezTo>
                  <a:pt x="125" y="30"/>
                  <a:pt x="127" y="26"/>
                  <a:pt x="127" y="21"/>
                </a:cubicBezTo>
                <a:cubicBezTo>
                  <a:pt x="127" y="16"/>
                  <a:pt x="125" y="11"/>
                  <a:pt x="121" y="7"/>
                </a:cubicBezTo>
                <a:cubicBezTo>
                  <a:pt x="114" y="0"/>
                  <a:pt x="102" y="0"/>
                  <a:pt x="95" y="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5"/>
          <p:cNvSpPr/>
          <p:nvPr/>
        </p:nvSpPr>
        <p:spPr>
          <a:xfrm flipH="1">
            <a:off x="9910200" y="134613"/>
            <a:ext cx="110524" cy="113485"/>
          </a:xfrm>
          <a:custGeom>
            <a:avLst/>
            <a:gdLst/>
            <a:ahLst/>
            <a:cxnLst/>
            <a:rect l="l" t="t" r="r" b="b"/>
            <a:pathLst>
              <a:path w="128" h="204" extrusionOk="0">
                <a:moveTo>
                  <a:pt x="95" y="7"/>
                </a:moveTo>
                <a:cubicBezTo>
                  <a:pt x="0" y="102"/>
                  <a:pt x="0" y="102"/>
                  <a:pt x="0" y="102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102" y="204"/>
                  <a:pt x="114" y="204"/>
                  <a:pt x="121" y="197"/>
                </a:cubicBezTo>
                <a:cubicBezTo>
                  <a:pt x="128" y="189"/>
                  <a:pt x="128" y="177"/>
                  <a:pt x="121" y="170"/>
                </a:cubicBezTo>
                <a:cubicBezTo>
                  <a:pt x="53" y="102"/>
                  <a:pt x="53" y="102"/>
                  <a:pt x="53" y="102"/>
                </a:cubicBezTo>
                <a:cubicBezTo>
                  <a:pt x="121" y="34"/>
                  <a:pt x="121" y="34"/>
                  <a:pt x="121" y="34"/>
                </a:cubicBezTo>
                <a:cubicBezTo>
                  <a:pt x="125" y="30"/>
                  <a:pt x="127" y="26"/>
                  <a:pt x="127" y="21"/>
                </a:cubicBezTo>
                <a:cubicBezTo>
                  <a:pt x="127" y="16"/>
                  <a:pt x="125" y="11"/>
                  <a:pt x="121" y="7"/>
                </a:cubicBezTo>
                <a:cubicBezTo>
                  <a:pt x="114" y="0"/>
                  <a:pt x="102" y="0"/>
                  <a:pt x="95" y="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135"/>
          <p:cNvSpPr/>
          <p:nvPr/>
        </p:nvSpPr>
        <p:spPr>
          <a:xfrm flipH="1">
            <a:off x="9910200" y="134613"/>
            <a:ext cx="110524" cy="113485"/>
          </a:xfrm>
          <a:custGeom>
            <a:avLst/>
            <a:gdLst/>
            <a:ahLst/>
            <a:cxnLst/>
            <a:rect l="l" t="t" r="r" b="b"/>
            <a:pathLst>
              <a:path w="128" h="204" extrusionOk="0">
                <a:moveTo>
                  <a:pt x="95" y="7"/>
                </a:moveTo>
                <a:cubicBezTo>
                  <a:pt x="0" y="102"/>
                  <a:pt x="0" y="102"/>
                  <a:pt x="0" y="102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102" y="204"/>
                  <a:pt x="114" y="204"/>
                  <a:pt x="121" y="197"/>
                </a:cubicBezTo>
                <a:cubicBezTo>
                  <a:pt x="128" y="189"/>
                  <a:pt x="128" y="177"/>
                  <a:pt x="121" y="170"/>
                </a:cubicBezTo>
                <a:cubicBezTo>
                  <a:pt x="53" y="102"/>
                  <a:pt x="53" y="102"/>
                  <a:pt x="53" y="102"/>
                </a:cubicBezTo>
                <a:cubicBezTo>
                  <a:pt x="121" y="34"/>
                  <a:pt x="121" y="34"/>
                  <a:pt x="121" y="34"/>
                </a:cubicBezTo>
                <a:cubicBezTo>
                  <a:pt x="125" y="30"/>
                  <a:pt x="127" y="26"/>
                  <a:pt x="127" y="21"/>
                </a:cubicBezTo>
                <a:cubicBezTo>
                  <a:pt x="127" y="16"/>
                  <a:pt x="125" y="11"/>
                  <a:pt x="121" y="7"/>
                </a:cubicBezTo>
                <a:cubicBezTo>
                  <a:pt x="114" y="0"/>
                  <a:pt x="102" y="0"/>
                  <a:pt x="95" y="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35"/>
          <p:cNvSpPr txBox="1">
            <a:spLocks noGrp="1"/>
          </p:cNvSpPr>
          <p:nvPr>
            <p:ph type="body" idx="1"/>
          </p:nvPr>
        </p:nvSpPr>
        <p:spPr>
          <a:xfrm>
            <a:off x="442900" y="964100"/>
            <a:ext cx="11306100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1500"/>
              <a:t>An </a:t>
            </a:r>
            <a:r>
              <a:rPr lang="en-GB" sz="1500" b="1"/>
              <a:t>illustrative example</a:t>
            </a:r>
            <a:r>
              <a:rPr lang="en-GB" sz="1500"/>
              <a:t> of annual goal setting guidance</a:t>
            </a:r>
            <a:r>
              <a:rPr lang="en-GB" sz="1500" b="1"/>
              <a:t> for Senior Associate within a client service practice</a:t>
            </a:r>
            <a:r>
              <a:rPr lang="en-GB" sz="1500"/>
              <a:t>. The example is hypothetical and assumes that additional communications would be used to support Managers through goal setting.</a:t>
            </a:r>
            <a:endParaRPr sz="1500"/>
          </a:p>
        </p:txBody>
      </p:sp>
      <p:sp>
        <p:nvSpPr>
          <p:cNvPr id="1405" name="Google Shape;1405;p135"/>
          <p:cNvSpPr/>
          <p:nvPr/>
        </p:nvSpPr>
        <p:spPr>
          <a:xfrm>
            <a:off x="481033" y="1569461"/>
            <a:ext cx="7004700" cy="356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Assigned/Organizational goals (cascaded in Workday)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/>
          <p:nvPr/>
        </p:nvSpPr>
        <p:spPr>
          <a:xfrm>
            <a:off x="481033" y="1963228"/>
            <a:ext cx="7004700" cy="356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CE5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Consulting Practice | Senior Associate focus areas for FY: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7" name="Google Shape;1407;p135"/>
          <p:cNvGraphicFramePr/>
          <p:nvPr>
            <p:extLst>
              <p:ext uri="{D42A27DB-BD31-4B8C-83A1-F6EECF244321}">
                <p14:modId xmlns:p14="http://schemas.microsoft.com/office/powerpoint/2010/main" val="3443375770"/>
              </p:ext>
            </p:extLst>
          </p:nvPr>
        </p:nvGraphicFramePr>
        <p:xfrm>
          <a:off x="481033" y="2365148"/>
          <a:ext cx="7004700" cy="389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9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1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dk1"/>
                          </a:solidFill>
                        </a:rPr>
                        <a:t>To drive our FY27 strategy, Senior Associate are expected to live the PwC Professional behaviours in their daily work. Additionally, you can prioritise your contributions and development by:</a:t>
                      </a:r>
                      <a:endParaRPr sz="13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b="1" u="none" strike="noStrike" cap="none" dirty="0">
                          <a:solidFill>
                            <a:schemeClr val="dk1"/>
                          </a:solidFill>
                        </a:rPr>
                        <a:t>Clients: </a:t>
                      </a: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Making One Firm a reality for our clients by contributing to pursuits and / or engagements that expose our clients to the value of </a:t>
                      </a:r>
                      <a:r>
                        <a:rPr lang="en-GB" sz="1300" u="none" strike="noStrike" cap="none" dirty="0" err="1">
                          <a:solidFill>
                            <a:schemeClr val="dk1"/>
                          </a:solidFill>
                        </a:rPr>
                        <a:t>xLoS</a:t>
                      </a: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 Platforms, Integrated Solutions, BXT, or other </a:t>
                      </a:r>
                      <a:r>
                        <a:rPr lang="en-GB" sz="1300" u="none" strike="noStrike" cap="none" dirty="0" err="1">
                          <a:solidFill>
                            <a:schemeClr val="dk1"/>
                          </a:solidFill>
                        </a:rPr>
                        <a:t>xLoS</a:t>
                      </a: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 capabilities</a:t>
                      </a:r>
                      <a:endParaRPr sz="13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b="1" u="none" strike="noStrike" cap="none" dirty="0">
                          <a:solidFill>
                            <a:schemeClr val="dk1"/>
                          </a:solidFill>
                        </a:rPr>
                        <a:t>People:</a:t>
                      </a: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 Challenging yourself to lead with an inclusive mindset; learn how to identify and address unconscious biases and use your learnings to create a more inclusive environment for all PwC colleagues to learn, grow, and create value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b="1" u="none" strike="noStrike" cap="none" dirty="0">
                          <a:solidFill>
                            <a:schemeClr val="dk1"/>
                          </a:solidFill>
                        </a:rPr>
                        <a:t>Firm:</a:t>
                      </a: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 Taking personal responsibility to consistently deliver high quality work and enhance trust both internally at PwC and externally in the market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Additionally, Managers are expected to meet the following targets: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70% client utilisation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sales participation- n/a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</a:rPr>
                        <a:t>100% compliance training completion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152400" marR="0" lvl="0" indent="-146050" algn="l" rtl="0">
                        <a:lnSpc>
                          <a:spcPct val="100000"/>
                        </a:lnSpc>
                        <a:spcBef>
                          <a:spcPts val="130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-GB" sz="1300" i="1" u="none" strike="noStrike" cap="none" dirty="0">
                          <a:solidFill>
                            <a:schemeClr val="accent3"/>
                          </a:solidFill>
                        </a:rPr>
                        <a:t>Additional territory / </a:t>
                      </a:r>
                      <a:r>
                        <a:rPr lang="en-GB" sz="1300" i="1" u="none" strike="noStrike" cap="none" dirty="0" err="1">
                          <a:solidFill>
                            <a:schemeClr val="accent3"/>
                          </a:solidFill>
                        </a:rPr>
                        <a:t>LoS</a:t>
                      </a:r>
                      <a:r>
                        <a:rPr lang="en-GB" sz="1300" i="1" u="none" strike="noStrike" cap="none" dirty="0">
                          <a:solidFill>
                            <a:schemeClr val="accent3"/>
                          </a:solidFill>
                        </a:rPr>
                        <a:t>-specific compliance requirements would be listed</a:t>
                      </a:r>
                      <a:endParaRPr sz="1300" b="1" i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08" name="Google Shape;1408;p135"/>
          <p:cNvSpPr/>
          <p:nvPr/>
        </p:nvSpPr>
        <p:spPr>
          <a:xfrm>
            <a:off x="7603600" y="1571297"/>
            <a:ext cx="4070700" cy="3315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Self-defined/individual  goals (created in Workday)</a:t>
            </a:r>
            <a:endParaRPr sz="1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35"/>
          <p:cNvSpPr txBox="1"/>
          <p:nvPr/>
        </p:nvSpPr>
        <p:spPr>
          <a:xfrm>
            <a:off x="7603600" y="1963233"/>
            <a:ext cx="4070700" cy="429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413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assigned</a:t>
            </a:r>
            <a:r>
              <a:rPr lang="en-GB" sz="1300">
                <a:solidFill>
                  <a:schemeClr val="dk1"/>
                </a:solidFill>
              </a:rPr>
              <a:t>/individual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goals and our FY strategy to determine how your self-defined goals should support business priorities.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1968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2- 3 </a:t>
            </a:r>
            <a:r>
              <a:rPr lang="en-GB" sz="1300">
                <a:solidFill>
                  <a:schemeClr val="dk1"/>
                </a:solidFill>
              </a:rPr>
              <a:t>assigned/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 </a:t>
            </a:r>
            <a:r>
              <a:rPr lang="en-GB" sz="1300">
                <a:solidFill>
                  <a:schemeClr val="dk1"/>
                </a:solidFill>
              </a:rPr>
              <a:t>“stretch” and 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goals, each with the potential to deliver value to our clients, people, firm, and / or society. </a:t>
            </a:r>
            <a:r>
              <a:rPr lang="en-GB" sz="1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to imp</a:t>
            </a:r>
            <a:r>
              <a:rPr lang="en-GB" sz="1300" i="1">
                <a:solidFill>
                  <a:schemeClr val="dk1"/>
                </a:solidFill>
              </a:rPr>
              <a:t>rove business writing skills with a client; to sit CFA Level 1 exam; to improve presentation skills through… </a:t>
            </a:r>
            <a:endParaRPr sz="13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1968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GB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min. 1 development goal linked to Evolved PwC Professional behaviours 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with the potential to deliver value to our clients, people, firm, and / or society.</a:t>
            </a:r>
            <a:r>
              <a:rPr lang="en-GB" sz="1300" i="1">
                <a:solidFill>
                  <a:schemeClr val="dk1"/>
                </a:solidFill>
              </a:rPr>
              <a:t> For example,  to create and maintain a positive energy within the team via being empathetic, being an active listener, managing stress effectively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1300" marR="0" lvl="0" indent="-1968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self-defined</a:t>
            </a:r>
            <a:r>
              <a:rPr lang="en-GB" sz="1300">
                <a:solidFill>
                  <a:schemeClr val="dk1"/>
                </a:solidFill>
              </a:rPr>
              <a:t>/individual</a:t>
            </a: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goals with your Team Leader and record them in Workday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35"/>
          <p:cNvSpPr/>
          <p:nvPr/>
        </p:nvSpPr>
        <p:spPr>
          <a:xfrm>
            <a:off x="106201" y="403233"/>
            <a:ext cx="418458" cy="418315"/>
          </a:xfrm>
          <a:custGeom>
            <a:avLst/>
            <a:gdLst/>
            <a:ahLst/>
            <a:cxnLst/>
            <a:rect l="l" t="t" r="r" b="b"/>
            <a:pathLst>
              <a:path w="456085" h="455929" extrusionOk="0">
                <a:moveTo>
                  <a:pt x="0" y="0"/>
                </a:moveTo>
                <a:lnTo>
                  <a:pt x="0" y="455930"/>
                </a:lnTo>
                <a:lnTo>
                  <a:pt x="456086" y="455930"/>
                </a:lnTo>
                <a:lnTo>
                  <a:pt x="456086" y="0"/>
                </a:lnTo>
                <a:close/>
                <a:moveTo>
                  <a:pt x="436639" y="436458"/>
                </a:moveTo>
                <a:lnTo>
                  <a:pt x="19447" y="436458"/>
                </a:lnTo>
                <a:lnTo>
                  <a:pt x="19447" y="19440"/>
                </a:lnTo>
                <a:lnTo>
                  <a:pt x="436639" y="19440"/>
                </a:lnTo>
                <a:close/>
                <a:moveTo>
                  <a:pt x="166345" y="329536"/>
                </a:moveTo>
                <a:lnTo>
                  <a:pt x="290786" y="329536"/>
                </a:lnTo>
                <a:lnTo>
                  <a:pt x="290786" y="348311"/>
                </a:lnTo>
                <a:lnTo>
                  <a:pt x="166345" y="348311"/>
                </a:lnTo>
                <a:close/>
                <a:moveTo>
                  <a:pt x="166345" y="374686"/>
                </a:moveTo>
                <a:lnTo>
                  <a:pt x="290786" y="374686"/>
                </a:lnTo>
                <a:lnTo>
                  <a:pt x="290786" y="355910"/>
                </a:lnTo>
                <a:lnTo>
                  <a:pt x="166345" y="355910"/>
                </a:lnTo>
                <a:close/>
                <a:moveTo>
                  <a:pt x="212175" y="401028"/>
                </a:moveTo>
                <a:lnTo>
                  <a:pt x="244988" y="401028"/>
                </a:lnTo>
                <a:lnTo>
                  <a:pt x="244988" y="382253"/>
                </a:lnTo>
                <a:lnTo>
                  <a:pt x="212175" y="382253"/>
                </a:lnTo>
                <a:close/>
                <a:moveTo>
                  <a:pt x="410604" y="265294"/>
                </a:moveTo>
                <a:cubicBezTo>
                  <a:pt x="410604" y="275663"/>
                  <a:pt x="402195" y="284070"/>
                  <a:pt x="391822" y="284070"/>
                </a:cubicBezTo>
                <a:cubicBezTo>
                  <a:pt x="381449" y="284070"/>
                  <a:pt x="373040" y="275663"/>
                  <a:pt x="373040" y="265294"/>
                </a:cubicBezTo>
                <a:cubicBezTo>
                  <a:pt x="373034" y="262077"/>
                  <a:pt x="373864" y="258914"/>
                  <a:pt x="375447" y="256112"/>
                </a:cubicBezTo>
                <a:lnTo>
                  <a:pt x="353720" y="228408"/>
                </a:lnTo>
                <a:lnTo>
                  <a:pt x="312546" y="227427"/>
                </a:lnTo>
                <a:lnTo>
                  <a:pt x="311722" y="228471"/>
                </a:lnTo>
                <a:cubicBezTo>
                  <a:pt x="299772" y="243454"/>
                  <a:pt x="293292" y="262058"/>
                  <a:pt x="293352" y="281220"/>
                </a:cubicBezTo>
                <a:lnTo>
                  <a:pt x="293352" y="321969"/>
                </a:lnTo>
                <a:lnTo>
                  <a:pt x="166471" y="321969"/>
                </a:lnTo>
                <a:lnTo>
                  <a:pt x="166471" y="284481"/>
                </a:lnTo>
                <a:cubicBezTo>
                  <a:pt x="166481" y="266380"/>
                  <a:pt x="160697" y="248751"/>
                  <a:pt x="149970" y="234171"/>
                </a:cubicBezTo>
                <a:lnTo>
                  <a:pt x="109777" y="234772"/>
                </a:lnTo>
                <a:lnTo>
                  <a:pt x="95778" y="260893"/>
                </a:lnTo>
                <a:cubicBezTo>
                  <a:pt x="102477" y="268809"/>
                  <a:pt x="101489" y="280656"/>
                  <a:pt x="93570" y="287353"/>
                </a:cubicBezTo>
                <a:cubicBezTo>
                  <a:pt x="85649" y="294049"/>
                  <a:pt x="73800" y="293062"/>
                  <a:pt x="67102" y="285146"/>
                </a:cubicBezTo>
                <a:cubicBezTo>
                  <a:pt x="60400" y="277231"/>
                  <a:pt x="61388" y="265383"/>
                  <a:pt x="69309" y="258686"/>
                </a:cubicBezTo>
                <a:cubicBezTo>
                  <a:pt x="72705" y="255811"/>
                  <a:pt x="77012" y="254238"/>
                  <a:pt x="81462" y="254244"/>
                </a:cubicBezTo>
                <a:lnTo>
                  <a:pt x="82951" y="254244"/>
                </a:lnTo>
                <a:lnTo>
                  <a:pt x="101067" y="220461"/>
                </a:lnTo>
                <a:lnTo>
                  <a:pt x="139075" y="219860"/>
                </a:lnTo>
                <a:cubicBezTo>
                  <a:pt x="133880" y="211934"/>
                  <a:pt x="129769" y="203354"/>
                  <a:pt x="126849" y="194340"/>
                </a:cubicBezTo>
                <a:lnTo>
                  <a:pt x="83172" y="194783"/>
                </a:lnTo>
                <a:lnTo>
                  <a:pt x="74177" y="203649"/>
                </a:lnTo>
                <a:cubicBezTo>
                  <a:pt x="74675" y="205346"/>
                  <a:pt x="74918" y="207106"/>
                  <a:pt x="74906" y="208873"/>
                </a:cubicBezTo>
                <a:cubicBezTo>
                  <a:pt x="74906" y="219261"/>
                  <a:pt x="66484" y="227680"/>
                  <a:pt x="56095" y="227683"/>
                </a:cubicBezTo>
                <a:cubicBezTo>
                  <a:pt x="45704" y="227683"/>
                  <a:pt x="37279" y="219264"/>
                  <a:pt x="37279" y="208876"/>
                </a:cubicBezTo>
                <a:cubicBezTo>
                  <a:pt x="37279" y="198491"/>
                  <a:pt x="45700" y="190069"/>
                  <a:pt x="56089" y="190069"/>
                </a:cubicBezTo>
                <a:cubicBezTo>
                  <a:pt x="59269" y="190069"/>
                  <a:pt x="62398" y="190873"/>
                  <a:pt x="65182" y="192409"/>
                </a:cubicBezTo>
                <a:lnTo>
                  <a:pt x="78105" y="180535"/>
                </a:lnTo>
                <a:lnTo>
                  <a:pt x="123333" y="180092"/>
                </a:lnTo>
                <a:cubicBezTo>
                  <a:pt x="122313" y="174184"/>
                  <a:pt x="121784" y="168200"/>
                  <a:pt x="121750" y="162203"/>
                </a:cubicBezTo>
                <a:lnTo>
                  <a:pt x="96411" y="162203"/>
                </a:lnTo>
                <a:lnTo>
                  <a:pt x="85168" y="148652"/>
                </a:lnTo>
                <a:cubicBezTo>
                  <a:pt x="75267" y="151749"/>
                  <a:pt x="64733" y="146233"/>
                  <a:pt x="61635" y="136336"/>
                </a:cubicBezTo>
                <a:cubicBezTo>
                  <a:pt x="58541" y="126441"/>
                  <a:pt x="64055" y="115907"/>
                  <a:pt x="73956" y="112814"/>
                </a:cubicBezTo>
                <a:cubicBezTo>
                  <a:pt x="83856" y="109717"/>
                  <a:pt x="94391" y="115230"/>
                  <a:pt x="97488" y="125127"/>
                </a:cubicBezTo>
                <a:cubicBezTo>
                  <a:pt x="98055" y="126942"/>
                  <a:pt x="98344" y="128832"/>
                  <a:pt x="98344" y="130731"/>
                </a:cubicBezTo>
                <a:cubicBezTo>
                  <a:pt x="98350" y="133755"/>
                  <a:pt x="97609" y="136735"/>
                  <a:pt x="96190" y="139407"/>
                </a:cubicBezTo>
                <a:lnTo>
                  <a:pt x="103158" y="147829"/>
                </a:lnTo>
                <a:lnTo>
                  <a:pt x="122510" y="147829"/>
                </a:lnTo>
                <a:cubicBezTo>
                  <a:pt x="129405" y="97727"/>
                  <a:pt x="170259" y="59176"/>
                  <a:pt x="220695" y="55186"/>
                </a:cubicBezTo>
                <a:cubicBezTo>
                  <a:pt x="250302" y="52999"/>
                  <a:pt x="279467" y="63339"/>
                  <a:pt x="301080" y="83682"/>
                </a:cubicBezTo>
                <a:cubicBezTo>
                  <a:pt x="318855" y="100301"/>
                  <a:pt x="330428" y="122480"/>
                  <a:pt x="333893" y="146562"/>
                </a:cubicBezTo>
                <a:lnTo>
                  <a:pt x="361480" y="145866"/>
                </a:lnTo>
                <a:lnTo>
                  <a:pt x="371710" y="134246"/>
                </a:lnTo>
                <a:cubicBezTo>
                  <a:pt x="367022" y="125074"/>
                  <a:pt x="370662" y="113840"/>
                  <a:pt x="379837" y="109154"/>
                </a:cubicBezTo>
                <a:cubicBezTo>
                  <a:pt x="389013" y="104471"/>
                  <a:pt x="400250" y="108109"/>
                  <a:pt x="404938" y="117282"/>
                </a:cubicBezTo>
                <a:cubicBezTo>
                  <a:pt x="409622" y="126454"/>
                  <a:pt x="405986" y="137684"/>
                  <a:pt x="396810" y="142370"/>
                </a:cubicBezTo>
                <a:cubicBezTo>
                  <a:pt x="392452" y="144596"/>
                  <a:pt x="387397" y="145020"/>
                  <a:pt x="382732" y="143554"/>
                </a:cubicBezTo>
                <a:lnTo>
                  <a:pt x="368131" y="160082"/>
                </a:lnTo>
                <a:lnTo>
                  <a:pt x="335001" y="160937"/>
                </a:lnTo>
                <a:lnTo>
                  <a:pt x="335001" y="161697"/>
                </a:lnTo>
                <a:cubicBezTo>
                  <a:pt x="335005" y="168425"/>
                  <a:pt x="334358" y="175137"/>
                  <a:pt x="333069" y="181739"/>
                </a:cubicBezTo>
                <a:lnTo>
                  <a:pt x="366104" y="181739"/>
                </a:lnTo>
                <a:cubicBezTo>
                  <a:pt x="370082" y="172164"/>
                  <a:pt x="381076" y="167624"/>
                  <a:pt x="390653" y="171604"/>
                </a:cubicBezTo>
                <a:cubicBezTo>
                  <a:pt x="400234" y="175580"/>
                  <a:pt x="404773" y="186570"/>
                  <a:pt x="400792" y="196145"/>
                </a:cubicBezTo>
                <a:cubicBezTo>
                  <a:pt x="396814" y="205719"/>
                  <a:pt x="385823" y="210260"/>
                  <a:pt x="376242" y="206280"/>
                </a:cubicBezTo>
                <a:cubicBezTo>
                  <a:pt x="371656" y="204374"/>
                  <a:pt x="368011" y="200729"/>
                  <a:pt x="366104" y="196145"/>
                </a:cubicBezTo>
                <a:lnTo>
                  <a:pt x="329585" y="196145"/>
                </a:lnTo>
                <a:cubicBezTo>
                  <a:pt x="327546" y="202088"/>
                  <a:pt x="324993" y="207838"/>
                  <a:pt x="321952" y="213337"/>
                </a:cubicBezTo>
                <a:lnTo>
                  <a:pt x="360878" y="214255"/>
                </a:lnTo>
                <a:lnTo>
                  <a:pt x="386754" y="247279"/>
                </a:lnTo>
                <a:cubicBezTo>
                  <a:pt x="388401" y="246810"/>
                  <a:pt x="390109" y="246576"/>
                  <a:pt x="391822" y="246582"/>
                </a:cubicBezTo>
                <a:cubicBezTo>
                  <a:pt x="402163" y="246598"/>
                  <a:pt x="410553" y="254956"/>
                  <a:pt x="410604" y="265294"/>
                </a:cubicBezTo>
                <a:close/>
                <a:moveTo>
                  <a:pt x="297121" y="216693"/>
                </a:moveTo>
                <a:cubicBezTo>
                  <a:pt x="309758" y="201131"/>
                  <a:pt x="316615" y="181678"/>
                  <a:pt x="316536" y="161633"/>
                </a:cubicBezTo>
                <a:cubicBezTo>
                  <a:pt x="316492" y="137257"/>
                  <a:pt x="306369" y="113986"/>
                  <a:pt x="288569" y="97328"/>
                </a:cubicBezTo>
                <a:cubicBezTo>
                  <a:pt x="270741" y="80585"/>
                  <a:pt x="246704" y="72088"/>
                  <a:pt x="222310" y="73899"/>
                </a:cubicBezTo>
                <a:cubicBezTo>
                  <a:pt x="173857" y="77353"/>
                  <a:pt x="137377" y="119416"/>
                  <a:pt x="140832" y="167852"/>
                </a:cubicBezTo>
                <a:cubicBezTo>
                  <a:pt x="142150" y="186349"/>
                  <a:pt x="149286" y="203952"/>
                  <a:pt x="161214" y="218150"/>
                </a:cubicBezTo>
                <a:cubicBezTo>
                  <a:pt x="176800" y="236795"/>
                  <a:pt x="185304" y="260342"/>
                  <a:pt x="185222" y="284639"/>
                </a:cubicBezTo>
                <a:lnTo>
                  <a:pt x="185222" y="303320"/>
                </a:lnTo>
                <a:lnTo>
                  <a:pt x="211098" y="303320"/>
                </a:lnTo>
                <a:lnTo>
                  <a:pt x="210370" y="186551"/>
                </a:lnTo>
                <a:lnTo>
                  <a:pt x="198872" y="176261"/>
                </a:lnTo>
                <a:cubicBezTo>
                  <a:pt x="191588" y="179991"/>
                  <a:pt x="182723" y="178553"/>
                  <a:pt x="176987" y="172715"/>
                </a:cubicBezTo>
                <a:cubicBezTo>
                  <a:pt x="169693" y="165344"/>
                  <a:pt x="169759" y="153455"/>
                  <a:pt x="177132" y="146164"/>
                </a:cubicBezTo>
                <a:cubicBezTo>
                  <a:pt x="180661" y="142674"/>
                  <a:pt x="185424" y="140724"/>
                  <a:pt x="190384" y="140737"/>
                </a:cubicBezTo>
                <a:lnTo>
                  <a:pt x="190384" y="140737"/>
                </a:lnTo>
                <a:cubicBezTo>
                  <a:pt x="200773" y="140822"/>
                  <a:pt x="209128" y="149314"/>
                  <a:pt x="209039" y="159699"/>
                </a:cubicBezTo>
                <a:cubicBezTo>
                  <a:pt x="209039" y="159712"/>
                  <a:pt x="209039" y="159721"/>
                  <a:pt x="209039" y="159734"/>
                </a:cubicBezTo>
                <a:cubicBezTo>
                  <a:pt x="209036" y="161668"/>
                  <a:pt x="208735" y="163590"/>
                  <a:pt x="208152" y="165433"/>
                </a:cubicBezTo>
                <a:lnTo>
                  <a:pt x="224654" y="180156"/>
                </a:lnTo>
                <a:lnTo>
                  <a:pt x="224654" y="181074"/>
                </a:lnTo>
                <a:lnTo>
                  <a:pt x="225446" y="303288"/>
                </a:lnTo>
                <a:lnTo>
                  <a:pt x="231274" y="303288"/>
                </a:lnTo>
                <a:lnTo>
                  <a:pt x="232635" y="205137"/>
                </a:lnTo>
                <a:lnTo>
                  <a:pt x="252178" y="190002"/>
                </a:lnTo>
                <a:lnTo>
                  <a:pt x="252178" y="167839"/>
                </a:lnTo>
                <a:cubicBezTo>
                  <a:pt x="249891" y="166880"/>
                  <a:pt x="247813" y="165480"/>
                  <a:pt x="246065" y="163723"/>
                </a:cubicBezTo>
                <a:cubicBezTo>
                  <a:pt x="238770" y="156349"/>
                  <a:pt x="238837" y="144463"/>
                  <a:pt x="246210" y="137171"/>
                </a:cubicBezTo>
                <a:cubicBezTo>
                  <a:pt x="249723" y="133698"/>
                  <a:pt x="254461" y="131751"/>
                  <a:pt x="259399" y="131745"/>
                </a:cubicBezTo>
                <a:lnTo>
                  <a:pt x="259399" y="131745"/>
                </a:lnTo>
                <a:cubicBezTo>
                  <a:pt x="269772" y="131808"/>
                  <a:pt x="278130" y="140265"/>
                  <a:pt x="278067" y="150634"/>
                </a:cubicBezTo>
                <a:cubicBezTo>
                  <a:pt x="278035" y="155615"/>
                  <a:pt x="276027" y="160383"/>
                  <a:pt x="272480" y="163881"/>
                </a:cubicBezTo>
                <a:cubicBezTo>
                  <a:pt x="270738" y="165610"/>
                  <a:pt x="268673" y="166978"/>
                  <a:pt x="266398" y="167902"/>
                </a:cubicBezTo>
                <a:lnTo>
                  <a:pt x="266398" y="197190"/>
                </a:lnTo>
                <a:lnTo>
                  <a:pt x="246761" y="212387"/>
                </a:lnTo>
                <a:lnTo>
                  <a:pt x="245495" y="303573"/>
                </a:lnTo>
                <a:lnTo>
                  <a:pt x="274412" y="303573"/>
                </a:lnTo>
                <a:lnTo>
                  <a:pt x="274412" y="281315"/>
                </a:lnTo>
                <a:cubicBezTo>
                  <a:pt x="274399" y="257819"/>
                  <a:pt x="282409" y="235019"/>
                  <a:pt x="297121" y="216693"/>
                </a:cubicBezTo>
                <a:close/>
                <a:moveTo>
                  <a:pt x="393342" y="189084"/>
                </a:moveTo>
                <a:cubicBezTo>
                  <a:pt x="393428" y="183752"/>
                  <a:pt x="389174" y="179358"/>
                  <a:pt x="383841" y="179272"/>
                </a:cubicBezTo>
                <a:cubicBezTo>
                  <a:pt x="378507" y="179183"/>
                  <a:pt x="374111" y="183439"/>
                  <a:pt x="374025" y="188771"/>
                </a:cubicBezTo>
                <a:cubicBezTo>
                  <a:pt x="373937" y="194103"/>
                  <a:pt x="378193" y="198497"/>
                  <a:pt x="383527" y="198583"/>
                </a:cubicBezTo>
                <a:cubicBezTo>
                  <a:pt x="383632" y="198586"/>
                  <a:pt x="383736" y="198586"/>
                  <a:pt x="383841" y="198583"/>
                </a:cubicBezTo>
                <a:cubicBezTo>
                  <a:pt x="389044" y="198481"/>
                  <a:pt x="393241" y="194286"/>
                  <a:pt x="393342" y="189084"/>
                </a:cubicBezTo>
                <a:close/>
                <a:moveTo>
                  <a:pt x="398378" y="125571"/>
                </a:moveTo>
                <a:cubicBezTo>
                  <a:pt x="398290" y="120324"/>
                  <a:pt x="393966" y="116145"/>
                  <a:pt x="388718" y="116234"/>
                </a:cubicBezTo>
                <a:cubicBezTo>
                  <a:pt x="383470" y="116322"/>
                  <a:pt x="379289" y="120644"/>
                  <a:pt x="379378" y="125890"/>
                </a:cubicBezTo>
                <a:cubicBezTo>
                  <a:pt x="379463" y="131010"/>
                  <a:pt x="383597" y="135142"/>
                  <a:pt x="388718" y="135227"/>
                </a:cubicBezTo>
                <a:cubicBezTo>
                  <a:pt x="393966" y="135316"/>
                  <a:pt x="398290" y="131134"/>
                  <a:pt x="398378" y="125890"/>
                </a:cubicBezTo>
                <a:cubicBezTo>
                  <a:pt x="398381" y="125783"/>
                  <a:pt x="398381" y="125678"/>
                  <a:pt x="398378" y="125571"/>
                </a:cubicBezTo>
                <a:close/>
                <a:moveTo>
                  <a:pt x="89412" y="130731"/>
                </a:moveTo>
                <a:cubicBezTo>
                  <a:pt x="89412" y="125485"/>
                  <a:pt x="85155" y="121233"/>
                  <a:pt x="79910" y="121233"/>
                </a:cubicBezTo>
                <a:cubicBezTo>
                  <a:pt x="74662" y="121236"/>
                  <a:pt x="70408" y="125488"/>
                  <a:pt x="70408" y="130735"/>
                </a:cubicBezTo>
                <a:cubicBezTo>
                  <a:pt x="70408" y="135918"/>
                  <a:pt x="74567" y="140145"/>
                  <a:pt x="79752" y="140230"/>
                </a:cubicBezTo>
                <a:cubicBezTo>
                  <a:pt x="85019" y="140214"/>
                  <a:pt x="89307" y="135997"/>
                  <a:pt x="89412" y="130731"/>
                </a:cubicBezTo>
                <a:close/>
                <a:moveTo>
                  <a:pt x="65879" y="208873"/>
                </a:moveTo>
                <a:cubicBezTo>
                  <a:pt x="65879" y="203626"/>
                  <a:pt x="61622" y="199374"/>
                  <a:pt x="56377" y="199374"/>
                </a:cubicBezTo>
                <a:cubicBezTo>
                  <a:pt x="51129" y="199377"/>
                  <a:pt x="46876" y="203630"/>
                  <a:pt x="46876" y="208876"/>
                </a:cubicBezTo>
                <a:cubicBezTo>
                  <a:pt x="46876" y="214059"/>
                  <a:pt x="51034" y="218286"/>
                  <a:pt x="56219" y="218371"/>
                </a:cubicBezTo>
                <a:cubicBezTo>
                  <a:pt x="61486" y="218355"/>
                  <a:pt x="65775" y="214138"/>
                  <a:pt x="65879" y="208873"/>
                </a:cubicBezTo>
                <a:close/>
                <a:moveTo>
                  <a:pt x="91217" y="273083"/>
                </a:moveTo>
                <a:cubicBezTo>
                  <a:pt x="91306" y="267751"/>
                  <a:pt x="87052" y="263356"/>
                  <a:pt x="81715" y="263268"/>
                </a:cubicBezTo>
                <a:cubicBezTo>
                  <a:pt x="76382" y="263182"/>
                  <a:pt x="71986" y="267435"/>
                  <a:pt x="71900" y="272766"/>
                </a:cubicBezTo>
                <a:cubicBezTo>
                  <a:pt x="71811" y="278098"/>
                  <a:pt x="76065" y="282493"/>
                  <a:pt x="81399" y="282582"/>
                </a:cubicBezTo>
                <a:cubicBezTo>
                  <a:pt x="81453" y="282582"/>
                  <a:pt x="81503" y="282582"/>
                  <a:pt x="81557" y="282582"/>
                </a:cubicBezTo>
                <a:cubicBezTo>
                  <a:pt x="86786" y="282515"/>
                  <a:pt x="91021" y="278310"/>
                  <a:pt x="91122" y="273083"/>
                </a:cubicBezTo>
                <a:close/>
                <a:moveTo>
                  <a:pt x="401609" y="265294"/>
                </a:moveTo>
                <a:cubicBezTo>
                  <a:pt x="401609" y="260048"/>
                  <a:pt x="397355" y="255796"/>
                  <a:pt x="392107" y="255796"/>
                </a:cubicBezTo>
                <a:cubicBezTo>
                  <a:pt x="386859" y="255796"/>
                  <a:pt x="382605" y="260048"/>
                  <a:pt x="382605" y="265294"/>
                </a:cubicBezTo>
                <a:cubicBezTo>
                  <a:pt x="382605" y="270540"/>
                  <a:pt x="386859" y="274793"/>
                  <a:pt x="392107" y="274793"/>
                </a:cubicBezTo>
                <a:cubicBezTo>
                  <a:pt x="397263" y="274625"/>
                  <a:pt x="401384" y="270449"/>
                  <a:pt x="401482" y="265294"/>
                </a:cubicBezTo>
                <a:close/>
                <a:moveTo>
                  <a:pt x="266335" y="157011"/>
                </a:moveTo>
                <a:cubicBezTo>
                  <a:pt x="270044" y="153300"/>
                  <a:pt x="270041" y="147284"/>
                  <a:pt x="266326" y="143577"/>
                </a:cubicBezTo>
                <a:cubicBezTo>
                  <a:pt x="262614" y="139872"/>
                  <a:pt x="256596" y="139875"/>
                  <a:pt x="252890" y="143586"/>
                </a:cubicBezTo>
                <a:cubicBezTo>
                  <a:pt x="249181" y="147297"/>
                  <a:pt x="249184" y="153313"/>
                  <a:pt x="252896" y="157020"/>
                </a:cubicBezTo>
                <a:cubicBezTo>
                  <a:pt x="254667" y="158784"/>
                  <a:pt x="257058" y="159781"/>
                  <a:pt x="259557" y="159797"/>
                </a:cubicBezTo>
                <a:cubicBezTo>
                  <a:pt x="262050" y="159756"/>
                  <a:pt x="264432" y="158758"/>
                  <a:pt x="266208" y="157011"/>
                </a:cubicBezTo>
                <a:close/>
                <a:moveTo>
                  <a:pt x="197194" y="166509"/>
                </a:moveTo>
                <a:lnTo>
                  <a:pt x="197194" y="166509"/>
                </a:lnTo>
                <a:cubicBezTo>
                  <a:pt x="200963" y="162859"/>
                  <a:pt x="201061" y="156846"/>
                  <a:pt x="197409" y="153078"/>
                </a:cubicBezTo>
                <a:cubicBezTo>
                  <a:pt x="197339" y="153005"/>
                  <a:pt x="197267" y="152933"/>
                  <a:pt x="197194" y="152863"/>
                </a:cubicBezTo>
                <a:cubicBezTo>
                  <a:pt x="195385" y="151017"/>
                  <a:pt x="192905" y="149988"/>
                  <a:pt x="190321" y="150014"/>
                </a:cubicBezTo>
                <a:cubicBezTo>
                  <a:pt x="185073" y="150014"/>
                  <a:pt x="180819" y="154266"/>
                  <a:pt x="180819" y="159512"/>
                </a:cubicBezTo>
                <a:cubicBezTo>
                  <a:pt x="180787" y="162073"/>
                  <a:pt x="181791" y="164540"/>
                  <a:pt x="183606" y="166351"/>
                </a:cubicBezTo>
                <a:cubicBezTo>
                  <a:pt x="187268" y="170109"/>
                  <a:pt x="193282" y="170192"/>
                  <a:pt x="197042" y="166535"/>
                </a:cubicBezTo>
                <a:cubicBezTo>
                  <a:pt x="197105" y="166474"/>
                  <a:pt x="197165" y="166411"/>
                  <a:pt x="197225" y="16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/>
          <p:nvPr/>
        </p:nvSpPr>
        <p:spPr>
          <a:xfrm flipH="1">
            <a:off x="9910200" y="134613"/>
            <a:ext cx="110524" cy="113485"/>
          </a:xfrm>
          <a:custGeom>
            <a:avLst/>
            <a:gdLst/>
            <a:ahLst/>
            <a:cxnLst/>
            <a:rect l="l" t="t" r="r" b="b"/>
            <a:pathLst>
              <a:path w="128" h="204" extrusionOk="0">
                <a:moveTo>
                  <a:pt x="95" y="7"/>
                </a:moveTo>
                <a:cubicBezTo>
                  <a:pt x="0" y="102"/>
                  <a:pt x="0" y="102"/>
                  <a:pt x="0" y="102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102" y="204"/>
                  <a:pt x="114" y="204"/>
                  <a:pt x="121" y="197"/>
                </a:cubicBezTo>
                <a:cubicBezTo>
                  <a:pt x="128" y="189"/>
                  <a:pt x="128" y="177"/>
                  <a:pt x="121" y="170"/>
                </a:cubicBezTo>
                <a:cubicBezTo>
                  <a:pt x="53" y="102"/>
                  <a:pt x="53" y="102"/>
                  <a:pt x="53" y="102"/>
                </a:cubicBezTo>
                <a:cubicBezTo>
                  <a:pt x="121" y="34"/>
                  <a:pt x="121" y="34"/>
                  <a:pt x="121" y="34"/>
                </a:cubicBezTo>
                <a:cubicBezTo>
                  <a:pt x="125" y="30"/>
                  <a:pt x="127" y="26"/>
                  <a:pt x="127" y="21"/>
                </a:cubicBezTo>
                <a:cubicBezTo>
                  <a:pt x="127" y="16"/>
                  <a:pt x="125" y="11"/>
                  <a:pt x="121" y="7"/>
                </a:cubicBezTo>
                <a:cubicBezTo>
                  <a:pt x="114" y="0"/>
                  <a:pt x="102" y="0"/>
                  <a:pt x="95" y="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35"/>
          <p:cNvSpPr txBox="1"/>
          <p:nvPr/>
        </p:nvSpPr>
        <p:spPr>
          <a:xfrm>
            <a:off x="443733" y="432000"/>
            <a:ext cx="113061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how goals can come to life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4ACE-8ABE-D34C-0F03-6B88A090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5B1739-2089-1620-60DB-46A35480E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Georgia"/>
                <a:cs typeface="Georgia"/>
                <a:sym typeface="Georgia"/>
              </a:rPr>
              <a:t>Management/job levels structure for professional Staff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FB468F-952A-D27F-A044-9145B2081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Leadership Development Experience (LDE)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9F185-3B18-17AB-DDCD-C06B39F0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E4E3C1D-445E-C8CF-771F-A7A48987D5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31" t="2003" r="22544" b="2846"/>
          <a:stretch>
            <a:fillRect/>
          </a:stretch>
        </p:blipFill>
        <p:spPr>
          <a:xfrm>
            <a:off x="410090" y="1834003"/>
            <a:ext cx="4026553" cy="4340821"/>
          </a:xfrm>
          <a:custGeom>
            <a:avLst/>
            <a:gdLst>
              <a:gd name="csX0" fmla="*/ 0 w 4026553"/>
              <a:gd name="csY0" fmla="*/ 0 h 4340821"/>
              <a:gd name="csX1" fmla="*/ 4026553 w 4026553"/>
              <a:gd name="csY1" fmla="*/ 0 h 4340821"/>
              <a:gd name="csX2" fmla="*/ 4026553 w 4026553"/>
              <a:gd name="csY2" fmla="*/ 974466 h 4340821"/>
              <a:gd name="csX3" fmla="*/ 4026553 w 4026553"/>
              <a:gd name="csY3" fmla="*/ 3153093 h 4340821"/>
              <a:gd name="csX4" fmla="*/ 4026553 w 4026553"/>
              <a:gd name="csY4" fmla="*/ 4127559 h 4340821"/>
              <a:gd name="csX5" fmla="*/ 2013339 w 4026553"/>
              <a:gd name="csY5" fmla="*/ 4127559 h 4340821"/>
              <a:gd name="csX6" fmla="*/ 1875710 w 4026553"/>
              <a:gd name="csY6" fmla="*/ 4340821 h 4340821"/>
              <a:gd name="csX7" fmla="*/ 0 w 4026553"/>
              <a:gd name="csY7" fmla="*/ 4340821 h 4340821"/>
              <a:gd name="csX8" fmla="*/ 0 w 4026553"/>
              <a:gd name="csY8" fmla="*/ 3366355 h 4340821"/>
              <a:gd name="csX9" fmla="*/ 0 w 4026553"/>
              <a:gd name="csY9" fmla="*/ 974466 h 4340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026553" h="4340821">
                <a:moveTo>
                  <a:pt x="0" y="0"/>
                </a:moveTo>
                <a:lnTo>
                  <a:pt x="4026553" y="0"/>
                </a:lnTo>
                <a:lnTo>
                  <a:pt x="4026553" y="974466"/>
                </a:lnTo>
                <a:lnTo>
                  <a:pt x="4026553" y="3153093"/>
                </a:lnTo>
                <a:lnTo>
                  <a:pt x="4026553" y="4127559"/>
                </a:lnTo>
                <a:lnTo>
                  <a:pt x="2013339" y="4127559"/>
                </a:lnTo>
                <a:lnTo>
                  <a:pt x="1875710" y="4340821"/>
                </a:lnTo>
                <a:lnTo>
                  <a:pt x="0" y="4340821"/>
                </a:lnTo>
                <a:lnTo>
                  <a:pt x="0" y="3366355"/>
                </a:lnTo>
                <a:lnTo>
                  <a:pt x="0" y="97446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" name="Google Shape;1164;p155">
            <a:extLst>
              <a:ext uri="{FF2B5EF4-FFF2-40B4-BE49-F238E27FC236}">
                <a16:creationId xmlns:a16="http://schemas.microsoft.com/office/drawing/2014/main" id="{DCF2B892-F6E3-1609-CA70-4D58474FF2ED}"/>
              </a:ext>
            </a:extLst>
          </p:cNvPr>
          <p:cNvSpPr/>
          <p:nvPr/>
        </p:nvSpPr>
        <p:spPr>
          <a:xfrm>
            <a:off x="4602847" y="5802892"/>
            <a:ext cx="2515503" cy="396619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Intern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165;p155">
            <a:extLst>
              <a:ext uri="{FF2B5EF4-FFF2-40B4-BE49-F238E27FC236}">
                <a16:creationId xmlns:a16="http://schemas.microsoft.com/office/drawing/2014/main" id="{7BFC66FA-A136-0F9D-D65B-819FC6602E0F}"/>
              </a:ext>
            </a:extLst>
          </p:cNvPr>
          <p:cNvSpPr/>
          <p:nvPr/>
        </p:nvSpPr>
        <p:spPr>
          <a:xfrm>
            <a:off x="4602847" y="2893740"/>
            <a:ext cx="2516781" cy="388477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Senior Manager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166;p155">
            <a:extLst>
              <a:ext uri="{FF2B5EF4-FFF2-40B4-BE49-F238E27FC236}">
                <a16:creationId xmlns:a16="http://schemas.microsoft.com/office/drawing/2014/main" id="{5C20D935-C43D-EDE8-F600-44FFCC1A6FB0}"/>
              </a:ext>
            </a:extLst>
          </p:cNvPr>
          <p:cNvSpPr/>
          <p:nvPr/>
        </p:nvSpPr>
        <p:spPr>
          <a:xfrm>
            <a:off x="4602847" y="3428033"/>
            <a:ext cx="2516264" cy="388477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167;p155">
            <a:extLst>
              <a:ext uri="{FF2B5EF4-FFF2-40B4-BE49-F238E27FC236}">
                <a16:creationId xmlns:a16="http://schemas.microsoft.com/office/drawing/2014/main" id="{BD86DFEA-0F47-E27A-AAC4-C9D6D3C267DD}"/>
              </a:ext>
            </a:extLst>
          </p:cNvPr>
          <p:cNvSpPr/>
          <p:nvPr/>
        </p:nvSpPr>
        <p:spPr>
          <a:xfrm>
            <a:off x="4602847" y="3956681"/>
            <a:ext cx="2516264" cy="388477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Senior Associate 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Google Shape;1168;p155">
            <a:extLst>
              <a:ext uri="{FF2B5EF4-FFF2-40B4-BE49-F238E27FC236}">
                <a16:creationId xmlns:a16="http://schemas.microsoft.com/office/drawing/2014/main" id="{A81AF065-0165-E5DB-2766-7AC53DE1758D}"/>
              </a:ext>
            </a:extLst>
          </p:cNvPr>
          <p:cNvSpPr/>
          <p:nvPr/>
        </p:nvSpPr>
        <p:spPr>
          <a:xfrm>
            <a:off x="4602847" y="2365713"/>
            <a:ext cx="2516781" cy="388477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Director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170;p155">
            <a:extLst>
              <a:ext uri="{FF2B5EF4-FFF2-40B4-BE49-F238E27FC236}">
                <a16:creationId xmlns:a16="http://schemas.microsoft.com/office/drawing/2014/main" id="{3B309265-6A4E-811C-16AB-603E95780606}"/>
              </a:ext>
            </a:extLst>
          </p:cNvPr>
          <p:cNvSpPr/>
          <p:nvPr/>
        </p:nvSpPr>
        <p:spPr>
          <a:xfrm>
            <a:off x="4602847" y="4874074"/>
            <a:ext cx="2516264" cy="388477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Associate 2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171;p155">
            <a:extLst>
              <a:ext uri="{FF2B5EF4-FFF2-40B4-BE49-F238E27FC236}">
                <a16:creationId xmlns:a16="http://schemas.microsoft.com/office/drawing/2014/main" id="{8E4EA0CC-8C19-75A8-A275-0EF79F61DF50}"/>
              </a:ext>
            </a:extLst>
          </p:cNvPr>
          <p:cNvSpPr/>
          <p:nvPr/>
        </p:nvSpPr>
        <p:spPr>
          <a:xfrm>
            <a:off x="4602847" y="5262550"/>
            <a:ext cx="2516264" cy="388477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Associate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72;p155">
            <a:extLst>
              <a:ext uri="{FF2B5EF4-FFF2-40B4-BE49-F238E27FC236}">
                <a16:creationId xmlns:a16="http://schemas.microsoft.com/office/drawing/2014/main" id="{47CC5657-849C-76AE-C405-FF4F0BA93730}"/>
              </a:ext>
            </a:extLst>
          </p:cNvPr>
          <p:cNvSpPr/>
          <p:nvPr/>
        </p:nvSpPr>
        <p:spPr>
          <a:xfrm>
            <a:off x="4602847" y="4345426"/>
            <a:ext cx="2516264" cy="388477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Senior Associate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73;p155">
            <a:extLst>
              <a:ext uri="{FF2B5EF4-FFF2-40B4-BE49-F238E27FC236}">
                <a16:creationId xmlns:a16="http://schemas.microsoft.com/office/drawing/2014/main" id="{CF45A59C-3AAB-E4B4-039E-FE6FECE5CC35}"/>
              </a:ext>
            </a:extLst>
          </p:cNvPr>
          <p:cNvSpPr/>
          <p:nvPr/>
        </p:nvSpPr>
        <p:spPr>
          <a:xfrm>
            <a:off x="4602847" y="1828652"/>
            <a:ext cx="2516781" cy="388477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Partner</a:t>
            </a:r>
            <a:endParaRPr sz="14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175;p155">
            <a:extLst>
              <a:ext uri="{FF2B5EF4-FFF2-40B4-BE49-F238E27FC236}">
                <a16:creationId xmlns:a16="http://schemas.microsoft.com/office/drawing/2014/main" id="{0275F7A1-68AD-CF32-32D6-690FB54F023D}"/>
              </a:ext>
            </a:extLst>
          </p:cNvPr>
          <p:cNvSpPr/>
          <p:nvPr/>
        </p:nvSpPr>
        <p:spPr>
          <a:xfrm>
            <a:off x="7336404" y="2829320"/>
            <a:ext cx="4465623" cy="636594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txBody>
          <a:bodyPr spcFirstLastPara="1" wrap="square" lIns="62200" tIns="62200" rIns="62200" bIns="622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Transition through m</a:t>
            </a:r>
            <a:r>
              <a:rPr lang="en-US" i="1">
                <a:solidFill>
                  <a:schemeClr val="tx1"/>
                </a:solidFill>
              </a:rPr>
              <a:t>anagement</a:t>
            </a:r>
            <a:r>
              <a:rPr lang="en-US" sz="1400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levels </a:t>
            </a:r>
            <a:r>
              <a:rPr lang="en-US" i="1">
                <a:solidFill>
                  <a:schemeClr val="tx1"/>
                </a:solidFill>
              </a:rPr>
              <a:t>is</a:t>
            </a:r>
            <a:r>
              <a:rPr lang="en-US" sz="1400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Google Shape;1176;p155">
            <a:extLst>
              <a:ext uri="{FF2B5EF4-FFF2-40B4-BE49-F238E27FC236}">
                <a16:creationId xmlns:a16="http://schemas.microsoft.com/office/drawing/2014/main" id="{0820026E-C8E8-C081-B801-98C82855E7F7}"/>
              </a:ext>
            </a:extLst>
          </p:cNvPr>
          <p:cNvSpPr/>
          <p:nvPr/>
        </p:nvSpPr>
        <p:spPr>
          <a:xfrm>
            <a:off x="7336404" y="1828426"/>
            <a:ext cx="4465071" cy="703401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txBody>
          <a:bodyPr spcFirstLastPara="1" wrap="square" lIns="62200" tIns="180000" rIns="62200" bIns="622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Job levels are additional attributes to categorize jobs (Associate 2, Senior Associate 2)</a:t>
            </a:r>
            <a:endParaRPr>
              <a:solidFill>
                <a:schemeClr val="tx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177;p155">
            <a:extLst>
              <a:ext uri="{FF2B5EF4-FFF2-40B4-BE49-F238E27FC236}">
                <a16:creationId xmlns:a16="http://schemas.microsoft.com/office/drawing/2014/main" id="{C9C073F2-01A1-701E-24D5-67EE8E8D12DB}"/>
              </a:ext>
            </a:extLst>
          </p:cNvPr>
          <p:cNvSpPr/>
          <p:nvPr/>
        </p:nvSpPr>
        <p:spPr>
          <a:xfrm>
            <a:off x="7336404" y="3693436"/>
            <a:ext cx="4465623" cy="636594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Transition through job levels </a:t>
            </a:r>
            <a:r>
              <a:rPr lang="en-US" i="1">
                <a:solidFill>
                  <a:schemeClr val="tx1"/>
                </a:solidFill>
              </a:rPr>
              <a:t>i</a:t>
            </a:r>
            <a:r>
              <a:rPr lang="en-US" sz="1400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400" b="1" i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progression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050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F4EC-3D34-0D8C-B6F9-C2D07C72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411;p165">
            <a:extLst>
              <a:ext uri="{FF2B5EF4-FFF2-40B4-BE49-F238E27FC236}">
                <a16:creationId xmlns:a16="http://schemas.microsoft.com/office/drawing/2014/main" id="{0570764E-1B97-E63C-C362-825C56FD0D19}"/>
              </a:ext>
            </a:extLst>
          </p:cNvPr>
          <p:cNvSpPr txBox="1"/>
          <p:nvPr/>
        </p:nvSpPr>
        <p:spPr>
          <a:xfrm>
            <a:off x="400050" y="5660148"/>
            <a:ext cx="11401977" cy="422992"/>
          </a:xfrm>
          <a:prstGeom prst="rect">
            <a:avLst/>
          </a:prstGeom>
          <a:solidFill>
            <a:srgbClr val="DFE3E6"/>
          </a:solidFill>
          <a:ln w="9525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D176817-3DA6-B6CF-0EDF-D163E5D4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Georgia"/>
                <a:cs typeface="Georgia"/>
                <a:sym typeface="Georgia"/>
              </a:rPr>
              <a:t>What does performance assessment mean?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5A5A11-AB31-9CD2-C758-E1B0A8302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Leadership Development Experience (LDE)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DF9761-8047-E7E1-5EB5-7B19DBA1F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Google Shape;1390;p165">
            <a:extLst>
              <a:ext uri="{FF2B5EF4-FFF2-40B4-BE49-F238E27FC236}">
                <a16:creationId xmlns:a16="http://schemas.microsoft.com/office/drawing/2014/main" id="{381F83EE-7957-6B45-9B28-23C91C234F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4248" y="882074"/>
            <a:ext cx="1695450" cy="6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91;p165">
            <a:extLst>
              <a:ext uri="{FF2B5EF4-FFF2-40B4-BE49-F238E27FC236}">
                <a16:creationId xmlns:a16="http://schemas.microsoft.com/office/drawing/2014/main" id="{76A5B1EA-E234-928A-44DA-5D0AC2232740}"/>
              </a:ext>
            </a:extLst>
          </p:cNvPr>
          <p:cNvSpPr txBox="1"/>
          <p:nvPr/>
        </p:nvSpPr>
        <p:spPr>
          <a:xfrm>
            <a:off x="10068448" y="923849"/>
            <a:ext cx="1103700" cy="625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1393;p165">
            <a:extLst>
              <a:ext uri="{FF2B5EF4-FFF2-40B4-BE49-F238E27FC236}">
                <a16:creationId xmlns:a16="http://schemas.microsoft.com/office/drawing/2014/main" id="{E3949CBE-5966-C5B0-5423-EB2103A9EA1D}"/>
              </a:ext>
            </a:extLst>
          </p:cNvPr>
          <p:cNvCxnSpPr/>
          <p:nvPr/>
        </p:nvCxnSpPr>
        <p:spPr>
          <a:xfrm rot="10800000">
            <a:off x="641370" y="2129109"/>
            <a:ext cx="10642327" cy="4090"/>
          </a:xfrm>
          <a:prstGeom prst="straightConnector1">
            <a:avLst/>
          </a:prstGeom>
          <a:noFill/>
          <a:ln w="28575" cap="flat" cmpd="sng">
            <a:solidFill>
              <a:srgbClr val="A1A8B3"/>
            </a:solidFill>
            <a:prstDash val="solid"/>
            <a:round/>
            <a:headEnd type="triangle" w="med" len="med"/>
            <a:tailEnd type="oval" w="med" len="med"/>
          </a:ln>
        </p:spPr>
      </p:cxnSp>
      <p:sp>
        <p:nvSpPr>
          <p:cNvPr id="18" name="Google Shape;1398;p165">
            <a:extLst>
              <a:ext uri="{FF2B5EF4-FFF2-40B4-BE49-F238E27FC236}">
                <a16:creationId xmlns:a16="http://schemas.microsoft.com/office/drawing/2014/main" id="{3E366E3D-41FA-927A-777C-6C128BCCEAF9}"/>
              </a:ext>
            </a:extLst>
          </p:cNvPr>
          <p:cNvSpPr txBox="1"/>
          <p:nvPr/>
        </p:nvSpPr>
        <p:spPr>
          <a:xfrm>
            <a:off x="10108384" y="1893981"/>
            <a:ext cx="951289" cy="539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0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399;p165">
            <a:extLst>
              <a:ext uri="{FF2B5EF4-FFF2-40B4-BE49-F238E27FC236}">
                <a16:creationId xmlns:a16="http://schemas.microsoft.com/office/drawing/2014/main" id="{B52548BE-A948-CE3D-DCD7-2403FA3ECE20}"/>
              </a:ext>
            </a:extLst>
          </p:cNvPr>
          <p:cNvSpPr txBox="1"/>
          <p:nvPr/>
        </p:nvSpPr>
        <p:spPr>
          <a:xfrm>
            <a:off x="7839287" y="1893981"/>
            <a:ext cx="951289" cy="539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0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400;p165">
            <a:extLst>
              <a:ext uri="{FF2B5EF4-FFF2-40B4-BE49-F238E27FC236}">
                <a16:creationId xmlns:a16="http://schemas.microsoft.com/office/drawing/2014/main" id="{BD05A321-31D3-0B90-7D24-19D29DD23295}"/>
              </a:ext>
            </a:extLst>
          </p:cNvPr>
          <p:cNvSpPr txBox="1"/>
          <p:nvPr/>
        </p:nvSpPr>
        <p:spPr>
          <a:xfrm>
            <a:off x="5374105" y="1893986"/>
            <a:ext cx="1343376" cy="539221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 (A,B,C)</a:t>
            </a:r>
            <a:endParaRPr sz="21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401;p165">
            <a:extLst>
              <a:ext uri="{FF2B5EF4-FFF2-40B4-BE49-F238E27FC236}">
                <a16:creationId xmlns:a16="http://schemas.microsoft.com/office/drawing/2014/main" id="{3888B04F-C06D-07F6-2C83-B2220848D753}"/>
              </a:ext>
            </a:extLst>
          </p:cNvPr>
          <p:cNvSpPr txBox="1"/>
          <p:nvPr/>
        </p:nvSpPr>
        <p:spPr>
          <a:xfrm>
            <a:off x="3301096" y="1893981"/>
            <a:ext cx="951289" cy="539221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0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402;p165">
            <a:extLst>
              <a:ext uri="{FF2B5EF4-FFF2-40B4-BE49-F238E27FC236}">
                <a16:creationId xmlns:a16="http://schemas.microsoft.com/office/drawing/2014/main" id="{F3832FCC-696A-8965-48E8-EF7534F6EED0}"/>
              </a:ext>
            </a:extLst>
          </p:cNvPr>
          <p:cNvSpPr txBox="1"/>
          <p:nvPr/>
        </p:nvSpPr>
        <p:spPr>
          <a:xfrm>
            <a:off x="1031999" y="1893981"/>
            <a:ext cx="951289" cy="539221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30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403;p165">
            <a:extLst>
              <a:ext uri="{FF2B5EF4-FFF2-40B4-BE49-F238E27FC236}">
                <a16:creationId xmlns:a16="http://schemas.microsoft.com/office/drawing/2014/main" id="{0A0F2B62-ABB7-6758-8E42-B30D29EBACC9}"/>
              </a:ext>
            </a:extLst>
          </p:cNvPr>
          <p:cNvSpPr txBox="1"/>
          <p:nvPr/>
        </p:nvSpPr>
        <p:spPr>
          <a:xfrm>
            <a:off x="828088" y="1697328"/>
            <a:ext cx="1343376" cy="17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Impact Tier</a:t>
            </a:r>
            <a:endParaRPr sz="1000" b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404;p165">
            <a:extLst>
              <a:ext uri="{FF2B5EF4-FFF2-40B4-BE49-F238E27FC236}">
                <a16:creationId xmlns:a16="http://schemas.microsoft.com/office/drawing/2014/main" id="{AA866927-8ECD-328C-73A4-F4ECD0A56D06}"/>
              </a:ext>
            </a:extLst>
          </p:cNvPr>
          <p:cNvSpPr txBox="1"/>
          <p:nvPr/>
        </p:nvSpPr>
        <p:spPr>
          <a:xfrm>
            <a:off x="3105052" y="1697328"/>
            <a:ext cx="1343376" cy="17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Impact Tier</a:t>
            </a:r>
            <a:endParaRPr sz="1000" b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405;p165">
            <a:extLst>
              <a:ext uri="{FF2B5EF4-FFF2-40B4-BE49-F238E27FC236}">
                <a16:creationId xmlns:a16="http://schemas.microsoft.com/office/drawing/2014/main" id="{517089E0-82B7-7040-1DAB-4A8CC6A9BA56}"/>
              </a:ext>
            </a:extLst>
          </p:cNvPr>
          <p:cNvSpPr txBox="1"/>
          <p:nvPr/>
        </p:nvSpPr>
        <p:spPr>
          <a:xfrm>
            <a:off x="5374147" y="1697328"/>
            <a:ext cx="1343376" cy="17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Impact Tier</a:t>
            </a:r>
            <a:endParaRPr sz="1000" b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406;p165">
            <a:extLst>
              <a:ext uri="{FF2B5EF4-FFF2-40B4-BE49-F238E27FC236}">
                <a16:creationId xmlns:a16="http://schemas.microsoft.com/office/drawing/2014/main" id="{498EE9F6-7468-4C58-0E15-16E582D53E6F}"/>
              </a:ext>
            </a:extLst>
          </p:cNvPr>
          <p:cNvSpPr txBox="1"/>
          <p:nvPr/>
        </p:nvSpPr>
        <p:spPr>
          <a:xfrm>
            <a:off x="7643243" y="1697328"/>
            <a:ext cx="1343376" cy="17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Impact Tier</a:t>
            </a:r>
            <a:endParaRPr sz="1000" b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407;p165">
            <a:extLst>
              <a:ext uri="{FF2B5EF4-FFF2-40B4-BE49-F238E27FC236}">
                <a16:creationId xmlns:a16="http://schemas.microsoft.com/office/drawing/2014/main" id="{A9498CC6-6F37-E1A4-5BFC-1BFFFD9595F3}"/>
              </a:ext>
            </a:extLst>
          </p:cNvPr>
          <p:cNvSpPr txBox="1"/>
          <p:nvPr/>
        </p:nvSpPr>
        <p:spPr>
          <a:xfrm>
            <a:off x="9912340" y="1697328"/>
            <a:ext cx="1343376" cy="17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Impact Tier</a:t>
            </a:r>
            <a:endParaRPr sz="1000" b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408;p165">
            <a:extLst>
              <a:ext uri="{FF2B5EF4-FFF2-40B4-BE49-F238E27FC236}">
                <a16:creationId xmlns:a16="http://schemas.microsoft.com/office/drawing/2014/main" id="{E0BE5542-6FEF-69F0-CC8C-3047CA4999DF}"/>
              </a:ext>
            </a:extLst>
          </p:cNvPr>
          <p:cNvSpPr txBox="1"/>
          <p:nvPr/>
        </p:nvSpPr>
        <p:spPr>
          <a:xfrm rot="16200000">
            <a:off x="10960757" y="1610551"/>
            <a:ext cx="1020838" cy="56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Highest</a:t>
            </a:r>
            <a:endParaRPr sz="1000" i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409;p165">
            <a:extLst>
              <a:ext uri="{FF2B5EF4-FFF2-40B4-BE49-F238E27FC236}">
                <a16:creationId xmlns:a16="http://schemas.microsoft.com/office/drawing/2014/main" id="{F9D7724B-54FE-F79B-6952-AF077D707731}"/>
              </a:ext>
            </a:extLst>
          </p:cNvPr>
          <p:cNvSpPr txBox="1"/>
          <p:nvPr/>
        </p:nvSpPr>
        <p:spPr>
          <a:xfrm rot="16200000">
            <a:off x="-23854" y="1610551"/>
            <a:ext cx="1020838" cy="56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Lowest</a:t>
            </a:r>
            <a:endParaRPr sz="1000" i="1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20DE6B-9D3D-14E6-21C3-ECF0B1F2EE21}"/>
              </a:ext>
            </a:extLst>
          </p:cNvPr>
          <p:cNvSpPr/>
          <p:nvPr/>
        </p:nvSpPr>
        <p:spPr>
          <a:xfrm>
            <a:off x="486565" y="2719388"/>
            <a:ext cx="1256510" cy="176212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641EA7-6508-1A12-F786-7A06416837F8}"/>
              </a:ext>
            </a:extLst>
          </p:cNvPr>
          <p:cNvSpPr/>
          <p:nvPr/>
        </p:nvSpPr>
        <p:spPr>
          <a:xfrm>
            <a:off x="2755895" y="2719388"/>
            <a:ext cx="1630367" cy="176212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3498BB-1FE9-67E6-AC1C-BACC045AD424}"/>
              </a:ext>
            </a:extLst>
          </p:cNvPr>
          <p:cNvSpPr/>
          <p:nvPr/>
        </p:nvSpPr>
        <p:spPr>
          <a:xfrm>
            <a:off x="5027608" y="2719388"/>
            <a:ext cx="1299373" cy="176212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34FAE6-4EF7-0C0D-6A6E-475DD4D715C1}"/>
              </a:ext>
            </a:extLst>
          </p:cNvPr>
          <p:cNvSpPr/>
          <p:nvPr/>
        </p:nvSpPr>
        <p:spPr>
          <a:xfrm>
            <a:off x="7313213" y="2719388"/>
            <a:ext cx="1445025" cy="176212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7B3A88-0537-A396-B701-7029CE4C61D8}"/>
              </a:ext>
            </a:extLst>
          </p:cNvPr>
          <p:cNvSpPr/>
          <p:nvPr/>
        </p:nvSpPr>
        <p:spPr>
          <a:xfrm>
            <a:off x="9559092" y="2719388"/>
            <a:ext cx="1163677" cy="17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Google Shape;1394;p165">
            <a:extLst>
              <a:ext uri="{FF2B5EF4-FFF2-40B4-BE49-F238E27FC236}">
                <a16:creationId xmlns:a16="http://schemas.microsoft.com/office/drawing/2014/main" id="{2F68BE93-A858-251D-B760-A2AFA7D4805C}"/>
              </a:ext>
            </a:extLst>
          </p:cNvPr>
          <p:cNvSpPr/>
          <p:nvPr/>
        </p:nvSpPr>
        <p:spPr>
          <a:xfrm>
            <a:off x="2709538" y="2491725"/>
            <a:ext cx="2134404" cy="35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Opportunity to improve: Value added is below level of  high performing peer group</a:t>
            </a:r>
            <a:b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46050" marR="0" lvl="0" indent="-13335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Meets or partially meets goals: Both business and behavioral 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46050" marR="0" lvl="0" indent="-13335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Differentiators:  Contributes positive impact, but may not be consistent across people, client and firm (both in what is done and how it’s done, including quality, standards, values,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etc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46050" marR="0" lvl="0" indent="-13335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A portion of these individuals may benefit from a PIP to address gaps 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46050" marR="0" lvl="0" indent="-13335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Demonstrates PwC values</a:t>
            </a: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Guided distribution: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0-5%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Google Shape;1395;p165">
            <a:extLst>
              <a:ext uri="{FF2B5EF4-FFF2-40B4-BE49-F238E27FC236}">
                <a16:creationId xmlns:a16="http://schemas.microsoft.com/office/drawing/2014/main" id="{F38F46DD-BA14-9F15-B71A-870CA4AFC3EA}"/>
              </a:ext>
            </a:extLst>
          </p:cNvPr>
          <p:cNvSpPr/>
          <p:nvPr/>
        </p:nvSpPr>
        <p:spPr>
          <a:xfrm>
            <a:off x="4978635" y="2491572"/>
            <a:ext cx="2134404" cy="35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Meets expectations and is highly valued</a:t>
            </a:r>
            <a:b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36525" marR="0" lvl="0" indent="-12382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Achieves key goals: Both business and behavioral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36525" marR="0" lvl="0" indent="-12382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Differentiators: Demonstrates impact that positively influences people, client, and/or firm yet is clearly within the high performing peer group (both in what is done and how it’s done, including quality, standards, values,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etc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36525" marR="0" lvl="0" indent="-12382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Models the PwC values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Guided distribution: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60-70%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strike="sngStrike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396;p165">
            <a:extLst>
              <a:ext uri="{FF2B5EF4-FFF2-40B4-BE49-F238E27FC236}">
                <a16:creationId xmlns:a16="http://schemas.microsoft.com/office/drawing/2014/main" id="{23467730-6F32-96EB-A1FE-61B391087C64}"/>
              </a:ext>
            </a:extLst>
          </p:cNvPr>
          <p:cNvSpPr/>
          <p:nvPr/>
        </p:nvSpPr>
        <p:spPr>
          <a:xfrm>
            <a:off x="7247732" y="2491572"/>
            <a:ext cx="2134404" cy="35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Exceeds expectations: Adds value beyond level of peer group</a:t>
            </a:r>
            <a:b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41288" marR="0" lvl="0" indent="-128588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Achieves goals:  Both business and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behavioural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41288" marR="0" lvl="0" indent="-128588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Differentiators: Brings a distinguished level of impact across people, client, and  firm that results in added value, beyond peer group (both in what is done and how it’s done, including quality, standards, values,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etc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41288" marR="0" lvl="0" indent="-128588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Models the PwC values</a:t>
            </a: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Guided distribution: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0-20%</a:t>
            </a: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397;p165">
            <a:extLst>
              <a:ext uri="{FF2B5EF4-FFF2-40B4-BE49-F238E27FC236}">
                <a16:creationId xmlns:a16="http://schemas.microsoft.com/office/drawing/2014/main" id="{E0FB2468-69DA-DDBF-DCB2-2A9DD2683D1C}"/>
              </a:ext>
            </a:extLst>
          </p:cNvPr>
          <p:cNvSpPr/>
          <p:nvPr/>
        </p:nvSpPr>
        <p:spPr>
          <a:xfrm>
            <a:off x="9516828" y="2491572"/>
            <a:ext cx="2134404" cy="35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Truly distinctive: Exemplary among peer group</a:t>
            </a:r>
            <a:b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36525" marR="0" lvl="0" indent="-12382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Achieves goals:  Both business and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behavioural</a:t>
            </a: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36525" marR="0" lvl="0" indent="-12382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Differentiators: Consistently adds significant impact across  people, clients and firm, and is considered at the highest level; producing extraordinary contributions (both in what is done and how it’s done, including quality, standards, values,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etc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36525" marR="0" lvl="0" indent="-123825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Models the PwC values</a:t>
            </a: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Guided distribution: 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0-10%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Google Shape;1410;p165">
            <a:extLst>
              <a:ext uri="{FF2B5EF4-FFF2-40B4-BE49-F238E27FC236}">
                <a16:creationId xmlns:a16="http://schemas.microsoft.com/office/drawing/2014/main" id="{AFBE5863-26D6-523C-FB77-7D63232C8588}"/>
              </a:ext>
            </a:extLst>
          </p:cNvPr>
          <p:cNvSpPr/>
          <p:nvPr/>
        </p:nvSpPr>
        <p:spPr>
          <a:xfrm>
            <a:off x="440441" y="2491572"/>
            <a:ext cx="2134404" cy="3559130"/>
          </a:xfrm>
          <a:prstGeom prst="rect">
            <a:avLst/>
          </a:prstGeom>
          <a:noFill/>
          <a:ln w="9525" cap="flat" cmpd="sng">
            <a:solidFill>
              <a:srgbClr val="F4CCCC">
                <a:alpha val="0"/>
              </a:srgbClr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Time to transition: Value added is not in line with expectations of peer group</a:t>
            </a:r>
            <a:b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41288" marR="0" lvl="0" indent="-128588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Does not meet goals: Business and/or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behavioural</a:t>
            </a: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141288" marR="0" lvl="0" indent="-128588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Differentiators: Does not have enough impact across people, clients and firm  (both in what is done and how it’s done, including quality, standards, values, </a:t>
            </a:r>
            <a:r>
              <a:rPr lang="en-US" sz="1000" err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etc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)</a:t>
            </a:r>
            <a:endParaRPr>
              <a:solidFill>
                <a:schemeClr val="tx1"/>
              </a:solidFill>
              <a:latin typeface="+mj-lt"/>
            </a:endParaRPr>
          </a:p>
          <a:p>
            <a:pPr marL="141288" marR="0" lvl="0" indent="-128588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eorgia"/>
              <a:buChar char="•"/>
            </a:pP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Some individuals may have already been on a PIP yet still don’t meet expectations of peer group; Consider exiting</a:t>
            </a: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000" b="1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b="1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Guided distribution:</a:t>
            </a:r>
            <a:r>
              <a:rPr lang="en-US" sz="100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0-5%</a:t>
            </a:r>
            <a:endParaRPr sz="100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004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2678-0406-D53A-32DD-51874952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support network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39184-3013-2D1A-4059-179A8796E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Team Leader &amp; </a:t>
            </a:r>
            <a:endParaRPr lang="ru-RU" dirty="0"/>
          </a:p>
          <a:p>
            <a:r>
              <a:rPr lang="en-US" dirty="0" err="1"/>
              <a:t>Meruyert</a:t>
            </a:r>
            <a:r>
              <a:rPr lang="en-US" dirty="0"/>
              <a:t> </a:t>
            </a:r>
            <a:r>
              <a:rPr lang="en-US" dirty="0" err="1"/>
              <a:t>Artygaliyeva</a:t>
            </a:r>
            <a:r>
              <a:rPr lang="en-US" dirty="0"/>
              <a:t>                        Alina </a:t>
            </a:r>
            <a:r>
              <a:rPr lang="en-US" dirty="0" err="1"/>
              <a:t>Umaraliyeva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6E704-555F-D138-1A93-3278DA118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23A4C-F454-CBD6-5A0F-4F97AE214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85B3A9-1240-5017-CBCD-C19025E759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Team to support you in Performance management process 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58EE84-CE82-D8C4-1005-A4CDF207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9" y="3080319"/>
            <a:ext cx="2619741" cy="2705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8C1FA1-737F-CF26-1EC9-985C1DDF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628" y="3080319"/>
            <a:ext cx="2486372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96191"/>
      </p:ext>
    </p:extLst>
  </p:cSld>
  <p:clrMapOvr>
    <a:masterClrMapping/>
  </p:clrMapOvr>
</p:sld>
</file>

<file path=ppt/theme/theme1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covers" id="{98F2CEF4-6567-6443-B2FD-701CC35B720A}" vid="{DE9079C6-0E13-3442-B503-5C184716313C}"/>
    </a:ext>
  </a:extLst>
</a:theme>
</file>

<file path=ppt/theme/theme2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93954"/>
      </a:accent5>
      <a:accent6>
        <a:srgbClr val="464646"/>
      </a:accent6>
      <a:hlink>
        <a:srgbClr val="D04A02"/>
      </a:hlink>
      <a:folHlink>
        <a:srgbClr val="D9395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e8b437-35a7-403d-b441-9a58c785291c" xsi:nil="true"/>
    <lcf76f155ced4ddcb4097134ff3c332f xmlns="3a9c51b2-9e0f-4bc2-9910-ef1614313984">
      <Terms xmlns="http://schemas.microsoft.com/office/infopath/2007/PartnerControls"/>
    </lcf76f155ced4ddcb4097134ff3c332f>
    <_dlc_DocId xmlns="97e8b437-35a7-403d-b441-9a58c785291c">EWEH37SXK6E7-1222720316-888</_dlc_DocId>
    <_dlc_DocIdUrl xmlns="97e8b437-35a7-403d-b441-9a58c785291c">
      <Url>https://polpwc.sharepoint.com/sites/KZ-SD-0AHD0o_jXjSKtUk9PVA/_layouts/15/DocIdRedir.aspx?ID=EWEH37SXK6E7-1222720316-888</Url>
      <Description>EWEH37SXK6E7-1222720316-888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26D05D9E76784389331D128FBB662F" ma:contentTypeVersion="11" ma:contentTypeDescription="Create a new document." ma:contentTypeScope="" ma:versionID="db1ff85b90d27bc7f15e0d7d10fb999c">
  <xsd:schema xmlns:xsd="http://www.w3.org/2001/XMLSchema" xmlns:xs="http://www.w3.org/2001/XMLSchema" xmlns:p="http://schemas.microsoft.com/office/2006/metadata/properties" xmlns:ns2="97e8b437-35a7-403d-b441-9a58c785291c" xmlns:ns3="3a9c51b2-9e0f-4bc2-9910-ef1614313984" targetNamespace="http://schemas.microsoft.com/office/2006/metadata/properties" ma:root="true" ma:fieldsID="abe7f5b73667b9bde4227a8167c12125" ns2:_="" ns3:_="">
    <xsd:import namespace="97e8b437-35a7-403d-b441-9a58c785291c"/>
    <xsd:import namespace="3a9c51b2-9e0f-4bc2-9910-ef161431398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e8b437-35a7-403d-b441-9a58c785291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d6caf6a9-a355-43e7-a37c-ae4de4ef2ab5}" ma:internalName="TaxCatchAll" ma:showField="CatchAllData" ma:web="97e8b437-35a7-403d-b441-9a58c78529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9c51b2-9e0f-4bc2-9910-ef16143139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2C0F736-D321-4AB2-A773-CD5E7E213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C52A80-AEE8-471A-9D8A-BF1C63DA3BC0}">
  <ds:schemaRefs>
    <ds:schemaRef ds:uri="a7529e29-47af-4223-bf8a-4d93ad245a4a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a4d5b520-f1f1-4c0f-9c32-47be1f0065b4"/>
    <ds:schemaRef ds:uri="2fa8b27e-176c-4211-b460-b64fbc57d199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B1C6476-960A-443E-8DBC-BEDDB5CAF18D}"/>
</file>

<file path=customXml/itemProps4.xml><?xml version="1.0" encoding="utf-8"?>
<ds:datastoreItem xmlns:ds="http://schemas.openxmlformats.org/officeDocument/2006/customXml" ds:itemID="{028FB984-FEF5-46C3-85FA-E05246FE3E88}"/>
</file>

<file path=docProps/app.xml><?xml version="1.0" encoding="utf-8"?>
<Properties xmlns="http://schemas.openxmlformats.org/officeDocument/2006/extended-properties" xmlns:vt="http://schemas.openxmlformats.org/officeDocument/2006/docPropsVTypes">
  <TotalTime>12356</TotalTime>
  <Words>2274</Words>
  <Application>Microsoft Office PowerPoint</Application>
  <PresentationFormat>Widescreen</PresentationFormat>
  <Paragraphs>247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Georgia</vt:lpstr>
      <vt:lpstr>Wingdings</vt:lpstr>
      <vt:lpstr>2_PwC Slide Master</vt:lpstr>
      <vt:lpstr>PowerPoint Presentation</vt:lpstr>
      <vt:lpstr>Leadership Development Experience </vt:lpstr>
      <vt:lpstr>PowerPoint Presentation</vt:lpstr>
      <vt:lpstr>Performance year journey</vt:lpstr>
      <vt:lpstr>Use the PwC Professional grade-level expectations  to understand high  performance at PwC</vt:lpstr>
      <vt:lpstr>How we bring our culture to life: The PwC Professional </vt:lpstr>
      <vt:lpstr>Your support network and goals help guide your continuous development journey</vt:lpstr>
      <vt:lpstr>Feedback is a key enabler for development and an input into performance evaluation</vt:lpstr>
      <vt:lpstr>PowerPoint Presentation</vt:lpstr>
      <vt:lpstr>PowerPoint Presentation</vt:lpstr>
      <vt:lpstr>Management/job levels structure for professional Staff</vt:lpstr>
      <vt:lpstr>What does performance assessment mean?</vt:lpstr>
      <vt:lpstr>My support network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 our community  of solvers</dc:title>
  <dc:creator>Monika Vesela</dc:creator>
  <cp:lastModifiedBy>Aigerim Seitkali (KZ)</cp:lastModifiedBy>
  <cp:revision>82</cp:revision>
  <dcterms:modified xsi:type="dcterms:W3CDTF">2026-08-26T09:38:35Z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0x0101008D26D05D9E76784389331D128FBB662F</vt:lpwstr>
  </property>
  <property fmtid="{D5CDD505-2E9C-101B-9397-08002B2CF9AE}" pid="3" name="JiveCategories">
    <vt:lpwstr/>
  </property>
  <property fmtid="{D5CDD505-2E9C-101B-9397-08002B2CF9AE}" pid="4" name="MediaServiceImageTags">
    <vt:lpwstr/>
  </property>
  <property fmtid="{D5CDD505-2E9C-101B-9397-08002B2CF9AE}" pid="5" name="TaxKeyword">
    <vt:lpwstr/>
  </property>
  <property fmtid="{D5CDD505-2E9C-101B-9397-08002B2CF9AE}" pid="6" name="_dlc_DocIdItemGuid">
    <vt:lpwstr>570c27cc-55ad-4a5d-8076-25c4b6786f0d</vt:lpwstr>
  </property>
</Properties>
</file>