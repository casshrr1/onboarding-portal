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882" r:id="rId4"/>
  </p:sldMasterIdLst>
  <p:notesMasterIdLst>
    <p:notesMasterId r:id="rId24"/>
  </p:notesMasterIdLst>
  <p:sldIdLst>
    <p:sldId id="256" r:id="rId5"/>
    <p:sldId id="2147471717" r:id="rId6"/>
    <p:sldId id="2147479403" r:id="rId7"/>
    <p:sldId id="2147479374" r:id="rId8"/>
    <p:sldId id="326" r:id="rId9"/>
    <p:sldId id="325" r:id="rId10"/>
    <p:sldId id="330" r:id="rId11"/>
    <p:sldId id="329" r:id="rId12"/>
    <p:sldId id="328" r:id="rId13"/>
    <p:sldId id="327" r:id="rId14"/>
    <p:sldId id="2147471718" r:id="rId15"/>
    <p:sldId id="2147471719" r:id="rId16"/>
    <p:sldId id="2147471720" r:id="rId17"/>
    <p:sldId id="2147479404" r:id="rId18"/>
    <p:sldId id="2147479406" r:id="rId19"/>
    <p:sldId id="314" r:id="rId20"/>
    <p:sldId id="292" r:id="rId21"/>
    <p:sldId id="284" r:id="rId22"/>
    <p:sldId id="285"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8C0B00-017C-20A6-9458-344ED394DBA9}" name="Shifa Redmond (US)" initials="" userId="S::shifa.r.redmond@pwc.com::68370f3e-6c23-4943-a4d2-06cb360c246e" providerId="AD"/>
  <p188:author id="{47DCCD06-5AE8-1D81-CFA9-0A187D2C9977}" name="Jarrod Sullivan (US)" initials="J(" userId="S::jarrod.d.sullivan@pwc.com::560a88e7-ba46-4912-9e87-ef9f3d564636" providerId="AD"/>
  <p188:author id="{6C920E11-B945-51AC-7E9E-C79FAEFCAAFB}" name="Amy Weissler (US)" initials="" userId="S::amy.a.weissler@pwc.com::fca708b9-145c-4f9e-9370-a39f7b0f4dc1" providerId="AD"/>
  <p188:author id="{EDDD641E-A4BE-2A12-9283-6EBF7E476C08}" name="Monika Vesela (CZ)" initials="MV(" userId="S::monika.vesela@pwc.com::c95f48f4-195e-4d9a-afa9-da90de6403f7" providerId="AD"/>
  <p188:author id="{9C83CB2A-D817-95EC-65FE-B80AE8F1CA35}" name="Angie Fiore (US)" initials="A(" userId="S::angela.d.fiore@pwc.com::04b6baf1-b833-4d9f-b843-9b9ee067a7c3" providerId="AD"/>
  <p188:author id="{BBC4E02A-5A84-086C-AE19-01844E5838EE}" name="Giselle Kolkoto (ZA)" initials="G(" userId="S::giselle.kolkoto@pwc.com::4dc6c8da-c291-438d-94e8-a8c1460bda11" providerId="AD"/>
  <p188:author id="{16DDA839-3071-41FE-2B3F-1A02B3B7FE4C}" name="Jessica Veith (UK)" initials="J(" userId="S::jessica.c.veith@pwc.com::df60fb55-bd6b-45b5-a410-b6af3c47904e" providerId="AD"/>
  <p188:author id="{8F25DC49-0DCE-BDBA-C876-74DCA066ADBB}" name="Catherine Pinchen (UK)" initials="C(" userId="S::catherine.pinchen@pwc.com::1b40acb8-3595-4e5a-874e-a41cbd097041" providerId="AD"/>
  <p188:author id="{E8CF044F-75AB-C1AD-113A-C040E2B895AD}" name="Emitom Hillsman (US)" initials="E(" userId="S::emitom.a.hillsman@pwc.com::d1af1e42-3d21-4865-9492-7b52ef72bad8" providerId="AD"/>
  <p188:author id="{81C5AB6A-8C82-7B16-EF64-ADEBCB9C2E45}" name="Barbara Slepaczuk (PL)" initials="BS" userId="S::barbara.slepaczuk@pwc.com::926710e9-8eb9-470e-b6ce-b08877f0728e" providerId="AD"/>
  <p188:author id="{DF4F1B6D-9E03-C6A7-CBD9-604F8A86C4A9}" name="Kelly Bailey (US)" initials="KB" userId="S::kelly.l.bailey@pwc.com::878131dc-1b22-4595-b7a4-85c2e472ef0c" providerId="AD"/>
  <p188:author id="{E4689587-3A02-D816-BE22-CAC902794B47}" name="Aoife Flood (IE)" initials="A(" userId="S::aoife.flood@pwc.com::a2680a46-a6e6-4223-b865-ccb7ff1e8b7d" providerId="AD"/>
  <p188:author id="{E71C788B-D54A-B4E8-94C3-CF4EC063A2F6}" name="Daria Zarubina (UK)" initials="D(" userId="S::daria.x.zarubina@pwc.com::e88f5a40-552d-45b3-b33e-a310d9083cd6" providerId="AD"/>
  <p188:author id="{2FC4E291-3443-D3FE-67EB-7F6A76CE76DC}" name="Kathryn Kavanagh (US)" initials="" userId="S::kathryn.f.kavanagh@pwc.com::dd43e0bc-860a-4cd1-84ea-2a8348f94eac" providerId="AD"/>
  <p188:author id="{874468C4-6347-ABB2-00A2-987B6384C103}" name="Aigerim Seitkali (KZ)" initials="AS" userId="S::aigerim.seitkali@pwc.com::0ee0fdb9-32a2-404f-981e-33ec43c023ac" providerId="AD"/>
  <p188:author id="{E2632FE4-E371-3C8C-845B-E2A474695A78}" name="Lynda Wiggins (UK)" initials="" userId="S::lynda.wiggins@pwc.com::23b3381d-fb85-4154-a47d-7f0f77cec1ae" providerId="AD"/>
  <p188:author id="{5154E3F0-3C4F-4332-4BED-7D0E6CA9C5E9}" name="Ally McAleese (US)" initials="AM" userId="S::ally.mcaleese@pwc.com::958ff1bd-17b5-457d-816c-9f93ec95f6ee" providerId="AD"/>
  <p188:author id="{93F888F9-C981-313A-8F14-029CCA87CDFA}" name="Beth Czechanski (US)" initials="" userId="S::elizabeth.czechanski@pwc.com::5dd5bf71-5f2e-49ed-8a38-1f08bb7d0c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FF1"/>
    <a:srgbClr val="FFE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1B4BF7-0BA6-4D06-956F-4436FC22DB45}" v="7" dt="2026-09-02T14:21:21.0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13" autoAdjust="0"/>
    <p:restoredTop sz="94404" autoAdjust="0"/>
  </p:normalViewPr>
  <p:slideViewPr>
    <p:cSldViewPr snapToGrid="0">
      <p:cViewPr varScale="1">
        <p:scale>
          <a:sx n="74" d="100"/>
          <a:sy n="74" d="100"/>
        </p:scale>
        <p:origin x="3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customXml" Target="../customXml/item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gerim Seitkali (KZ)" userId="0ee0fdb9-32a2-404f-981e-33ec43c023ac" providerId="ADAL" clId="{6DC37B1F-D284-4033-B34F-31D5FE082355}"/>
    <pc:docChg chg="undo custSel addSld delSld modSld sldOrd delMainMaster addSection delSection modSection">
      <pc:chgData name="Aigerim Seitkali (KZ)" userId="0ee0fdb9-32a2-404f-981e-33ec43c023ac" providerId="ADAL" clId="{6DC37B1F-D284-4033-B34F-31D5FE082355}" dt="2026-09-02T14:22:08.989" v="2058" actId="20577"/>
      <pc:docMkLst>
        <pc:docMk/>
      </pc:docMkLst>
      <pc:sldChg chg="modSp mod">
        <pc:chgData name="Aigerim Seitkali (KZ)" userId="0ee0fdb9-32a2-404f-981e-33ec43c023ac" providerId="ADAL" clId="{6DC37B1F-D284-4033-B34F-31D5FE082355}" dt="2026-09-02T14:22:08.989" v="2058" actId="20577"/>
        <pc:sldMkLst>
          <pc:docMk/>
          <pc:sldMk cId="0" sldId="256"/>
        </pc:sldMkLst>
        <pc:spChg chg="mod">
          <ac:chgData name="Aigerim Seitkali (KZ)" userId="0ee0fdb9-32a2-404f-981e-33ec43c023ac" providerId="ADAL" clId="{6DC37B1F-D284-4033-B34F-31D5FE082355}" dt="2026-09-02T14:22:08.989" v="2058" actId="20577"/>
          <ac:spMkLst>
            <pc:docMk/>
            <pc:sldMk cId="0" sldId="256"/>
            <ac:spMk id="302" creationId="{00000000-0000-0000-0000-000000000000}"/>
          </ac:spMkLst>
        </pc:spChg>
      </pc:sldChg>
      <pc:sldChg chg="modSp mod">
        <pc:chgData name="Aigerim Seitkali (KZ)" userId="0ee0fdb9-32a2-404f-981e-33ec43c023ac" providerId="ADAL" clId="{6DC37B1F-D284-4033-B34F-31D5FE082355}" dt="2026-09-02T13:33:04.932" v="1898" actId="20577"/>
        <pc:sldMkLst>
          <pc:docMk/>
          <pc:sldMk cId="2950437577" sldId="328"/>
        </pc:sldMkLst>
        <pc:spChg chg="mod">
          <ac:chgData name="Aigerim Seitkali (KZ)" userId="0ee0fdb9-32a2-404f-981e-33ec43c023ac" providerId="ADAL" clId="{6DC37B1F-D284-4033-B34F-31D5FE082355}" dt="2026-09-02T13:33:04.932" v="1898" actId="20577"/>
          <ac:spMkLst>
            <pc:docMk/>
            <pc:sldMk cId="2950437577" sldId="328"/>
            <ac:spMk id="457" creationId="{E59A5179-AC24-3641-B92F-A4122C206AA9}"/>
          </ac:spMkLst>
        </pc:spChg>
      </pc:sldChg>
      <pc:sldChg chg="addSp delSp modSp mod">
        <pc:chgData name="Aigerim Seitkali (KZ)" userId="0ee0fdb9-32a2-404f-981e-33ec43c023ac" providerId="ADAL" clId="{6DC37B1F-D284-4033-B34F-31D5FE082355}" dt="2026-09-02T13:32:27.682" v="1857" actId="1076"/>
        <pc:sldMkLst>
          <pc:docMk/>
          <pc:sldMk cId="1999521147" sldId="329"/>
        </pc:sldMkLst>
        <pc:spChg chg="add mod">
          <ac:chgData name="Aigerim Seitkali (KZ)" userId="0ee0fdb9-32a2-404f-981e-33ec43c023ac" providerId="ADAL" clId="{6DC37B1F-D284-4033-B34F-31D5FE082355}" dt="2026-09-02T13:32:11.980" v="1819" actId="1035"/>
          <ac:spMkLst>
            <pc:docMk/>
            <pc:sldMk cId="1999521147" sldId="329"/>
            <ac:spMk id="5" creationId="{D32300B8-D3A9-4EFB-57A4-4E14F9D5F18A}"/>
          </ac:spMkLst>
        </pc:spChg>
        <pc:spChg chg="del">
          <ac:chgData name="Aigerim Seitkali (KZ)" userId="0ee0fdb9-32a2-404f-981e-33ec43c023ac" providerId="ADAL" clId="{6DC37B1F-D284-4033-B34F-31D5FE082355}" dt="2026-09-02T13:31:41.529" v="1759" actId="478"/>
          <ac:spMkLst>
            <pc:docMk/>
            <pc:sldMk cId="1999521147" sldId="329"/>
            <ac:spMk id="434" creationId="{FB1837B0-30D6-5747-7421-1EF53F126078}"/>
          </ac:spMkLst>
        </pc:spChg>
        <pc:spChg chg="del">
          <ac:chgData name="Aigerim Seitkali (KZ)" userId="0ee0fdb9-32a2-404f-981e-33ec43c023ac" providerId="ADAL" clId="{6DC37B1F-D284-4033-B34F-31D5FE082355}" dt="2026-09-02T13:31:53.977" v="1762" actId="478"/>
          <ac:spMkLst>
            <pc:docMk/>
            <pc:sldMk cId="1999521147" sldId="329"/>
            <ac:spMk id="436" creationId="{3D76487E-822C-07B4-C463-A644BD2B7707}"/>
          </ac:spMkLst>
        </pc:spChg>
        <pc:spChg chg="del">
          <ac:chgData name="Aigerim Seitkali (KZ)" userId="0ee0fdb9-32a2-404f-981e-33ec43c023ac" providerId="ADAL" clId="{6DC37B1F-D284-4033-B34F-31D5FE082355}" dt="2026-09-02T13:31:50.218" v="1761" actId="478"/>
          <ac:spMkLst>
            <pc:docMk/>
            <pc:sldMk cId="1999521147" sldId="329"/>
            <ac:spMk id="440" creationId="{5EBD7E12-37C0-A4B1-D765-0CCEFBCBA080}"/>
          </ac:spMkLst>
        </pc:spChg>
        <pc:spChg chg="mod">
          <ac:chgData name="Aigerim Seitkali (KZ)" userId="0ee0fdb9-32a2-404f-981e-33ec43c023ac" providerId="ADAL" clId="{6DC37B1F-D284-4033-B34F-31D5FE082355}" dt="2026-09-02T13:32:02.495" v="1788" actId="1036"/>
          <ac:spMkLst>
            <pc:docMk/>
            <pc:sldMk cId="1999521147" sldId="329"/>
            <ac:spMk id="441" creationId="{9F6C5495-D992-6D4E-A377-6EF7939423FB}"/>
          </ac:spMkLst>
        </pc:spChg>
        <pc:picChg chg="add mod">
          <ac:chgData name="Aigerim Seitkali (KZ)" userId="0ee0fdb9-32a2-404f-981e-33ec43c023ac" providerId="ADAL" clId="{6DC37B1F-D284-4033-B34F-31D5FE082355}" dt="2026-09-02T13:32:27.682" v="1857" actId="1076"/>
          <ac:picMkLst>
            <pc:docMk/>
            <pc:sldMk cId="1999521147" sldId="329"/>
            <ac:picMk id="3" creationId="{BE784C6A-AD22-53C4-EF7A-CE7C4038B182}"/>
          </ac:picMkLst>
        </pc:picChg>
        <pc:picChg chg="del">
          <ac:chgData name="Aigerim Seitkali (KZ)" userId="0ee0fdb9-32a2-404f-981e-33ec43c023ac" providerId="ADAL" clId="{6DC37B1F-D284-4033-B34F-31D5FE082355}" dt="2026-09-02T13:31:48.358" v="1760" actId="478"/>
          <ac:picMkLst>
            <pc:docMk/>
            <pc:sldMk cId="1999521147" sldId="329"/>
            <ac:picMk id="433" creationId="{F45DEDA0-B219-D2A6-F685-E81EA4334DB9}"/>
          </ac:picMkLst>
        </pc:picChg>
        <pc:picChg chg="del">
          <ac:chgData name="Aigerim Seitkali (KZ)" userId="0ee0fdb9-32a2-404f-981e-33ec43c023ac" providerId="ADAL" clId="{6DC37B1F-D284-4033-B34F-31D5FE082355}" dt="2026-09-02T13:31:55.645" v="1763" actId="478"/>
          <ac:picMkLst>
            <pc:docMk/>
            <pc:sldMk cId="1999521147" sldId="329"/>
            <ac:picMk id="435" creationId="{F6A2A71A-57BA-F167-7C86-EC129CE6C619}"/>
          </ac:picMkLst>
        </pc:picChg>
        <pc:picChg chg="mod">
          <ac:chgData name="Aigerim Seitkali (KZ)" userId="0ee0fdb9-32a2-404f-981e-33ec43c023ac" providerId="ADAL" clId="{6DC37B1F-D284-4033-B34F-31D5FE082355}" dt="2026-09-02T13:32:15.475" v="1837" actId="1036"/>
          <ac:picMkLst>
            <pc:docMk/>
            <pc:sldMk cId="1999521147" sldId="329"/>
            <ac:picMk id="438" creationId="{53D7D9F3-FFA8-7E4D-016D-E3A7C484CF5A}"/>
          </ac:picMkLst>
        </pc:picChg>
        <pc:picChg chg="mod">
          <ac:chgData name="Aigerim Seitkali (KZ)" userId="0ee0fdb9-32a2-404f-981e-33ec43c023ac" providerId="ADAL" clId="{6DC37B1F-D284-4033-B34F-31D5FE082355}" dt="2026-09-02T13:32:18.878" v="1855" actId="1036"/>
          <ac:picMkLst>
            <pc:docMk/>
            <pc:sldMk cId="1999521147" sldId="329"/>
            <ac:picMk id="439" creationId="{B2A24789-D0D4-4C59-F158-FB52D0D94CC5}"/>
          </ac:picMkLst>
        </pc:picChg>
      </pc:sldChg>
      <pc:sldChg chg="delSp modSp mod">
        <pc:chgData name="Aigerim Seitkali (KZ)" userId="0ee0fdb9-32a2-404f-981e-33ec43c023ac" providerId="ADAL" clId="{6DC37B1F-D284-4033-B34F-31D5FE082355}" dt="2026-09-02T13:32:36.832" v="1860" actId="478"/>
        <pc:sldMkLst>
          <pc:docMk/>
          <pc:sldMk cId="1103300534" sldId="330"/>
        </pc:sldMkLst>
        <pc:spChg chg="del mod">
          <ac:chgData name="Aigerim Seitkali (KZ)" userId="0ee0fdb9-32a2-404f-981e-33ec43c023ac" providerId="ADAL" clId="{6DC37B1F-D284-4033-B34F-31D5FE082355}" dt="2026-09-02T13:32:35.289" v="1859" actId="478"/>
          <ac:spMkLst>
            <pc:docMk/>
            <pc:sldMk cId="1103300534" sldId="330"/>
            <ac:spMk id="421" creationId="{56BC1ED1-616A-C668-70DD-2F5FA7E5560C}"/>
          </ac:spMkLst>
        </pc:spChg>
        <pc:picChg chg="del">
          <ac:chgData name="Aigerim Seitkali (KZ)" userId="0ee0fdb9-32a2-404f-981e-33ec43c023ac" providerId="ADAL" clId="{6DC37B1F-D284-4033-B34F-31D5FE082355}" dt="2026-09-02T13:32:36.832" v="1860" actId="478"/>
          <ac:picMkLst>
            <pc:docMk/>
            <pc:sldMk cId="1103300534" sldId="330"/>
            <ac:picMk id="420" creationId="{931F912C-54C9-0608-DA22-3972F1EC9C50}"/>
          </ac:picMkLst>
        </pc:picChg>
      </pc:sldChg>
      <pc:sldChg chg="addSp delSp modSp mod ord delAnim">
        <pc:chgData name="Aigerim Seitkali (KZ)" userId="0ee0fdb9-32a2-404f-981e-33ec43c023ac" providerId="ADAL" clId="{6DC37B1F-D284-4033-B34F-31D5FE082355}" dt="2026-09-02T13:26:38.748" v="1756"/>
        <pc:sldMkLst>
          <pc:docMk/>
          <pc:sldMk cId="3355502796" sldId="2147471717"/>
        </pc:sldMkLst>
        <pc:spChg chg="del mod">
          <ac:chgData name="Aigerim Seitkali (KZ)" userId="0ee0fdb9-32a2-404f-981e-33ec43c023ac" providerId="ADAL" clId="{6DC37B1F-D284-4033-B34F-31D5FE082355}" dt="2026-09-02T13:25:02.050" v="1755" actId="478"/>
          <ac:spMkLst>
            <pc:docMk/>
            <pc:sldMk cId="3355502796" sldId="2147471717"/>
            <ac:spMk id="5" creationId="{53BFAB40-8E11-BB18-940C-7129D448D672}"/>
          </ac:spMkLst>
        </pc:spChg>
        <pc:spChg chg="mod">
          <ac:chgData name="Aigerim Seitkali (KZ)" userId="0ee0fdb9-32a2-404f-981e-33ec43c023ac" providerId="ADAL" clId="{6DC37B1F-D284-4033-B34F-31D5FE082355}" dt="2026-09-02T13:26:38.748" v="1756"/>
          <ac:spMkLst>
            <pc:docMk/>
            <pc:sldMk cId="3355502796" sldId="2147471717"/>
            <ac:spMk id="9" creationId="{F9AAFE92-A930-2C7E-C340-EA2CCB307B56}"/>
          </ac:spMkLst>
        </pc:spChg>
        <pc:picChg chg="del">
          <ac:chgData name="Aigerim Seitkali (KZ)" userId="0ee0fdb9-32a2-404f-981e-33ec43c023ac" providerId="ADAL" clId="{6DC37B1F-D284-4033-B34F-31D5FE082355}" dt="2026-09-02T13:22:51.688" v="1745" actId="478"/>
          <ac:picMkLst>
            <pc:docMk/>
            <pc:sldMk cId="3355502796" sldId="2147471717"/>
            <ac:picMk id="8" creationId="{EA82D318-C774-A35C-C833-55B5063C07FF}"/>
          </ac:picMkLst>
        </pc:picChg>
        <pc:picChg chg="add mod">
          <ac:chgData name="Aigerim Seitkali (KZ)" userId="0ee0fdb9-32a2-404f-981e-33ec43c023ac" providerId="ADAL" clId="{6DC37B1F-D284-4033-B34F-31D5FE082355}" dt="2026-09-02T13:24:02.699" v="1753" actId="1076"/>
          <ac:picMkLst>
            <pc:docMk/>
            <pc:sldMk cId="3355502796" sldId="2147471717"/>
            <ac:picMk id="12" creationId="{26872FC3-AA39-5E02-312C-0D3DFBFE328C}"/>
          </ac:picMkLst>
        </pc:picChg>
      </pc:sldChg>
      <pc:sldChg chg="add del">
        <pc:chgData name="Aigerim Seitkali (KZ)" userId="0ee0fdb9-32a2-404f-981e-33ec43c023ac" providerId="ADAL" clId="{6DC37B1F-D284-4033-B34F-31D5FE082355}" dt="2026-09-02T13:50:07.725" v="1901" actId="47"/>
        <pc:sldMkLst>
          <pc:docMk/>
          <pc:sldMk cId="2428835930" sldId="2147471720"/>
        </pc:sldMkLst>
      </pc:sldChg>
      <pc:sldChg chg="ord">
        <pc:chgData name="Aigerim Seitkali (KZ)" userId="0ee0fdb9-32a2-404f-981e-33ec43c023ac" providerId="ADAL" clId="{6DC37B1F-D284-4033-B34F-31D5FE082355}" dt="2026-09-02T13:26:57.084" v="1758"/>
        <pc:sldMkLst>
          <pc:docMk/>
          <pc:sldMk cId="3253045851" sldId="2147479403"/>
        </pc:sldMkLst>
      </pc:sldChg>
      <pc:sldChg chg="modSp new mod">
        <pc:chgData name="Aigerim Seitkali (KZ)" userId="0ee0fdb9-32a2-404f-981e-33ec43c023ac" providerId="ADAL" clId="{6DC37B1F-D284-4033-B34F-31D5FE082355}" dt="2026-08-26T09:51:17.310" v="1689"/>
        <pc:sldMkLst>
          <pc:docMk/>
          <pc:sldMk cId="1188518854" sldId="2147479404"/>
        </pc:sldMkLst>
        <pc:spChg chg="mod">
          <ac:chgData name="Aigerim Seitkali (KZ)" userId="0ee0fdb9-32a2-404f-981e-33ec43c023ac" providerId="ADAL" clId="{6DC37B1F-D284-4033-B34F-31D5FE082355}" dt="2026-08-26T09:51:17.310" v="1689"/>
          <ac:spMkLst>
            <pc:docMk/>
            <pc:sldMk cId="1188518854" sldId="2147479404"/>
            <ac:spMk id="3" creationId="{038BD121-F241-22A3-7F28-3E2CE14C5BD3}"/>
          </ac:spMkLst>
        </pc:spChg>
        <pc:spChg chg="mod">
          <ac:chgData name="Aigerim Seitkali (KZ)" userId="0ee0fdb9-32a2-404f-981e-33ec43c023ac" providerId="ADAL" clId="{6DC37B1F-D284-4033-B34F-31D5FE082355}" dt="2026-08-26T09:50:18.495" v="1688" actId="20577"/>
          <ac:spMkLst>
            <pc:docMk/>
            <pc:sldMk cId="1188518854" sldId="2147479404"/>
            <ac:spMk id="6" creationId="{6261387B-C945-CB49-0974-CFCEC05957C8}"/>
          </ac:spMkLst>
        </pc:spChg>
      </pc:sldChg>
      <pc:sldChg chg="modSp new del mod ord">
        <pc:chgData name="Aigerim Seitkali (KZ)" userId="0ee0fdb9-32a2-404f-981e-33ec43c023ac" providerId="ADAL" clId="{6DC37B1F-D284-4033-B34F-31D5FE082355}" dt="2026-09-02T14:18:54.803" v="1999" actId="47"/>
        <pc:sldMkLst>
          <pc:docMk/>
          <pc:sldMk cId="3863285399" sldId="2147479405"/>
        </pc:sldMkLst>
        <pc:spChg chg="mod">
          <ac:chgData name="Aigerim Seitkali (KZ)" userId="0ee0fdb9-32a2-404f-981e-33ec43c023ac" providerId="ADAL" clId="{6DC37B1F-D284-4033-B34F-31D5FE082355}" dt="2026-09-02T14:18:34.362" v="1993" actId="21"/>
          <ac:spMkLst>
            <pc:docMk/>
            <pc:sldMk cId="3863285399" sldId="2147479405"/>
            <ac:spMk id="3" creationId="{F4CA4E00-A93E-7583-C18E-9CD9D3BBE242}"/>
          </ac:spMkLst>
        </pc:spChg>
      </pc:sldChg>
      <pc:sldChg chg="modSp add mod">
        <pc:chgData name="Aigerim Seitkali (KZ)" userId="0ee0fdb9-32a2-404f-981e-33ec43c023ac" providerId="ADAL" clId="{6DC37B1F-D284-4033-B34F-31D5FE082355}" dt="2026-09-02T14:06:51.707" v="1907"/>
        <pc:sldMkLst>
          <pc:docMk/>
          <pc:sldMk cId="2144498413" sldId="2147479406"/>
        </pc:sldMkLst>
        <pc:spChg chg="mod">
          <ac:chgData name="Aigerim Seitkali (KZ)" userId="0ee0fdb9-32a2-404f-981e-33ec43c023ac" providerId="ADAL" clId="{6DC37B1F-D284-4033-B34F-31D5FE082355}" dt="2026-09-02T14:06:51.707" v="1907"/>
          <ac:spMkLst>
            <pc:docMk/>
            <pc:sldMk cId="2144498413" sldId="2147479406"/>
            <ac:spMk id="3" creationId="{A265AF28-0D2D-DAA6-46B3-9C56CCCC19BA}"/>
          </ac:spMkLst>
        </pc:spChg>
      </pc:sldChg>
      <pc:sldMasterChg chg="delSldLayout">
        <pc:chgData name="Aigerim Seitkali (KZ)" userId="0ee0fdb9-32a2-404f-981e-33ec43c023ac" providerId="ADAL" clId="{6DC37B1F-D284-4033-B34F-31D5FE082355}" dt="2026-08-26T09:48:53.069" v="1679" actId="47"/>
        <pc:sldMasterMkLst>
          <pc:docMk/>
          <pc:sldMasterMk cId="2059310726" sldId="2147483882"/>
        </pc:sldMasterMkLst>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5T09:40:46.346"/>
    </inkml:context>
    <inkml:brush xml:id="br0">
      <inkml:brushProperty name="width" value="0.05" units="cm"/>
      <inkml:brushProperty name="height" value="0.05" units="cm"/>
    </inkml:brush>
  </inkml:definitions>
  <inkml:trace contextRef="#ctx0" brushRef="#br0">1 0 32767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ffa8a876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ffa8a876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79E9-D9D6-D0B6-901A-4480955A6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27D8D-A565-A7EF-953D-8BB4D3D5D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EFA4AF-1C8B-6392-FF2D-162F6C7730B3}"/>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65FB7900-9CF2-F23E-1338-88791D05FD3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2647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CAE2A-E45F-3B4F-8D4E-3FD3C18BD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8B5EC-4EB5-5F07-1DE2-5179B15B5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89CB80-5DDB-121E-D454-0055B2CE7F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D83372-F254-BD13-5DF6-A454883FED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38F507-FFAD-4585-99E0-9DC17883AD4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a:sym typeface="Arial"/>
            </a:endParaRPr>
          </a:p>
        </p:txBody>
      </p:sp>
    </p:spTree>
    <p:extLst>
      <p:ext uri="{BB962C8B-B14F-4D97-AF65-F5344CB8AC3E}">
        <p14:creationId xmlns:p14="http://schemas.microsoft.com/office/powerpoint/2010/main" val="370116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B37A2-FFD3-808A-1F56-B5BFFB7C4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8BDD6-4E89-BAD6-7C81-B22081D1F7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50CDB-1424-74DA-34CA-A470EC0F65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C58495-C799-DF83-01FF-BDC97BBBA1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38F507-FFAD-4585-99E0-9DC17883AD4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a:sym typeface="Arial"/>
            </a:endParaRPr>
          </a:p>
        </p:txBody>
      </p:sp>
    </p:spTree>
    <p:extLst>
      <p:ext uri="{BB962C8B-B14F-4D97-AF65-F5344CB8AC3E}">
        <p14:creationId xmlns:p14="http://schemas.microsoft.com/office/powerpoint/2010/main" val="2319982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a:extLst>
            <a:ext uri="{FF2B5EF4-FFF2-40B4-BE49-F238E27FC236}">
              <a16:creationId xmlns:a16="http://schemas.microsoft.com/office/drawing/2014/main" id="{54CB7A57-B02A-AAB0-CC82-FD18B6D95A19}"/>
            </a:ext>
          </a:extLst>
        </p:cNvPr>
        <p:cNvGrpSpPr/>
        <p:nvPr/>
      </p:nvGrpSpPr>
      <p:grpSpPr>
        <a:xfrm>
          <a:off x="0" y="0"/>
          <a:ext cx="0" cy="0"/>
          <a:chOff x="0" y="0"/>
          <a:chExt cx="0" cy="0"/>
        </a:xfrm>
      </p:grpSpPr>
      <p:sp>
        <p:nvSpPr>
          <p:cNvPr id="473" name="Google Shape;473;g2fae42364d1_0_2332:notes">
            <a:extLst>
              <a:ext uri="{FF2B5EF4-FFF2-40B4-BE49-F238E27FC236}">
                <a16:creationId xmlns:a16="http://schemas.microsoft.com/office/drawing/2014/main" id="{8902349E-7460-C14B-8DB8-0FA917EF3E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2fae42364d1_0_2332:notes">
            <a:extLst>
              <a:ext uri="{FF2B5EF4-FFF2-40B4-BE49-F238E27FC236}">
                <a16:creationId xmlns:a16="http://schemas.microsoft.com/office/drawing/2014/main" id="{5B418FC8-1AAB-BFA1-B31B-5D798D1098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6999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a:extLst>
            <a:ext uri="{FF2B5EF4-FFF2-40B4-BE49-F238E27FC236}">
              <a16:creationId xmlns:a16="http://schemas.microsoft.com/office/drawing/2014/main" id="{BDC923DF-A9A4-813C-8CC9-A5E16B5D835C}"/>
            </a:ext>
          </a:extLst>
        </p:cNvPr>
        <p:cNvGrpSpPr/>
        <p:nvPr/>
      </p:nvGrpSpPr>
      <p:grpSpPr>
        <a:xfrm>
          <a:off x="0" y="0"/>
          <a:ext cx="0" cy="0"/>
          <a:chOff x="0" y="0"/>
          <a:chExt cx="0" cy="0"/>
        </a:xfrm>
      </p:grpSpPr>
      <p:sp>
        <p:nvSpPr>
          <p:cNvPr id="518" name="Google Shape;518;g2fae42364d1_0_2376:notes">
            <a:extLst>
              <a:ext uri="{FF2B5EF4-FFF2-40B4-BE49-F238E27FC236}">
                <a16:creationId xmlns:a16="http://schemas.microsoft.com/office/drawing/2014/main" id="{01581854-AB1E-C54A-2BBF-68EF828FF1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2fae42364d1_0_2376:notes">
            <a:extLst>
              <a:ext uri="{FF2B5EF4-FFF2-40B4-BE49-F238E27FC236}">
                <a16:creationId xmlns:a16="http://schemas.microsoft.com/office/drawing/2014/main" id="{8F51C2FB-08F0-C51B-76BF-A757915F33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3552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a:extLst>
            <a:ext uri="{FF2B5EF4-FFF2-40B4-BE49-F238E27FC236}">
              <a16:creationId xmlns:a16="http://schemas.microsoft.com/office/drawing/2014/main" id="{E273F13E-F38B-5608-9090-E8EA183E0CA1}"/>
            </a:ext>
          </a:extLst>
        </p:cNvPr>
        <p:cNvGrpSpPr/>
        <p:nvPr/>
      </p:nvGrpSpPr>
      <p:grpSpPr>
        <a:xfrm>
          <a:off x="0" y="0"/>
          <a:ext cx="0" cy="0"/>
          <a:chOff x="0" y="0"/>
          <a:chExt cx="0" cy="0"/>
        </a:xfrm>
      </p:grpSpPr>
      <p:sp>
        <p:nvSpPr>
          <p:cNvPr id="416" name="Google Shape;416;g2fae42364d1_0_2141:notes">
            <a:extLst>
              <a:ext uri="{FF2B5EF4-FFF2-40B4-BE49-F238E27FC236}">
                <a16:creationId xmlns:a16="http://schemas.microsoft.com/office/drawing/2014/main" id="{FF2C1657-6678-9EA0-8394-73F26D835C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2fae42364d1_0_2141:notes">
            <a:extLst>
              <a:ext uri="{FF2B5EF4-FFF2-40B4-BE49-F238E27FC236}">
                <a16:creationId xmlns:a16="http://schemas.microsoft.com/office/drawing/2014/main" id="{49C390CB-F3D6-F7E0-D465-9C29E277A3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r>
              <a:rPr lang="en-US" dirty="0"/>
              <a:t>Again, before changing direction, before any assignment roles and responsibilities should be discussed and agreed </a:t>
            </a:r>
            <a:endParaRPr dirty="0"/>
          </a:p>
        </p:txBody>
      </p:sp>
    </p:spTree>
    <p:extLst>
      <p:ext uri="{BB962C8B-B14F-4D97-AF65-F5344CB8AC3E}">
        <p14:creationId xmlns:p14="http://schemas.microsoft.com/office/powerpoint/2010/main" val="913195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a:extLst>
            <a:ext uri="{FF2B5EF4-FFF2-40B4-BE49-F238E27FC236}">
              <a16:creationId xmlns:a16="http://schemas.microsoft.com/office/drawing/2014/main" id="{D6DE0E16-3693-A124-A0F5-3621F15D5CEC}"/>
            </a:ext>
          </a:extLst>
        </p:cNvPr>
        <p:cNvGrpSpPr/>
        <p:nvPr/>
      </p:nvGrpSpPr>
      <p:grpSpPr>
        <a:xfrm>
          <a:off x="0" y="0"/>
          <a:ext cx="0" cy="0"/>
          <a:chOff x="0" y="0"/>
          <a:chExt cx="0" cy="0"/>
        </a:xfrm>
      </p:grpSpPr>
      <p:sp>
        <p:nvSpPr>
          <p:cNvPr id="430" name="Google Shape;430;g2fae42364d1_0_2154:notes">
            <a:extLst>
              <a:ext uri="{FF2B5EF4-FFF2-40B4-BE49-F238E27FC236}">
                <a16:creationId xmlns:a16="http://schemas.microsoft.com/office/drawing/2014/main" id="{F33D8794-1BBE-FD5E-EB06-7D11D0AED6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2fae42364d1_0_2154:notes">
            <a:extLst>
              <a:ext uri="{FF2B5EF4-FFF2-40B4-BE49-F238E27FC236}">
                <a16:creationId xmlns:a16="http://schemas.microsoft.com/office/drawing/2014/main" id="{E89C17B4-1AAE-5763-0BE5-810B625E3B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2914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a:extLst>
            <a:ext uri="{FF2B5EF4-FFF2-40B4-BE49-F238E27FC236}">
              <a16:creationId xmlns:a16="http://schemas.microsoft.com/office/drawing/2014/main" id="{85DD1C51-CD88-22CD-A555-9BD8F2D6ED08}"/>
            </a:ext>
          </a:extLst>
        </p:cNvPr>
        <p:cNvGrpSpPr/>
        <p:nvPr/>
      </p:nvGrpSpPr>
      <p:grpSpPr>
        <a:xfrm>
          <a:off x="0" y="0"/>
          <a:ext cx="0" cy="0"/>
          <a:chOff x="0" y="0"/>
          <a:chExt cx="0" cy="0"/>
        </a:xfrm>
      </p:grpSpPr>
      <p:sp>
        <p:nvSpPr>
          <p:cNvPr id="445" name="Google Shape;445;g2fae42364d1_0_2168:notes">
            <a:extLst>
              <a:ext uri="{FF2B5EF4-FFF2-40B4-BE49-F238E27FC236}">
                <a16:creationId xmlns:a16="http://schemas.microsoft.com/office/drawing/2014/main" id="{6D7A833E-12A9-C8EF-C1EE-5A82129FAA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2fae42364d1_0_2168:notes">
            <a:extLst>
              <a:ext uri="{FF2B5EF4-FFF2-40B4-BE49-F238E27FC236}">
                <a16:creationId xmlns:a16="http://schemas.microsoft.com/office/drawing/2014/main" id="{81CB78AD-BE00-AC56-9308-F97CF440AD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3419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a:extLst>
            <a:ext uri="{FF2B5EF4-FFF2-40B4-BE49-F238E27FC236}">
              <a16:creationId xmlns:a16="http://schemas.microsoft.com/office/drawing/2014/main" id="{818AE70E-33F3-4BCE-F6BD-C97F9B6B72AE}"/>
            </a:ext>
          </a:extLst>
        </p:cNvPr>
        <p:cNvGrpSpPr/>
        <p:nvPr/>
      </p:nvGrpSpPr>
      <p:grpSpPr>
        <a:xfrm>
          <a:off x="0" y="0"/>
          <a:ext cx="0" cy="0"/>
          <a:chOff x="0" y="0"/>
          <a:chExt cx="0" cy="0"/>
        </a:xfrm>
      </p:grpSpPr>
      <p:sp>
        <p:nvSpPr>
          <p:cNvPr id="462" name="Google Shape;462;g2fae42364d1_0_2184:notes">
            <a:extLst>
              <a:ext uri="{FF2B5EF4-FFF2-40B4-BE49-F238E27FC236}">
                <a16:creationId xmlns:a16="http://schemas.microsoft.com/office/drawing/2014/main" id="{C512B0FD-A66E-22BF-5EC4-F207C5F06F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fae42364d1_0_2184:notes">
            <a:extLst>
              <a:ext uri="{FF2B5EF4-FFF2-40B4-BE49-F238E27FC236}">
                <a16:creationId xmlns:a16="http://schemas.microsoft.com/office/drawing/2014/main" id="{ED23A798-4716-CA46-03D4-5455B7268C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3250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81914-54DD-D348-18D9-5AD197D52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07EC4-F149-E7CF-C991-600B732F3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289EE9-1370-7A74-54D7-FF699C03D27E}"/>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92A0B17D-96CA-DB79-ADE1-D77393729BD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61614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97C68-A37C-FDA1-8A98-77662429A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9E124-B6DD-FCAD-FD09-09ED598A8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07BFD-0D22-A095-81D8-E2CA052DA023}"/>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679FFF13-3BA6-C2B6-5A72-091FA53E2D2B}"/>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02008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A4776-1A40-3C9D-2650-279C6FD68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2C1E5-5833-A91B-FDC5-73C445A30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F3BBDB-C778-8D17-9B7C-899D38551588}"/>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46F5D2E1-4D5F-AA93-BF30-02A79611BA6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44207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2">
          <a:extLst>
            <a:ext uri="{FF2B5EF4-FFF2-40B4-BE49-F238E27FC236}">
              <a16:creationId xmlns:a16="http://schemas.microsoft.com/office/drawing/2014/main" id="{DA02AE81-7D18-9BEF-9423-B7895A43F3B5}"/>
            </a:ext>
          </a:extLst>
        </p:cNvPr>
        <p:cNvGrpSpPr/>
        <p:nvPr/>
      </p:nvGrpSpPr>
      <p:grpSpPr>
        <a:xfrm>
          <a:off x="0" y="0"/>
          <a:ext cx="0" cy="0"/>
          <a:chOff x="0" y="0"/>
          <a:chExt cx="0" cy="0"/>
        </a:xfrm>
      </p:grpSpPr>
      <p:sp>
        <p:nvSpPr>
          <p:cNvPr id="1683" name="Google Shape;1683;p21:notes">
            <a:extLst>
              <a:ext uri="{FF2B5EF4-FFF2-40B4-BE49-F238E27FC236}">
                <a16:creationId xmlns:a16="http://schemas.microsoft.com/office/drawing/2014/main" id="{ABA90978-606E-54E4-9DEE-CCB5A54319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4" name="Google Shape;1684;p21:notes">
            <a:extLst>
              <a:ext uri="{FF2B5EF4-FFF2-40B4-BE49-F238E27FC236}">
                <a16:creationId xmlns:a16="http://schemas.microsoft.com/office/drawing/2014/main" id="{C58E8DF2-A3BA-EF0E-FA15-B8848FD2C7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Clr>
                <a:schemeClr val="dk1"/>
              </a:buClr>
              <a:buSzPts val="1100"/>
              <a:buFont typeface="Arial"/>
              <a:buNone/>
            </a:pPr>
            <a:r>
              <a:rPr lang="en-US"/>
              <a:t>The EEC model provides a straightforward step by step process for giving feedback to others. This process is universal. It can be used with peers, your team leader, team members, and clients equally. The process is not </a:t>
            </a:r>
            <a:r>
              <a:rPr lang="en-US" err="1"/>
              <a:t>judgemental</a:t>
            </a:r>
            <a:r>
              <a:rPr lang="en-US"/>
              <a:t>, but describes </a:t>
            </a:r>
            <a:r>
              <a:rPr lang="en-US" err="1"/>
              <a:t>behaviour</a:t>
            </a:r>
            <a:r>
              <a:rPr lang="en-US"/>
              <a:t> which has had an impact, positive or negative. The EEC process stimulates a real conversation about a person's </a:t>
            </a:r>
            <a:r>
              <a:rPr lang="en-US" err="1"/>
              <a:t>behaviour</a:t>
            </a:r>
            <a:r>
              <a:rPr lang="en-US"/>
              <a:t>, and helps provide clarity about what to keep doing or what that person needs to do differently.</a:t>
            </a:r>
            <a:endParaRPr/>
          </a:p>
          <a:p>
            <a:pPr marL="0" marR="0" lvl="0" indent="0" algn="just" defTabSz="914400" rtl="0" eaLnBrk="1" fontAlgn="auto" latinLnBrk="0" hangingPunct="1">
              <a:lnSpc>
                <a:spcPct val="100000"/>
              </a:lnSpc>
              <a:spcBef>
                <a:spcPts val="0"/>
              </a:spcBef>
              <a:spcAft>
                <a:spcPts val="0"/>
              </a:spcAft>
              <a:buClr>
                <a:schemeClr val="dk1"/>
              </a:buClr>
              <a:buSzPts val="1100"/>
              <a:buFont typeface="Arial"/>
              <a:buNone/>
              <a:tabLst/>
              <a:defRPr/>
            </a:pPr>
            <a:endParaRPr lang="en-US">
              <a:latin typeface="Calibri"/>
              <a:ea typeface="Calibri"/>
              <a:cs typeface="Calibri"/>
              <a:sym typeface="Calibri"/>
            </a:endParaRPr>
          </a:p>
          <a:p>
            <a:pPr marL="0" marR="0" lvl="0" indent="0" algn="just" defTabSz="914400" rtl="0" eaLnBrk="1" fontAlgn="auto" latinLnBrk="0" hangingPunct="1">
              <a:lnSpc>
                <a:spcPct val="100000"/>
              </a:lnSpc>
              <a:spcBef>
                <a:spcPts val="0"/>
              </a:spcBef>
              <a:spcAft>
                <a:spcPts val="0"/>
              </a:spcAft>
              <a:buClr>
                <a:schemeClr val="dk1"/>
              </a:buClr>
              <a:buSzPts val="1100"/>
              <a:buFont typeface="Arial"/>
              <a:buNone/>
              <a:tabLst/>
              <a:defRPr/>
            </a:pPr>
            <a:r>
              <a:rPr lang="en-US">
                <a:latin typeface="Calibri"/>
                <a:ea typeface="Calibri"/>
                <a:cs typeface="Calibri"/>
                <a:sym typeface="Calibri"/>
              </a:rPr>
              <a:t>Describe the context, </a:t>
            </a:r>
            <a:r>
              <a:rPr lang="en-US" sz="1200" b="0" i="0" u="none" strike="noStrike">
                <a:solidFill>
                  <a:srgbClr val="000000"/>
                </a:solidFill>
                <a:effectLst/>
                <a:latin typeface="Arial" panose="020B0604020202020204" pitchFamily="34" charset="0"/>
              </a:rPr>
              <a:t>„I“ talk, avoid generalizations, judgement, </a:t>
            </a:r>
            <a:r>
              <a:rPr lang="en-US" sz="1200" b="0" i="0" u="none" strike="noStrike">
                <a:solidFill>
                  <a:srgbClr val="FFFFFF"/>
                </a:solidFill>
                <a:effectLst/>
                <a:latin typeface="Arial" panose="020B0604020202020204" pitchFamily="34" charset="0"/>
              </a:rPr>
              <a:t>have clarity about your own motives and reasons for giving feedback, Avoid „but” (it’s hidden judgment) - use “and”, check how the feedback was understood and follow up on agreed actions</a:t>
            </a:r>
            <a:endParaRPr lang="en-US">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1685" name="Google Shape;1685;p21:notes">
            <a:extLst>
              <a:ext uri="{FF2B5EF4-FFF2-40B4-BE49-F238E27FC236}">
                <a16:creationId xmlns:a16="http://schemas.microsoft.com/office/drawing/2014/main" id="{A5164631-FE29-CA64-4220-A4739C0E49E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16</a:t>
            </a:fld>
            <a:endParaRPr/>
          </a:p>
        </p:txBody>
      </p:sp>
    </p:spTree>
    <p:extLst>
      <p:ext uri="{BB962C8B-B14F-4D97-AF65-F5344CB8AC3E}">
        <p14:creationId xmlns:p14="http://schemas.microsoft.com/office/powerpoint/2010/main" val="38980860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2"/>
        <p:cNvGrpSpPr/>
        <p:nvPr/>
      </p:nvGrpSpPr>
      <p:grpSpPr>
        <a:xfrm>
          <a:off x="0" y="0"/>
          <a:ext cx="0" cy="0"/>
          <a:chOff x="0" y="0"/>
          <a:chExt cx="0" cy="0"/>
        </a:xfrm>
      </p:grpSpPr>
      <p:sp>
        <p:nvSpPr>
          <p:cNvPr id="1683" name="Google Shape;168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4" name="Google Shape;168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Clr>
                <a:schemeClr val="dk1"/>
              </a:buClr>
              <a:buSzPts val="1100"/>
              <a:buFont typeface="Arial"/>
              <a:buNone/>
            </a:pPr>
            <a:r>
              <a:rPr lang="en-US"/>
              <a:t>The EEC model provides a straightforward step by step process for giving feedback to others. This process is universal. It can be used with peers, your team leader, team members, and clients equally. The process is not judgemental, but describes behaviour which has had an impact, positive or negative. The EEC process stimulates a real conversation about a person's behaviour, and helps provide clarity about what to keep doing or what that person needs to do differently.</a:t>
            </a:r>
            <a:endParaRPr/>
          </a:p>
          <a:p>
            <a:pPr marL="0" lvl="0" indent="0" algn="just" rtl="0">
              <a:lnSpc>
                <a:spcPct val="100000"/>
              </a:lnSpc>
              <a:spcBef>
                <a:spcPts val="0"/>
              </a:spcBef>
              <a:spcAft>
                <a:spcPts val="0"/>
              </a:spcAft>
              <a:buClr>
                <a:schemeClr val="dk1"/>
              </a:buClr>
              <a:buSzPts val="1100"/>
              <a:buFont typeface="Arial"/>
              <a:buNone/>
            </a:pPr>
            <a:endParaRPr/>
          </a:p>
          <a:p>
            <a:pPr marL="0" lvl="0" indent="0" algn="just" rtl="0">
              <a:lnSpc>
                <a:spcPct val="100000"/>
              </a:lnSpc>
              <a:spcBef>
                <a:spcPts val="0"/>
              </a:spcBef>
              <a:spcAft>
                <a:spcPts val="0"/>
              </a:spcAft>
              <a:buClr>
                <a:schemeClr val="dk1"/>
              </a:buClr>
              <a:buSzPts val="1100"/>
              <a:buFont typeface="Arial"/>
              <a:buNone/>
            </a:pPr>
            <a:r>
              <a:rPr lang="en-US"/>
              <a:t>На слайде</a:t>
            </a:r>
            <a:endParaRPr/>
          </a:p>
          <a:p>
            <a:pPr marL="0" lvl="0" indent="0" algn="just" rtl="0">
              <a:lnSpc>
                <a:spcPct val="100000"/>
              </a:lnSpc>
              <a:spcBef>
                <a:spcPts val="0"/>
              </a:spcBef>
              <a:spcAft>
                <a:spcPts val="0"/>
              </a:spcAft>
              <a:buClr>
                <a:schemeClr val="dk1"/>
              </a:buClr>
              <a:buSzPts val="1100"/>
              <a:buFont typeface="Arial"/>
              <a:buNone/>
            </a:pPr>
            <a:r>
              <a:rPr lang="en-US"/>
              <a:t>previous feedback should not impact on current deliverable, </a:t>
            </a:r>
            <a:endParaRPr/>
          </a:p>
          <a:p>
            <a:pPr marL="0" lvl="0" indent="0" algn="l" rtl="0">
              <a:lnSpc>
                <a:spcPct val="100000"/>
              </a:lnSpc>
              <a:spcBef>
                <a:spcPts val="0"/>
              </a:spcBef>
              <a:spcAft>
                <a:spcPts val="0"/>
              </a:spcAft>
              <a:buSzPts val="1400"/>
              <a:buNone/>
            </a:pPr>
            <a:endParaRPr/>
          </a:p>
        </p:txBody>
      </p:sp>
      <p:sp>
        <p:nvSpPr>
          <p:cNvPr id="1685" name="Google Shape;1685;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2cf9b0b21e0_1_3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2cf9b0b21e0_1_3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8" name="Google Shape;1498;g2cf9b0b21e0_1_335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9"/>
        <p:cNvGrpSpPr/>
        <p:nvPr/>
      </p:nvGrpSpPr>
      <p:grpSpPr>
        <a:xfrm>
          <a:off x="0" y="0"/>
          <a:ext cx="0" cy="0"/>
          <a:chOff x="0" y="0"/>
          <a:chExt cx="0" cy="0"/>
        </a:xfrm>
      </p:grpSpPr>
      <p:sp>
        <p:nvSpPr>
          <p:cNvPr id="1510" name="Google Shape;1510;g2cf9b0b21e0_1_3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1" name="Google Shape;1511;g2cf9b0b21e0_1_3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r>
              <a:rPr lang="ru-RU" dirty="0" err="1">
                <a:solidFill>
                  <a:srgbClr val="040C28"/>
                </a:solidFill>
                <a:latin typeface="Google Sans"/>
              </a:rPr>
              <a:t>Milestone</a:t>
            </a:r>
            <a:r>
              <a:rPr lang="ru-RU" dirty="0">
                <a:solidFill>
                  <a:srgbClr val="040C28"/>
                </a:solidFill>
                <a:latin typeface="Google Sans"/>
              </a:rPr>
              <a:t> </a:t>
            </a:r>
            <a:r>
              <a:rPr lang="ru-RU" dirty="0" err="1">
                <a:solidFill>
                  <a:srgbClr val="040C28"/>
                </a:solidFill>
                <a:latin typeface="Google Sans"/>
              </a:rPr>
              <a:t>feedbacks</a:t>
            </a:r>
            <a:r>
              <a:rPr lang="ru-RU" dirty="0">
                <a:solidFill>
                  <a:srgbClr val="040C28"/>
                </a:solidFill>
                <a:latin typeface="Google Sans"/>
              </a:rPr>
              <a:t> </a:t>
            </a:r>
            <a:r>
              <a:rPr lang="ru-RU" dirty="0" err="1">
                <a:solidFill>
                  <a:srgbClr val="040C28"/>
                </a:solidFill>
                <a:latin typeface="Google Sans"/>
              </a:rPr>
              <a:t>for</a:t>
            </a:r>
            <a:r>
              <a:rPr lang="ru-RU" dirty="0">
                <a:solidFill>
                  <a:srgbClr val="040C28"/>
                </a:solidFill>
                <a:latin typeface="Google Sans"/>
              </a:rPr>
              <a:t> </a:t>
            </a:r>
            <a:r>
              <a:rPr lang="ru-RU" dirty="0" err="1">
                <a:solidFill>
                  <a:srgbClr val="040C28"/>
                </a:solidFill>
                <a:latin typeface="Google Sans"/>
              </a:rPr>
              <a:t>long</a:t>
            </a:r>
            <a:r>
              <a:rPr lang="ru-RU" dirty="0">
                <a:solidFill>
                  <a:srgbClr val="040C28"/>
                </a:solidFill>
                <a:latin typeface="Google Sans"/>
              </a:rPr>
              <a:t> </a:t>
            </a:r>
            <a:r>
              <a:rPr lang="ru-RU" dirty="0" err="1">
                <a:solidFill>
                  <a:srgbClr val="040C28"/>
                </a:solidFill>
                <a:latin typeface="Google Sans"/>
              </a:rPr>
              <a:t>projects</a:t>
            </a:r>
            <a:r>
              <a:rPr lang="ru-RU" dirty="0">
                <a:solidFill>
                  <a:srgbClr val="040C28"/>
                </a:solidFill>
                <a:latin typeface="Google Sans"/>
              </a:rPr>
              <a:t> </a:t>
            </a:r>
            <a:r>
              <a:rPr lang="ru-RU" dirty="0" err="1">
                <a:solidFill>
                  <a:srgbClr val="040C28"/>
                </a:solidFill>
                <a:latin typeface="Google Sans"/>
              </a:rPr>
              <a:t>are</a:t>
            </a:r>
            <a:r>
              <a:rPr lang="ru-RU" dirty="0">
                <a:solidFill>
                  <a:srgbClr val="040C28"/>
                </a:solidFill>
                <a:latin typeface="Google Sans"/>
              </a:rPr>
              <a:t> </a:t>
            </a:r>
            <a:r>
              <a:rPr lang="ru-RU" dirty="0" err="1">
                <a:solidFill>
                  <a:srgbClr val="040C28"/>
                </a:solidFill>
                <a:latin typeface="Google Sans"/>
              </a:rPr>
              <a:t>critical</a:t>
            </a:r>
            <a:r>
              <a:rPr lang="ru-RU" dirty="0">
                <a:solidFill>
                  <a:srgbClr val="040C28"/>
                </a:solidFill>
                <a:latin typeface="Google Sans"/>
              </a:rPr>
              <a:t> </a:t>
            </a:r>
          </a:p>
          <a:p>
            <a:pPr marL="0" lvl="0" indent="0" algn="l">
              <a:spcBef>
                <a:spcPts val="0"/>
              </a:spcBef>
              <a:spcAft>
                <a:spcPts val="0"/>
              </a:spcAft>
              <a:buNone/>
            </a:pPr>
            <a:r>
              <a:rPr lang="ru-RU" b="0" i="0" dirty="0">
                <a:solidFill>
                  <a:srgbClr val="040C28"/>
                </a:solidFill>
                <a:effectLst/>
                <a:latin typeface="Google Sans"/>
              </a:rPr>
              <a:t>техническая остановка машины во время гонки для выполнения заправки топливом, смены шин, смены водителей, быстрого ремонта и проверки технического состояния машины</a:t>
            </a:r>
            <a:r>
              <a:rPr lang="ru-RU" b="0" i="0" dirty="0">
                <a:solidFill>
                  <a:srgbClr val="1F1F1F"/>
                </a:solidFill>
                <a:effectLst/>
                <a:latin typeface="Google Sans"/>
              </a:rPr>
              <a:t>.</a:t>
            </a:r>
            <a:endParaRPr lang="ru-RU" dirty="0"/>
          </a:p>
          <a:p>
            <a:pPr marL="0" lvl="0" indent="0" algn="l" rtl="0">
              <a:spcBef>
                <a:spcPts val="0"/>
              </a:spcBef>
              <a:spcAft>
                <a:spcPts val="0"/>
              </a:spcAft>
              <a:buNone/>
            </a:pPr>
            <a:r>
              <a:rPr lang="en-US" b="0" i="0" dirty="0">
                <a:solidFill>
                  <a:srgbClr val="474747"/>
                </a:solidFill>
                <a:effectLst/>
                <a:latin typeface="Arial"/>
                <a:cs typeface="Arial"/>
              </a:rPr>
              <a:t>A pit stop is </a:t>
            </a:r>
            <a:r>
              <a:rPr lang="en-US" b="1" i="0" dirty="0">
                <a:solidFill>
                  <a:srgbClr val="767676"/>
                </a:solidFill>
                <a:effectLst/>
                <a:latin typeface="Arial"/>
                <a:cs typeface="Arial"/>
              </a:rPr>
              <a:t>a pause for </a:t>
            </a:r>
            <a:r>
              <a:rPr lang="en-US" b="1" i="0" dirty="0" err="1">
                <a:solidFill>
                  <a:srgbClr val="767676"/>
                </a:solidFill>
                <a:effectLst/>
                <a:latin typeface="Arial"/>
                <a:cs typeface="Arial"/>
              </a:rPr>
              <a:t>refuelling</a:t>
            </a:r>
            <a:r>
              <a:rPr lang="en-US" b="1" i="0" dirty="0">
                <a:solidFill>
                  <a:srgbClr val="767676"/>
                </a:solidFill>
                <a:effectLst/>
                <a:latin typeface="Arial"/>
                <a:cs typeface="Arial"/>
              </a:rPr>
              <a:t>, new </a:t>
            </a:r>
            <a:r>
              <a:rPr lang="en-US" b="1" i="0" dirty="0" err="1">
                <a:solidFill>
                  <a:srgbClr val="767676"/>
                </a:solidFill>
                <a:effectLst/>
                <a:latin typeface="Arial"/>
                <a:cs typeface="Arial"/>
              </a:rPr>
              <a:t>tyres</a:t>
            </a:r>
            <a:r>
              <a:rPr lang="en-US" b="1" i="0" dirty="0">
                <a:solidFill>
                  <a:srgbClr val="767676"/>
                </a:solidFill>
                <a:effectLst/>
                <a:latin typeface="Arial"/>
                <a:cs typeface="Arial"/>
              </a:rPr>
              <a:t>, repairs, mechanical adjustments, a driver change</a:t>
            </a:r>
            <a:endParaRPr dirty="0">
              <a:latin typeface="Arial"/>
              <a:cs typeface="Arial"/>
            </a:endParaRPr>
          </a:p>
        </p:txBody>
      </p:sp>
      <p:sp>
        <p:nvSpPr>
          <p:cNvPr id="1512" name="Google Shape;1512;g2cf9b0b21e0_1_337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3049" y="1715"/>
            <a:ext cx="12188951" cy="6856285"/>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515745012"/>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1946139998"/>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14619" y="4007973"/>
            <a:ext cx="4671732" cy="1298448"/>
          </a:xfrm>
        </p:spPr>
        <p:txBody>
          <a:bodyPr/>
          <a:lstStyle>
            <a:lvl1pPr>
              <a:defRPr sz="4000"/>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402655"/>
            <a:ext cx="5641181"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2506363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2970214"/>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Tree>
    <p:extLst>
      <p:ext uri="{BB962C8B-B14F-4D97-AF65-F5344CB8AC3E}">
        <p14:creationId xmlns:p14="http://schemas.microsoft.com/office/powerpoint/2010/main" val="27488224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3998913"/>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Tree>
    <p:extLst>
      <p:ext uri="{BB962C8B-B14F-4D97-AF65-F5344CB8AC3E}">
        <p14:creationId xmlns:p14="http://schemas.microsoft.com/office/powerpoint/2010/main" val="341061865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Tree>
    <p:extLst>
      <p:ext uri="{BB962C8B-B14F-4D97-AF65-F5344CB8AC3E}">
        <p14:creationId xmlns:p14="http://schemas.microsoft.com/office/powerpoint/2010/main" val="329539681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99063" y="400050"/>
            <a:ext cx="6602413"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7" y="3998913"/>
            <a:ext cx="3840957"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Tree>
    <p:extLst>
      <p:ext uri="{BB962C8B-B14F-4D97-AF65-F5344CB8AC3E}">
        <p14:creationId xmlns:p14="http://schemas.microsoft.com/office/powerpoint/2010/main" val="145135798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3720566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94984849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0" y="0"/>
            <a:ext cx="12188951" cy="6858001"/>
          </a:xfrm>
          <a:solidFill>
            <a:schemeClr val="bg1">
              <a:lumMod val="85000"/>
            </a:schemeClr>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430" y="3372236"/>
            <a:ext cx="5641183" cy="1414180"/>
          </a:xfrm>
        </p:spPr>
        <p:txBody>
          <a:bodyPr anchor="b"/>
          <a:lstStyle>
            <a:lvl1pPr>
              <a:lnSpc>
                <a:spcPct val="80000"/>
              </a:lnSpc>
              <a:spcBef>
                <a:spcPts val="1400"/>
              </a:spcBef>
              <a:defRPr sz="4800" b="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402432" y="5029715"/>
            <a:ext cx="5641182" cy="990083"/>
          </a:xfrm>
        </p:spPr>
        <p:txBody>
          <a:bodyPr/>
          <a:lstStyle>
            <a:lvl1pPr>
              <a:defRPr sz="1300" b="0">
                <a:latin typeface="+mj-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dirty="0"/>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83740727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919162"/>
            <a:ext cx="3712881" cy="1938337"/>
          </a:xfrm>
        </p:spPr>
        <p:txBody>
          <a:bodyPr/>
          <a:lstStyle>
            <a:lvl1pPr>
              <a:defRPr sz="4000"/>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71800"/>
            <a:ext cx="3724275" cy="2967038"/>
          </a:xfrm>
        </p:spPr>
        <p:txBody>
          <a:bodyPr/>
          <a:lstStyle>
            <a:lvl1pPr>
              <a:lnSpc>
                <a:spcPct val="125000"/>
              </a:lnSpc>
              <a:defRPr sz="1600" b="0">
                <a:latin typeface="+mj-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08872800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919162"/>
            <a:ext cx="4671730" cy="1938337"/>
          </a:xfrm>
        </p:spPr>
        <p:txBody>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71800"/>
            <a:ext cx="4671729" cy="2967038"/>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25750868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69488" y="400051"/>
            <a:ext cx="5632168" cy="917574"/>
          </a:xfrm>
        </p:spPr>
        <p:txBody>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69488" y="1946275"/>
            <a:ext cx="5632167"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02939862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99063" y="400051"/>
            <a:ext cx="6602593" cy="917574"/>
          </a:xfrm>
        </p:spPr>
        <p:txBody>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4" y="1946275"/>
            <a:ext cx="6602592"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511538830"/>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1920" y="400051"/>
            <a:ext cx="4274253" cy="1428750"/>
          </a:xfrm>
        </p:spPr>
        <p:txBody>
          <a:bodyPr/>
          <a:lstStyle>
            <a:lvl1pPr>
              <a:defRPr sz="4000"/>
            </a:lvl1pPr>
          </a:lstStyle>
          <a:p>
            <a:r>
              <a:rPr lang="en-US"/>
              <a:t>Click to edit Master title style</a:t>
            </a:r>
            <a:endParaRPr lang="en-US" dirty="0"/>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401920" y="1956003"/>
            <a:ext cx="4274253" cy="3982835"/>
          </a:xfrm>
          <a:solidFill>
            <a:schemeClr val="bg2"/>
          </a:solidFill>
        </p:spPr>
        <p:txBody>
          <a:bodyPr tIns="1554480"/>
          <a:lstStyle>
            <a:lvl1pPr algn="ctr">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3" y="400051"/>
            <a:ext cx="6591017" cy="5538787"/>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14725131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9173"/>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209696" y="794063"/>
            <a:ext cx="6589884" cy="3328416"/>
          </a:xfrm>
        </p:spPr>
        <p:txBody>
          <a:bodyPr tIns="457200"/>
          <a:lstStyle>
            <a:lvl1pPr algn="ctr">
              <a:defRPr sz="1800"/>
            </a:lvl1pPr>
          </a:lstStyle>
          <a:p>
            <a:r>
              <a:rPr lang="en-US"/>
              <a:t>Click icon to add table</a:t>
            </a:r>
            <a:endParaRPr lang="en-US" dirty="0"/>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3284944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209696" y="786384"/>
            <a:ext cx="5754687" cy="3195638"/>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1261259392"/>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177701" y="818982"/>
            <a:ext cx="4324869" cy="2685354"/>
          </a:xfrm>
        </p:spPr>
        <p:txBody>
          <a:bodyPr tIns="457200"/>
          <a:lstStyle>
            <a:lvl1pPr algn="ctr">
              <a:defRPr sz="1800"/>
            </a:lvl1pPr>
          </a:lstStyle>
          <a:p>
            <a:r>
              <a:rPr lang="en-US"/>
              <a:t>Click icon to add table</a:t>
            </a:r>
            <a:endParaRPr lang="en-US" dirty="0"/>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711065" y="818982"/>
            <a:ext cx="4324869" cy="2685354"/>
          </a:xfrm>
        </p:spPr>
        <p:txBody>
          <a:bodyPr tIns="457200"/>
          <a:lstStyle>
            <a:lvl1pPr algn="ctr">
              <a:defRPr sz="1800"/>
            </a:lvl1pPr>
          </a:lstStyle>
          <a:p>
            <a:r>
              <a:rPr lang="en-US"/>
              <a:t>Click icon to add table</a:t>
            </a:r>
            <a:endParaRPr lang="en-US" dirty="0"/>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04722689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281363" y="917575"/>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708392" y="917575"/>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368227303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6"/>
            <a:ext cx="6606383" cy="1295399"/>
          </a:xfrm>
          <a:prstGeom prst="rect">
            <a:avLst/>
          </a:prstGeom>
        </p:spPr>
        <p:txBody>
          <a:bodyPr vert="horz" lIns="0" tIns="0" rIns="0" bIns="0" rtlCol="0" anchor="t" anchorCtr="0">
            <a:noAutofit/>
          </a:body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6606383" cy="400050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74024569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6" y="402336"/>
            <a:ext cx="11403809" cy="946148"/>
          </a:xfrm>
          <a:prstGeom prst="rect">
            <a:avLst/>
          </a:prstGeom>
        </p:spPr>
        <p:txBody>
          <a:bodyPr vert="horz" lIns="0" tIns="0" rIns="0" bIns="0" rtlCol="0" anchor="t" anchorCtr="0">
            <a:noAutofit/>
          </a:body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A861B7B6-46DE-D3F1-62FD-E7B058FA4F47}"/>
              </a:ext>
            </a:extLst>
          </p:cNvPr>
          <p:cNvSpPr>
            <a:spLocks noGrp="1"/>
          </p:cNvSpPr>
          <p:nvPr>
            <p:ph idx="1"/>
          </p:nvPr>
        </p:nvSpPr>
        <p:spPr>
          <a:xfrm>
            <a:off x="4129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61660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449263157"/>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8" y="3492184"/>
            <a:ext cx="3840957" cy="2454594"/>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4510882"/>
          </a:xfrm>
          <a:solidFill>
            <a:schemeClr val="bg2"/>
          </a:solidFill>
        </p:spPr>
        <p:txBody>
          <a:bodyPr tIns="1554480"/>
          <a:lstStyle>
            <a:lvl1pPr algn="ctr">
              <a:defRPr/>
            </a:lvl1pPr>
          </a:lstStyle>
          <a:p>
            <a:r>
              <a:rPr lang="en-US"/>
              <a:t>Click icon to add picture</a:t>
            </a:r>
            <a:endParaRPr lang="en-US" dirty="0"/>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122131874"/>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7" y="402336"/>
            <a:ext cx="3840958" cy="5566886"/>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2455068"/>
          </a:xfrm>
          <a:solidFill>
            <a:schemeClr val="bg2"/>
          </a:solidFill>
        </p:spPr>
        <p:txBody>
          <a:bodyPr tIns="731520"/>
          <a:lstStyle>
            <a:lvl1pPr algn="ctr">
              <a:defRPr/>
            </a:lvl1pPr>
          </a:lstStyle>
          <a:p>
            <a:r>
              <a:rPr lang="en-US"/>
              <a:t>Click icon to add picture</a:t>
            </a:r>
            <a:endParaRPr lang="en-US" dirty="0"/>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37637"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201444" y="2977040"/>
            <a:ext cx="3649948" cy="2455068"/>
          </a:xfrm>
          <a:solidFill>
            <a:schemeClr val="bg2"/>
          </a:solidFill>
        </p:spPr>
        <p:txBody>
          <a:bodyPr tIns="731520"/>
          <a:lstStyle>
            <a:lvl1pPr algn="ctr">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37637"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29187845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F9B4C70A-448E-FF82-4DED-5DB3D9F57437}"/>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402831" y="1431438"/>
            <a:ext cx="2657075" cy="1938825"/>
          </a:xfrm>
          <a:solidFill>
            <a:schemeClr val="bg2"/>
          </a:solidFill>
        </p:spPr>
        <p:txBody>
          <a:bodyPr tIns="731520"/>
          <a:lstStyle>
            <a:lvl1pPr algn="ctr">
              <a:defRPr/>
            </a:lvl1pPr>
          </a:lstStyle>
          <a:p>
            <a:r>
              <a:rPr lang="en-US"/>
              <a:t>Click icon to add picture</a:t>
            </a:r>
            <a:endParaRPr lang="en-US" dirty="0"/>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81363" y="1421451"/>
            <a:ext cx="2514283" cy="1938812"/>
          </a:xfrm>
        </p:spPr>
        <p:txBody>
          <a:bodyPr/>
          <a:lstStyle>
            <a:lvl1pPr>
              <a:lnSpc>
                <a:spcPct val="100000"/>
              </a:lnSpc>
              <a:spcAft>
                <a:spcPts val="1200"/>
              </a:spcAft>
              <a:defRPr sz="1500" b="1"/>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402831" y="3486944"/>
            <a:ext cx="2657075" cy="1938825"/>
          </a:xfrm>
          <a:solidFill>
            <a:schemeClr val="bg2"/>
          </a:solidFill>
        </p:spPr>
        <p:txBody>
          <a:bodyPr tIns="731520"/>
          <a:lstStyle>
            <a:lvl1pPr algn="ctr">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81363"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60294" y="1431438"/>
            <a:ext cx="2657075" cy="1938825"/>
          </a:xfrm>
          <a:solidFill>
            <a:schemeClr val="bg2"/>
          </a:solidFill>
        </p:spPr>
        <p:txBody>
          <a:bodyPr tIns="731520"/>
          <a:lstStyle>
            <a:lvl1pPr algn="ctr">
              <a:defRPr/>
            </a:lvl1pPr>
          </a:lstStyle>
          <a:p>
            <a:r>
              <a:rPr lang="en-US"/>
              <a:t>Click icon to add picture</a:t>
            </a:r>
            <a:endParaRPr lang="en-US" dirty="0"/>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37638" y="1421451"/>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60294" y="3486944"/>
            <a:ext cx="2657075" cy="1938825"/>
          </a:xfrm>
          <a:solidFill>
            <a:schemeClr val="bg2"/>
          </a:solidFill>
        </p:spPr>
        <p:txBody>
          <a:bodyPr tIns="731520"/>
          <a:lstStyle>
            <a:lvl1pPr algn="ctr">
              <a:defRPr/>
            </a:lvl1pPr>
          </a:lstStyle>
          <a:p>
            <a:r>
              <a:rPr lang="en-US"/>
              <a:t>Click icon to add picture</a:t>
            </a:r>
            <a:endParaRPr lang="en-US" dirty="0"/>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37638"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9664033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39170798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69EA8B36-F386-C764-DAD6-33D7736D9EEC}"/>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484206072"/>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410808" y="1439508"/>
            <a:ext cx="5237163" cy="4510088"/>
          </a:xfrm>
        </p:spPr>
        <p:txBody>
          <a:bodyPr/>
          <a:lstStyle/>
          <a:p>
            <a:r>
              <a:rPr lang="en-US"/>
              <a:t>Click icon to add chart</a:t>
            </a:r>
            <a:endParaRPr lang="en-US" dirty="0"/>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616867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904804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21695921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1000"/>
              </a:spcAft>
              <a:defRPr sz="1800" b="1">
                <a:latin typeface="+mn-lt"/>
              </a:defRPr>
            </a:lvl1pPr>
            <a:lvl2pPr>
              <a:lnSpc>
                <a:spcPct val="100000"/>
              </a:lnSpc>
              <a:spcBef>
                <a:spcPts val="0"/>
              </a:spcBef>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23295130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0"/>
              </a:spcAft>
              <a:defRPr sz="1800" b="1">
                <a:latin typeface="+mn-lt"/>
              </a:defRPr>
            </a:lvl1pPr>
            <a:lvl2pPr>
              <a:spcBef>
                <a:spcPts val="600"/>
              </a:spcBef>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148E7DA0-330F-0EFA-F5EA-9B8D8ADDB8B0}"/>
              </a:ext>
            </a:extLst>
          </p:cNvPr>
          <p:cNvSpPr>
            <a:spLocks noGrp="1"/>
          </p:cNvSpPr>
          <p:nvPr>
            <p:ph idx="16"/>
          </p:nvPr>
        </p:nvSpPr>
        <p:spPr>
          <a:xfrm>
            <a:off x="8087958"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1F934F8D-EEE5-A5C7-4F51-62B220EA007B}"/>
              </a:ext>
            </a:extLst>
          </p:cNvPr>
          <p:cNvSpPr>
            <a:spLocks noGrp="1"/>
          </p:cNvSpPr>
          <p:nvPr>
            <p:ph idx="17" hasCustomPrompt="1"/>
          </p:nvPr>
        </p:nvSpPr>
        <p:spPr>
          <a:xfrm>
            <a:off x="4242435"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dirty="0"/>
              <a:t>First level</a:t>
            </a:r>
          </a:p>
          <a:p>
            <a:pPr lvl="1"/>
            <a:r>
              <a:rPr lang="en-US" dirty="0"/>
              <a:t>Second level</a:t>
            </a:r>
          </a:p>
        </p:txBody>
      </p:sp>
      <p:sp>
        <p:nvSpPr>
          <p:cNvPr id="11" name="Content Placeholder 2">
            <a:extLst>
              <a:ext uri="{FF2B5EF4-FFF2-40B4-BE49-F238E27FC236}">
                <a16:creationId xmlns:a16="http://schemas.microsoft.com/office/drawing/2014/main" id="{96F4A050-73C7-4EF8-22E1-17E2117180F0}"/>
              </a:ext>
            </a:extLst>
          </p:cNvPr>
          <p:cNvSpPr>
            <a:spLocks noGrp="1"/>
          </p:cNvSpPr>
          <p:nvPr>
            <p:ph idx="18" hasCustomPrompt="1"/>
          </p:nvPr>
        </p:nvSpPr>
        <p:spPr>
          <a:xfrm>
            <a:off x="8087958"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dirty="0"/>
              <a:t>First level</a:t>
            </a:r>
          </a:p>
          <a:p>
            <a:pPr lvl="1"/>
            <a:r>
              <a:rPr lang="en-US" dirty="0"/>
              <a:t>Second level</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76084394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9CDDF52B-DBF3-6EA5-316F-86B168D5B385}"/>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440338"/>
            <a:ext cx="3448050" cy="4498500"/>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440338"/>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endParaRPr lang="en-US" dirty="0"/>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440339"/>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8"/>
            <a:ext cx="3621405" cy="2257189"/>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825601697"/>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12157443-656C-E355-D086-838984BEEC17}"/>
              </a:ext>
            </a:extLst>
          </p:cNvPr>
          <p:cNvSpPr>
            <a:spLocks noGrp="1"/>
          </p:cNvSpPr>
          <p:nvPr>
            <p:ph type="title"/>
          </p:nvPr>
        </p:nvSpPr>
        <p:spPr>
          <a:xfrm>
            <a:off x="397667" y="402336"/>
            <a:ext cx="5645946" cy="908940"/>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400050" y="1434783"/>
            <a:ext cx="3621405" cy="2449830"/>
          </a:xfrm>
          <a:solidFill>
            <a:schemeClr val="bg2"/>
          </a:solidFill>
        </p:spPr>
        <p:txBody>
          <a:bodyPr tIns="731520"/>
          <a:lstStyle>
            <a:lvl1pPr algn="ctr">
              <a:defRPr/>
            </a:lvl1pPr>
          </a:lstStyle>
          <a:p>
            <a:r>
              <a:rPr lang="en-US"/>
              <a:t>Click icon to add picture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47197" y="1434783"/>
            <a:ext cx="3621405" cy="2449830"/>
          </a:xfrm>
          <a:solidFill>
            <a:schemeClr val="bg2"/>
          </a:solidFill>
        </p:spPr>
        <p:txBody>
          <a:bodyPr tIns="731520"/>
          <a:lstStyle>
            <a:lvl1pPr algn="ctr">
              <a:defRPr/>
            </a:lvl1pPr>
          </a:lstStyle>
          <a:p>
            <a:r>
              <a:rPr lang="en-US"/>
              <a:t>Click icon to add picture</a:t>
            </a:r>
            <a:endParaRPr lang="en-US" dirty="0"/>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84820" y="1434783"/>
            <a:ext cx="3621405" cy="2449830"/>
          </a:xfrm>
          <a:solidFill>
            <a:schemeClr val="bg2"/>
          </a:solidFill>
        </p:spPr>
        <p:txBody>
          <a:bodyPr tIns="731520"/>
          <a:lstStyle>
            <a:lvl1pPr algn="ctr">
              <a:defRPr/>
            </a:lvl1pPr>
          </a:lstStyle>
          <a:p>
            <a:r>
              <a:rPr lang="en-US"/>
              <a:t>Click icon to add picture</a:t>
            </a:r>
            <a:endParaRPr lang="en-US" dirty="0"/>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29459134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97667" y="4002723"/>
            <a:ext cx="3389473" cy="1929924"/>
          </a:xfrm>
          <a:prstGeom prst="rect">
            <a:avLst/>
          </a:prstGeom>
        </p:spPr>
        <p:txBody>
          <a:bodyPr vert="horz" lIns="0" tIns="0" rIns="0" bIns="0" rtlCol="0" anchor="t" anchorCtr="0">
            <a:noAutofit/>
          </a:bodyPr>
          <a:lstStyle>
            <a:lvl1pPr>
              <a:defRPr sz="2400"/>
            </a:lvl1p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410052"/>
            <a:ext cx="3621405" cy="3474561"/>
          </a:xfrm>
          <a:solidFill>
            <a:schemeClr val="bg2"/>
          </a:solidFill>
        </p:spPr>
        <p:txBody>
          <a:bodyPr tIns="731520"/>
          <a:lstStyle>
            <a:lvl1pPr algn="ctr">
              <a:defRPr/>
            </a:lvl1pPr>
          </a:lstStyle>
          <a:p>
            <a:r>
              <a:rPr lang="en-US"/>
              <a:t>Click icon to add picture</a:t>
            </a:r>
            <a:endParaRPr lang="en-US" dirty="0"/>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410052"/>
            <a:ext cx="3621405" cy="3474561"/>
          </a:xfrm>
          <a:solidFill>
            <a:schemeClr val="bg2"/>
          </a:solidFill>
        </p:spPr>
        <p:txBody>
          <a:bodyPr tIns="731520"/>
          <a:lstStyle>
            <a:lvl1pPr algn="ctr">
              <a:defRPr/>
            </a:lvl1pPr>
          </a:lstStyle>
          <a:p>
            <a:r>
              <a:rPr lang="en-US"/>
              <a:t>Click icon to add picture</a:t>
            </a:r>
            <a:endParaRPr lang="en-US" dirty="0"/>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13215221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1946275"/>
            <a:ext cx="2757805"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1946275"/>
            <a:ext cx="2752324"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219046953"/>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11609685"/>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3617" y="3484563"/>
            <a:ext cx="2757805"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75769" y="3484563"/>
            <a:ext cx="2752324"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52459"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34091625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36A1FE59-52D8-7819-FCA0-4B8512415F68}"/>
              </a:ext>
            </a:extLst>
          </p:cNvPr>
          <p:cNvSpPr>
            <a:spLocks noGrp="1"/>
          </p:cNvSpPr>
          <p:nvPr>
            <p:ph type="title"/>
          </p:nvPr>
        </p:nvSpPr>
        <p:spPr>
          <a:xfrm>
            <a:off x="397667" y="402336"/>
            <a:ext cx="5645946" cy="9088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908"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A27F624C-8E74-64EA-25D6-81C018D703C7}"/>
              </a:ext>
            </a:extLst>
          </p:cNvPr>
          <p:cNvSpPr>
            <a:spLocks noGrp="1"/>
          </p:cNvSpPr>
          <p:nvPr>
            <p:ph idx="14"/>
          </p:nvPr>
        </p:nvSpPr>
        <p:spPr>
          <a:xfrm>
            <a:off x="3292401"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95BA71C3-8B98-CBAD-967B-B8C200A9F9DB}"/>
              </a:ext>
            </a:extLst>
          </p:cNvPr>
          <p:cNvSpPr>
            <a:spLocks noGrp="1"/>
          </p:cNvSpPr>
          <p:nvPr>
            <p:ph idx="15"/>
          </p:nvPr>
        </p:nvSpPr>
        <p:spPr>
          <a:xfrm>
            <a:off x="6181894"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2" name="Content Placeholder 2">
            <a:extLst>
              <a:ext uri="{FF2B5EF4-FFF2-40B4-BE49-F238E27FC236}">
                <a16:creationId xmlns:a16="http://schemas.microsoft.com/office/drawing/2014/main" id="{583A7053-6A7D-A8F8-4656-87270953BD60}"/>
              </a:ext>
            </a:extLst>
          </p:cNvPr>
          <p:cNvSpPr>
            <a:spLocks noGrp="1"/>
          </p:cNvSpPr>
          <p:nvPr>
            <p:ph idx="16"/>
          </p:nvPr>
        </p:nvSpPr>
        <p:spPr>
          <a:xfrm>
            <a:off x="9071386"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8" name="Content Placeholder 2">
            <a:extLst>
              <a:ext uri="{FF2B5EF4-FFF2-40B4-BE49-F238E27FC236}">
                <a16:creationId xmlns:a16="http://schemas.microsoft.com/office/drawing/2014/main" id="{AD80E08F-9CFF-A0A0-CB3A-AC9CDC3AD14B}"/>
              </a:ext>
            </a:extLst>
          </p:cNvPr>
          <p:cNvSpPr>
            <a:spLocks noGrp="1"/>
          </p:cNvSpPr>
          <p:nvPr>
            <p:ph idx="12"/>
          </p:nvPr>
        </p:nvSpPr>
        <p:spPr>
          <a:xfrm>
            <a:off x="393617" y="1428750"/>
            <a:ext cx="5645947" cy="1428750"/>
          </a:xfrm>
        </p:spPr>
        <p:txBody>
          <a:bodyPr rIns="91440"/>
          <a:lstStyle>
            <a:lvl1pPr>
              <a:defRPr sz="20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8556495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6" name="Title Placeholder 1">
            <a:extLst>
              <a:ext uri="{FF2B5EF4-FFF2-40B4-BE49-F238E27FC236}">
                <a16:creationId xmlns:a16="http://schemas.microsoft.com/office/drawing/2014/main" id="{68A701A6-89AB-4B4D-0870-B17023D69CCD}"/>
              </a:ext>
            </a:extLst>
          </p:cNvPr>
          <p:cNvSpPr>
            <a:spLocks noGrp="1"/>
          </p:cNvSpPr>
          <p:nvPr>
            <p:ph type="title"/>
          </p:nvPr>
        </p:nvSpPr>
        <p:spPr>
          <a:xfrm>
            <a:off x="397667" y="402336"/>
            <a:ext cx="5644478"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407669" y="1428750"/>
            <a:ext cx="2647951" cy="2455863"/>
          </a:xfrm>
          <a:solidFill>
            <a:schemeClr val="bg2"/>
          </a:solidFill>
        </p:spPr>
        <p:txBody>
          <a:bodyPr tIns="731520"/>
          <a:lstStyle>
            <a:lvl1pPr algn="ctr">
              <a:defRPr/>
            </a:lvl1pPr>
          </a:lstStyle>
          <a:p>
            <a:r>
              <a:rPr lang="en-US"/>
              <a:t>Click icon to add picture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3998913"/>
            <a:ext cx="2757805"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89821" y="1428750"/>
            <a:ext cx="2647951" cy="2455863"/>
          </a:xfrm>
          <a:solidFill>
            <a:schemeClr val="bg2"/>
          </a:solidFill>
        </p:spPr>
        <p:txBody>
          <a:bodyPr tIns="731520"/>
          <a:lstStyle>
            <a:lvl1pPr algn="ctr">
              <a:defRPr/>
            </a:lvl1pPr>
          </a:lstStyle>
          <a:p>
            <a:r>
              <a:rPr lang="en-US"/>
              <a:t>Click icon to add picture</a:t>
            </a:r>
            <a:endParaRPr lang="en-US" dirty="0"/>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3998913"/>
            <a:ext cx="2752324"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66511" y="1428750"/>
            <a:ext cx="2647951" cy="2455863"/>
          </a:xfrm>
          <a:solidFill>
            <a:schemeClr val="bg2"/>
          </a:solidFill>
        </p:spPr>
        <p:txBody>
          <a:bodyPr tIns="731520"/>
          <a:lstStyle>
            <a:lvl1pPr algn="ctr">
              <a:defRPr/>
            </a:lvl1pPr>
          </a:lstStyle>
          <a:p>
            <a:r>
              <a:rPr lang="en-US"/>
              <a:t>Click icon to add picture</a:t>
            </a:r>
            <a:endParaRPr lang="en-US" dirty="0"/>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8456" y="1428750"/>
            <a:ext cx="2647951" cy="2455863"/>
          </a:xfrm>
          <a:solidFill>
            <a:schemeClr val="bg2"/>
          </a:solidFill>
        </p:spPr>
        <p:txBody>
          <a:bodyPr tIns="731520"/>
          <a:lstStyle>
            <a:lvl1pPr algn="ctr">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69731026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3858E610-9BD2-B05C-EB3A-1A76DB512C18}"/>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399482" y="1443674"/>
            <a:ext cx="2597467" cy="3980813"/>
          </a:xfrm>
        </p:spPr>
        <p:txBody>
          <a:bodyPr/>
          <a:lstStyle>
            <a:lvl1pPr>
              <a:lnSpc>
                <a:spcPct val="100000"/>
              </a:lnSpc>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9" name="Content Placeholder 2">
            <a:extLst>
              <a:ext uri="{FF2B5EF4-FFF2-40B4-BE49-F238E27FC236}">
                <a16:creationId xmlns:a16="http://schemas.microsoft.com/office/drawing/2014/main" id="{E3C981AC-1133-16A2-C7BE-8EEEC24A1CC8}"/>
              </a:ext>
            </a:extLst>
          </p:cNvPr>
          <p:cNvSpPr>
            <a:spLocks noGrp="1"/>
          </p:cNvSpPr>
          <p:nvPr>
            <p:ph idx="14"/>
          </p:nvPr>
        </p:nvSpPr>
        <p:spPr>
          <a:xfrm>
            <a:off x="3293938" y="1443674"/>
            <a:ext cx="2597467" cy="398081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7914" y="1428750"/>
            <a:ext cx="5634604" cy="2455863"/>
          </a:xfrm>
          <a:solidFill>
            <a:schemeClr val="bg2"/>
          </a:solidFill>
        </p:spPr>
        <p:txBody>
          <a:bodyPr tIns="731520"/>
          <a:lstStyle>
            <a:lvl1pPr algn="ctr">
              <a:defRPr/>
            </a:lvl1pPr>
          </a:lstStyle>
          <a:p>
            <a:r>
              <a:rPr lang="en-US"/>
              <a:t>Click icon to add picture</a:t>
            </a:r>
            <a:endParaRPr lang="en-US" dirty="0"/>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6157913" y="4041936"/>
            <a:ext cx="2765425" cy="1929924"/>
          </a:xfrm>
        </p:spPr>
        <p:txBody>
          <a:bodyPr/>
          <a:lstStyle>
            <a:lvl1pPr>
              <a:lnSpc>
                <a:spcPct val="100000"/>
              </a:lnSpc>
              <a:spcAft>
                <a:spcPts val="1300"/>
              </a:spcAft>
              <a:defRPr sz="18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0" name="Content Placeholder 2">
            <a:extLst>
              <a:ext uri="{FF2B5EF4-FFF2-40B4-BE49-F238E27FC236}">
                <a16:creationId xmlns:a16="http://schemas.microsoft.com/office/drawing/2014/main" id="{ADA732D9-8671-5C81-D1CA-1C96F66F29CB}"/>
              </a:ext>
            </a:extLst>
          </p:cNvPr>
          <p:cNvSpPr>
            <a:spLocks noGrp="1"/>
          </p:cNvSpPr>
          <p:nvPr>
            <p:ph idx="15"/>
          </p:nvPr>
        </p:nvSpPr>
        <p:spPr>
          <a:xfrm>
            <a:off x="9044749" y="4041936"/>
            <a:ext cx="2765425" cy="1929924"/>
          </a:xfrm>
        </p:spPr>
        <p:txBody>
          <a:bodyPr/>
          <a:lstStyle>
            <a:lvl1pPr>
              <a:lnSpc>
                <a:spcPct val="100000"/>
              </a:lnSpc>
              <a:spcAft>
                <a:spcPts val="1300"/>
              </a:spcAft>
              <a:defRPr sz="1200" b="0">
                <a:latin typeface="+mj-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67699147"/>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18" name="Title Placeholder 1">
            <a:extLst>
              <a:ext uri="{FF2B5EF4-FFF2-40B4-BE49-F238E27FC236}">
                <a16:creationId xmlns:a16="http://schemas.microsoft.com/office/drawing/2014/main" id="{5F55CA50-833E-6AD7-FF00-933528ACEA69}"/>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B1DE2265-798C-4C34-2F7A-9E37AD0B72E0}"/>
              </a:ext>
            </a:extLst>
          </p:cNvPr>
          <p:cNvSpPr>
            <a:spLocks noGrp="1"/>
          </p:cNvSpPr>
          <p:nvPr>
            <p:ph idx="10"/>
          </p:nvPr>
        </p:nvSpPr>
        <p:spPr>
          <a:xfrm>
            <a:off x="2330243"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B9929FFD-F8B6-8070-3AC3-1EF5C988CD65}"/>
              </a:ext>
            </a:extLst>
          </p:cNvPr>
          <p:cNvSpPr>
            <a:spLocks noGrp="1"/>
          </p:cNvSpPr>
          <p:nvPr>
            <p:ph idx="11"/>
          </p:nvPr>
        </p:nvSpPr>
        <p:spPr>
          <a:xfrm>
            <a:off x="4249006"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EA70EFDA-9453-BCA5-D941-12F2ACA2074F}"/>
              </a:ext>
            </a:extLst>
          </p:cNvPr>
          <p:cNvSpPr>
            <a:spLocks noGrp="1"/>
          </p:cNvSpPr>
          <p:nvPr>
            <p:ph idx="12"/>
          </p:nvPr>
        </p:nvSpPr>
        <p:spPr>
          <a:xfrm>
            <a:off x="6167769"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13C9BD80-9837-E8C2-7515-BE852BF7BDF4}"/>
              </a:ext>
            </a:extLst>
          </p:cNvPr>
          <p:cNvSpPr>
            <a:spLocks noGrp="1"/>
          </p:cNvSpPr>
          <p:nvPr>
            <p:ph idx="13"/>
          </p:nvPr>
        </p:nvSpPr>
        <p:spPr>
          <a:xfrm>
            <a:off x="8086532"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2">
            <a:extLst>
              <a:ext uri="{FF2B5EF4-FFF2-40B4-BE49-F238E27FC236}">
                <a16:creationId xmlns:a16="http://schemas.microsoft.com/office/drawing/2014/main" id="{28414709-ADE5-C602-1625-C637F6C5FB12}"/>
              </a:ext>
            </a:extLst>
          </p:cNvPr>
          <p:cNvSpPr>
            <a:spLocks noGrp="1"/>
          </p:cNvSpPr>
          <p:nvPr>
            <p:ph idx="14"/>
          </p:nvPr>
        </p:nvSpPr>
        <p:spPr>
          <a:xfrm>
            <a:off x="10005295"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905503567"/>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C59803B-BF63-6637-E0C7-431792EDF84B}"/>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407670"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326433"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24" name="Content Placeholder 2">
            <a:extLst>
              <a:ext uri="{FF2B5EF4-FFF2-40B4-BE49-F238E27FC236}">
                <a16:creationId xmlns:a16="http://schemas.microsoft.com/office/drawing/2014/main" id="{C604CA07-6A61-6EE7-9AB7-5D1AC3E61585}"/>
              </a:ext>
            </a:extLst>
          </p:cNvPr>
          <p:cNvSpPr>
            <a:spLocks noGrp="1"/>
          </p:cNvSpPr>
          <p:nvPr>
            <p:ph idx="21"/>
          </p:nvPr>
        </p:nvSpPr>
        <p:spPr>
          <a:xfrm>
            <a:off x="2326433"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49006"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25" name="Content Placeholder 2">
            <a:extLst>
              <a:ext uri="{FF2B5EF4-FFF2-40B4-BE49-F238E27FC236}">
                <a16:creationId xmlns:a16="http://schemas.microsoft.com/office/drawing/2014/main" id="{89B651F7-7166-CE84-83FD-8A58F6870DE8}"/>
              </a:ext>
            </a:extLst>
          </p:cNvPr>
          <p:cNvSpPr>
            <a:spLocks noGrp="1"/>
          </p:cNvSpPr>
          <p:nvPr>
            <p:ph idx="22"/>
          </p:nvPr>
        </p:nvSpPr>
        <p:spPr>
          <a:xfrm>
            <a:off x="4249006"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67769"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26" name="Content Placeholder 2">
            <a:extLst>
              <a:ext uri="{FF2B5EF4-FFF2-40B4-BE49-F238E27FC236}">
                <a16:creationId xmlns:a16="http://schemas.microsoft.com/office/drawing/2014/main" id="{590F1832-1857-55DA-5830-56D2E0B84073}"/>
              </a:ext>
            </a:extLst>
          </p:cNvPr>
          <p:cNvSpPr>
            <a:spLocks noGrp="1"/>
          </p:cNvSpPr>
          <p:nvPr>
            <p:ph idx="23"/>
          </p:nvPr>
        </p:nvSpPr>
        <p:spPr>
          <a:xfrm>
            <a:off x="6167769"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86532"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27" name="Content Placeholder 2">
            <a:extLst>
              <a:ext uri="{FF2B5EF4-FFF2-40B4-BE49-F238E27FC236}">
                <a16:creationId xmlns:a16="http://schemas.microsoft.com/office/drawing/2014/main" id="{FD9D2967-C22A-B1DF-008F-37A536CDA2A4}"/>
              </a:ext>
            </a:extLst>
          </p:cNvPr>
          <p:cNvSpPr>
            <a:spLocks noGrp="1"/>
          </p:cNvSpPr>
          <p:nvPr>
            <p:ph idx="24"/>
          </p:nvPr>
        </p:nvSpPr>
        <p:spPr>
          <a:xfrm>
            <a:off x="8086532"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10005295"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28" name="Content Placeholder 2">
            <a:extLst>
              <a:ext uri="{FF2B5EF4-FFF2-40B4-BE49-F238E27FC236}">
                <a16:creationId xmlns:a16="http://schemas.microsoft.com/office/drawing/2014/main" id="{50B501A3-4C30-D139-31F2-53CC077019FD}"/>
              </a:ext>
            </a:extLst>
          </p:cNvPr>
          <p:cNvSpPr>
            <a:spLocks noGrp="1"/>
          </p:cNvSpPr>
          <p:nvPr>
            <p:ph idx="25"/>
          </p:nvPr>
        </p:nvSpPr>
        <p:spPr>
          <a:xfrm>
            <a:off x="10005295"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747256374"/>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dirty="0"/>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63135" y="1317530"/>
            <a:ext cx="5668962" cy="3758184"/>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353829" y="4983333"/>
            <a:ext cx="4702359" cy="1014843"/>
          </a:xfrm>
        </p:spPr>
        <p:txBody>
          <a:bodyPr/>
          <a:lstStyle>
            <a:lvl1pPr>
              <a:lnSpc>
                <a:spcPct val="100000"/>
              </a:lnSpc>
              <a:spcBef>
                <a:spcPts val="0"/>
              </a:spcBef>
              <a:spcAft>
                <a:spcPts val="0"/>
              </a:spcAft>
              <a:defRPr sz="1600"/>
            </a:lvl1pPr>
            <a:lvl2pPr>
              <a:lnSpc>
                <a:spcPct val="100000"/>
              </a:lnSpc>
              <a:spcBef>
                <a:spcPts val="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9780130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dirty="0"/>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93871"/>
            <a:ext cx="5660724"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TextBox 4">
            <a:extLst>
              <a:ext uri="{FF2B5EF4-FFF2-40B4-BE49-F238E27FC236}">
                <a16:creationId xmlns:a16="http://schemas.microsoft.com/office/drawing/2014/main" id="{B55C43A2-F505-459A-B731-902E78F588EB}"/>
              </a:ext>
            </a:extLst>
          </p:cNvPr>
          <p:cNvSpPr txBox="1"/>
          <p:nvPr userDrawn="1"/>
        </p:nvSpPr>
        <p:spPr>
          <a:xfrm>
            <a:off x="2472397" y="3035716"/>
            <a:ext cx="6478172" cy="342594"/>
          </a:xfrm>
          <a:prstGeom prst="rect">
            <a:avLst/>
          </a:prstGeom>
          <a:noFill/>
        </p:spPr>
        <p:txBody>
          <a:bodyPr wrap="square">
            <a:spAutoFit/>
          </a:bodyPr>
          <a:lstStyle/>
          <a:p>
            <a:pPr marL="0" marR="0">
              <a:lnSpc>
                <a:spcPct val="115000"/>
              </a:lnSpc>
              <a:spcAft>
                <a:spcPts val="800"/>
              </a:spcAft>
            </a:pPr>
            <a:r>
              <a:rPr lang="en-US" sz="1500" b="0" i="0" kern="100" dirty="0">
                <a:effectLst/>
                <a:latin typeface="Arial" panose="020B0604020202020204" pitchFamily="34" charset="0"/>
                <a:ea typeface="Aptos" panose="020B0004020202020204" pitchFamily="34" charset="0"/>
                <a:cs typeface="Times New Roman" panose="02020603050405020304" pitchFamily="18" charset="0"/>
              </a:rPr>
              <a:t> Herehere</a:t>
            </a:r>
          </a:p>
        </p:txBody>
      </p:sp>
    </p:spTree>
    <p:extLst>
      <p:ext uri="{BB962C8B-B14F-4D97-AF65-F5344CB8AC3E}">
        <p14:creationId xmlns:p14="http://schemas.microsoft.com/office/powerpoint/2010/main" val="40406415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with Image Gra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dirty="0"/>
              <a:t>Title for accessibility</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2AE626E5-51F6-0BEB-2AFE-FE78E1409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6163970" y="400050"/>
            <a:ext cx="5637503" cy="4521510"/>
          </a:xfrm>
          <a:custGeom>
            <a:avLst/>
            <a:gdLst>
              <a:gd name="connsiteX0" fmla="*/ 0 w 5637503"/>
              <a:gd name="connsiteY0" fmla="*/ 0 h 4521510"/>
              <a:gd name="connsiteX1" fmla="*/ 5637503 w 5637503"/>
              <a:gd name="connsiteY1" fmla="*/ 0 h 4521510"/>
              <a:gd name="connsiteX2" fmla="*/ 5636321 w 5637503"/>
              <a:gd name="connsiteY2" fmla="*/ 2101892 h 4521510"/>
              <a:gd name="connsiteX3" fmla="*/ 5635136 w 5637503"/>
              <a:gd name="connsiteY3" fmla="*/ 4208474 h 4521510"/>
              <a:gd name="connsiteX4" fmla="*/ 2786509 w 5637503"/>
              <a:gd name="connsiteY4" fmla="*/ 4206576 h 4521510"/>
              <a:gd name="connsiteX5" fmla="*/ 2583036 w 5637503"/>
              <a:gd name="connsiteY5" fmla="*/ 4512498 h 4521510"/>
              <a:gd name="connsiteX6" fmla="*/ 0 w 5637503"/>
              <a:gd name="connsiteY6" fmla="*/ 4521510 h 452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7503" h="4521510">
                <a:moveTo>
                  <a:pt x="0" y="0"/>
                </a:moveTo>
                <a:lnTo>
                  <a:pt x="5637503" y="0"/>
                </a:lnTo>
                <a:lnTo>
                  <a:pt x="5636321" y="2101892"/>
                </a:lnTo>
                <a:cubicBezTo>
                  <a:pt x="5636518" y="2804481"/>
                  <a:pt x="5636716" y="3507070"/>
                  <a:pt x="5635136" y="4208474"/>
                </a:cubicBezTo>
                <a:lnTo>
                  <a:pt x="2786509" y="4206576"/>
                </a:lnTo>
                <a:lnTo>
                  <a:pt x="2583036" y="4512498"/>
                </a:lnTo>
                <a:lnTo>
                  <a:pt x="0" y="4521510"/>
                </a:lnTo>
                <a:close/>
              </a:path>
            </a:pathLst>
          </a:custGeom>
          <a:solidFill>
            <a:schemeClr val="bg2"/>
          </a:solidFill>
        </p:spPr>
        <p:txBody>
          <a:bodyPr wrap="square" tIns="1280160" bIns="2743200" anchor="t" anchorCtr="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0605F451-C7FA-B67A-7A4E-B4953B3BFEC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8" name="Slide Number Placeholder 13">
            <a:extLst>
              <a:ext uri="{FF2B5EF4-FFF2-40B4-BE49-F238E27FC236}">
                <a16:creationId xmlns:a16="http://schemas.microsoft.com/office/drawing/2014/main" id="{07A1FB0A-E7CA-63CD-DB09-C9F16CA915E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41483804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dirty="0"/>
              <a:t>Title for accessibility</a:t>
            </a:r>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dirty="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dirty="0">
              <a:ln>
                <a:noFill/>
              </a:ln>
              <a:solidFill>
                <a:srgbClr val="FC5108"/>
              </a:solidFill>
              <a:effectLst/>
              <a:uLnTx/>
              <a:uFillTx/>
              <a:latin typeface="+mn-lt"/>
              <a:cs typeface="Arial" panose="020B0604020202020204" pitchFamily="34" charset="0"/>
            </a:endParaRPr>
          </a:p>
          <a:p>
            <a:endParaRPr lang="en-US" sz="6000" b="1" dirty="0">
              <a:solidFill>
                <a:srgbClr val="FC5108"/>
              </a:solidFill>
              <a:latin typeface="Georgia" panose="02040502050405020303" pitchFamily="18" charset="0"/>
              <a:cs typeface="Arial" panose="020B0604020202020204" pitchFamily="34" charset="0"/>
            </a:endParaRP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9197" y="4470739"/>
            <a:ext cx="4704858" cy="510836"/>
          </a:xfrm>
        </p:spPr>
        <p:txBody>
          <a:bodyPr/>
          <a:lstStyle>
            <a:lvl1pPr>
              <a:lnSpc>
                <a:spcPct val="100000"/>
              </a:lnSpc>
              <a:spcBef>
                <a:spcPts val="0"/>
              </a:spcBef>
              <a:spcAft>
                <a:spcPts val="0"/>
              </a:spcAft>
              <a:defRPr sz="1600">
                <a:solidFill>
                  <a:schemeClr val="tx1"/>
                </a:solidFill>
              </a:defRPr>
            </a:lvl1pPr>
            <a:lvl2pPr>
              <a:lnSpc>
                <a:spcPct val="100000"/>
              </a:lnSpc>
              <a:spcBef>
                <a:spcPts val="0"/>
              </a:spcBef>
              <a:spcAft>
                <a:spcPts val="0"/>
              </a:spcAft>
              <a:defRPr sz="16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dirty="0"/>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dirty="0"/>
              <a:t>Presentation Title   |   Section Title</a:t>
            </a:r>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75CC5F4-F710-E179-E30A-EDC1D0B99DD9}"/>
                  </a:ext>
                </a:extLst>
              </p14:cNvPr>
              <p14:cNvContentPartPr/>
              <p14:nvPr userDrawn="1"/>
            </p14:nvContentPartPr>
            <p14:xfrm>
              <a:off x="6198120" y="72180"/>
              <a:ext cx="360" cy="360"/>
            </p14:xfrm>
          </p:contentPart>
        </mc:Choice>
        <mc:Fallback xmlns="">
          <p:pic>
            <p:nvPicPr>
              <p:cNvPr id="5" name="Ink 4">
                <a:extLst>
                  <a:ext uri="{FF2B5EF4-FFF2-40B4-BE49-F238E27FC236}">
                    <a16:creationId xmlns:a16="http://schemas.microsoft.com/office/drawing/2014/main" id="{D75CC5F4-F710-E179-E30A-EDC1D0B99DD9}"/>
                  </a:ext>
                </a:extLst>
              </p:cNvPr>
              <p:cNvPicPr/>
              <p:nvPr/>
            </p:nvPicPr>
            <p:blipFill>
              <a:blip r:embed="rId3"/>
              <a:stretch>
                <a:fillRect/>
              </a:stretch>
            </p:blipFill>
            <p:spPr>
              <a:xfrm>
                <a:off x="6189120" y="63180"/>
                <a:ext cx="18000" cy="18000"/>
              </a:xfrm>
              <a:prstGeom prst="rect">
                <a:avLst/>
              </a:prstGeom>
            </p:spPr>
          </p:pic>
        </mc:Fallback>
      </mc:AlternateContent>
    </p:spTree>
    <p:extLst>
      <p:ext uri="{BB962C8B-B14F-4D97-AF65-F5344CB8AC3E}">
        <p14:creationId xmlns:p14="http://schemas.microsoft.com/office/powerpoint/2010/main" val="8396522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694" y="4463448"/>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4007428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0638340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dirty="0"/>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0512681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dirty="0"/>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bg1"/>
                </a:solidFill>
              </a:defRPr>
            </a:lvl1pPr>
            <a:lvl2pPr>
              <a:lnSpc>
                <a:spcPct val="100000"/>
              </a:lnSpc>
              <a:spcBef>
                <a:spcPts val="0"/>
              </a:spcBef>
              <a:spcAft>
                <a:spcPts val="0"/>
              </a:spcAft>
              <a:defRPr sz="1800">
                <a:solidFill>
                  <a:schemeClr val="bg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dirty="0">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dirty="0"/>
              <a:t>Presentation Title   |   Section Title</a:t>
            </a:r>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8210412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401284" y="3480486"/>
            <a:ext cx="4499480" cy="2458352"/>
          </a:xfrm>
        </p:spPr>
        <p:txBody>
          <a:bodyPr/>
          <a:lstStyle>
            <a:lvl1pPr>
              <a:lnSpc>
                <a:spcPct val="100000"/>
              </a:lnSpc>
              <a:defRPr sz="3200" b="0"/>
            </a:lvl1pPr>
          </a:lstStyle>
          <a:p>
            <a:r>
              <a:rPr lang="en-US" dirty="0"/>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0050"/>
            <a:ext cx="6614842" cy="5539040"/>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 tIns="1554480" rIns="9144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09655488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402336" y="402336"/>
            <a:ext cx="3737453" cy="1295399"/>
          </a:xfrm>
          <a:prstGeom prst="rect">
            <a:avLst/>
          </a:prstGeom>
        </p:spPr>
        <p:txBody>
          <a:bodyPr vert="horz" lIns="0" tIns="0" rIns="0" bIns="0" rtlCol="0" anchor="t" anchorCtr="0">
            <a:noAutofit/>
          </a:bodyPr>
          <a:lstStyle>
            <a:lvl1pPr>
              <a:defRPr b="0"/>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70" y="2979420"/>
            <a:ext cx="3727450" cy="2620963"/>
          </a:xfrm>
        </p:spPr>
        <p:txBody>
          <a:bodyPr/>
          <a:lstStyle>
            <a:lvl1pPr>
              <a:lnSpc>
                <a:spcPct val="100000"/>
              </a:lnSpc>
              <a:spcBef>
                <a:spcPts val="0"/>
              </a:spcBef>
              <a:defRPr sz="1500"/>
            </a:lvl1pPr>
            <a:lvl2pPr>
              <a:defRPr sz="1200">
                <a:latin typeface="+mj-lt"/>
              </a:defRPr>
            </a:lvl2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2336"/>
            <a:ext cx="6614837" cy="5532376"/>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 tIns="1554480" rIns="9144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2626088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97668" y="2457451"/>
            <a:ext cx="2767808" cy="765810"/>
          </a:xfrm>
          <a:prstGeom prst="rect">
            <a:avLst/>
          </a:prstGeom>
        </p:spPr>
        <p:txBody>
          <a:bodyPr vert="horz" lIns="0" tIns="0" rIns="0" bIns="0" rtlCol="0" anchor="t" anchorCtr="0">
            <a:noAutofit/>
          </a:bodyPr>
          <a:lstStyle>
            <a:lvl1pPr>
              <a:defRPr b="0"/>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69" y="3492183"/>
            <a:ext cx="2757805" cy="2115820"/>
          </a:xfrm>
        </p:spPr>
        <p:txBody>
          <a:bodyPr/>
          <a:lstStyle>
            <a:lvl1pPr>
              <a:lnSpc>
                <a:spcPct val="120000"/>
              </a:lnSpc>
              <a:spcBef>
                <a:spcPts val="0"/>
              </a:spcBef>
              <a:defRPr sz="1200" b="0">
                <a:latin typeface="+mj-lt"/>
              </a:defRPr>
            </a:lvl1pPr>
            <a:lvl2pPr>
              <a:defRPr sz="1200">
                <a:latin typeface="+mn-lt"/>
              </a:defRPr>
            </a:lvl2pPr>
          </a:lstStyle>
          <a:p>
            <a:pPr lvl="0"/>
            <a:r>
              <a:rPr lang="en-US"/>
              <a:t>Click to edit Master text styles</a:t>
            </a:r>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88471" y="400050"/>
            <a:ext cx="8513514" cy="5540196"/>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Tree>
    <p:extLst>
      <p:ext uri="{BB962C8B-B14F-4D97-AF65-F5344CB8AC3E}">
        <p14:creationId xmlns:p14="http://schemas.microsoft.com/office/powerpoint/2010/main" val="27931334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955731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0797364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369B2012-7A09-E6A5-2473-4DB6823B0A7E}"/>
              </a:ext>
            </a:extLst>
          </p:cNvPr>
          <p:cNvSpPr>
            <a:spLocks noGrp="1"/>
          </p:cNvSpPr>
          <p:nvPr>
            <p:ph type="title"/>
          </p:nvPr>
        </p:nvSpPr>
        <p:spPr>
          <a:xfrm>
            <a:off x="397667" y="402336"/>
            <a:ext cx="4688683"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407670" y="3492183"/>
            <a:ext cx="3719830" cy="2446655"/>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24941"/>
            <a:ext cx="1804072" cy="1432560"/>
          </a:xfrm>
          <a:solidFill>
            <a:schemeClr val="bg2"/>
          </a:solidFill>
        </p:spPr>
        <p:txBody>
          <a:bodyPr tIns="457200"/>
          <a:lstStyle>
            <a:lvl1pPr algn="ctr">
              <a:defRPr/>
            </a:lvl1pPr>
          </a:lstStyle>
          <a:p>
            <a:r>
              <a:rPr lang="en-US"/>
              <a:t>Click icon to add picture</a:t>
            </a:r>
            <a:endParaRPr lang="en-US" dirty="0"/>
          </a:p>
        </p:txBody>
      </p:sp>
      <p:sp>
        <p:nvSpPr>
          <p:cNvPr id="17" name="Content Placeholder 2">
            <a:extLst>
              <a:ext uri="{FF2B5EF4-FFF2-40B4-BE49-F238E27FC236}">
                <a16:creationId xmlns:a16="http://schemas.microsoft.com/office/drawing/2014/main" id="{E0678072-A6EC-A7CF-E412-0D3F27A1A0A0}"/>
              </a:ext>
            </a:extLst>
          </p:cNvPr>
          <p:cNvSpPr>
            <a:spLocks noGrp="1"/>
          </p:cNvSpPr>
          <p:nvPr>
            <p:ph idx="10"/>
          </p:nvPr>
        </p:nvSpPr>
        <p:spPr>
          <a:xfrm>
            <a:off x="7127838" y="1446213"/>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81643"/>
            <a:ext cx="1804072" cy="1432560"/>
          </a:xfrm>
          <a:solidFill>
            <a:schemeClr val="bg2"/>
          </a:solidFill>
        </p:spPr>
        <p:txBody>
          <a:bodyPr tIns="457200"/>
          <a:lstStyle>
            <a:lvl1pPr algn="ctr">
              <a:defRPr/>
            </a:lvl1pPr>
          </a:lstStyle>
          <a:p>
            <a:r>
              <a:rPr lang="en-US"/>
              <a:t>Click icon to add picture</a:t>
            </a:r>
            <a:endParaRPr lang="en-US" dirty="0"/>
          </a:p>
        </p:txBody>
      </p:sp>
      <p:sp>
        <p:nvSpPr>
          <p:cNvPr id="18" name="Content Placeholder 2">
            <a:extLst>
              <a:ext uri="{FF2B5EF4-FFF2-40B4-BE49-F238E27FC236}">
                <a16:creationId xmlns:a16="http://schemas.microsoft.com/office/drawing/2014/main" id="{F62FE28B-1451-7A6D-A415-8DE9235897A9}"/>
              </a:ext>
            </a:extLst>
          </p:cNvPr>
          <p:cNvSpPr>
            <a:spLocks noGrp="1"/>
          </p:cNvSpPr>
          <p:nvPr>
            <p:ph idx="13"/>
          </p:nvPr>
        </p:nvSpPr>
        <p:spPr>
          <a:xfrm>
            <a:off x="7127838" y="2979420"/>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endParaRPr lang="en-US" dirty="0"/>
          </a:p>
        </p:txBody>
      </p:sp>
      <p:sp>
        <p:nvSpPr>
          <p:cNvPr id="19" name="Content Placeholder 2">
            <a:extLst>
              <a:ext uri="{FF2B5EF4-FFF2-40B4-BE49-F238E27FC236}">
                <a16:creationId xmlns:a16="http://schemas.microsoft.com/office/drawing/2014/main" id="{ADD78EAE-A704-D3CE-D6AA-6E6E52DCA211}"/>
              </a:ext>
            </a:extLst>
          </p:cNvPr>
          <p:cNvSpPr>
            <a:spLocks noGrp="1"/>
          </p:cNvSpPr>
          <p:nvPr>
            <p:ph idx="14"/>
          </p:nvPr>
        </p:nvSpPr>
        <p:spPr>
          <a:xfrm>
            <a:off x="7127838" y="4519931"/>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786579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dirty="0"/>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9" name="Text Placeholder 8">
            <a:extLst>
              <a:ext uri="{FF2B5EF4-FFF2-40B4-BE49-F238E27FC236}">
                <a16:creationId xmlns:a16="http://schemas.microsoft.com/office/drawing/2014/main" id="{9D440408-8D82-6FAB-8574-86AD0978A5D2}"/>
              </a:ext>
            </a:extLst>
          </p:cNvPr>
          <p:cNvSpPr>
            <a:spLocks noGrp="1"/>
          </p:cNvSpPr>
          <p:nvPr>
            <p:ph type="body" sz="quarter" idx="10"/>
          </p:nvPr>
        </p:nvSpPr>
        <p:spPr>
          <a:xfrm>
            <a:off x="6165850" y="3500447"/>
            <a:ext cx="5635625" cy="2438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3576929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8350" y="400050"/>
            <a:ext cx="4683125" cy="2970213"/>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dirty="0"/>
              <a:t>0,000</a:t>
            </a:r>
          </a:p>
          <a:p>
            <a:pPr lvl="1"/>
            <a:r>
              <a:rPr lang="en-US" dirty="0"/>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Text Placeholder 9">
            <a:extLst>
              <a:ext uri="{FF2B5EF4-FFF2-40B4-BE49-F238E27FC236}">
                <a16:creationId xmlns:a16="http://schemas.microsoft.com/office/drawing/2014/main" id="{5B8C705A-7501-8BB2-360F-85F75D8C5472}"/>
              </a:ext>
            </a:extLst>
          </p:cNvPr>
          <p:cNvSpPr>
            <a:spLocks noGrp="1"/>
          </p:cNvSpPr>
          <p:nvPr>
            <p:ph type="body" sz="quarter" idx="12"/>
          </p:nvPr>
        </p:nvSpPr>
        <p:spPr>
          <a:xfrm>
            <a:off x="9037638" y="3484563"/>
            <a:ext cx="2757487" cy="193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85510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400050"/>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36051" y="400050"/>
            <a:ext cx="2765424" cy="2777490"/>
          </a:xfrm>
          <a:solidFill>
            <a:schemeClr val="accent1"/>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36051"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0081918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DACEF0AF-E2A8-B95F-9038-793C9FF94FBE}"/>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47643"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4247643"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8759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8087598"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6542158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25B5614F-1512-8F64-6245-6374F3844E2C}"/>
              </a:ext>
            </a:extLst>
          </p:cNvPr>
          <p:cNvSpPr>
            <a:spLocks noGrp="1"/>
          </p:cNvSpPr>
          <p:nvPr>
            <p:ph type="title"/>
          </p:nvPr>
        </p:nvSpPr>
        <p:spPr>
          <a:xfrm>
            <a:off x="397667" y="402335"/>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88624"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3288624"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69800"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6169800"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4" name="Content Placeholder 2">
            <a:extLst>
              <a:ext uri="{FF2B5EF4-FFF2-40B4-BE49-F238E27FC236}">
                <a16:creationId xmlns:a16="http://schemas.microsoft.com/office/drawing/2014/main" id="{B19B3672-1BF6-5E8D-DC7D-048381D2695A}"/>
              </a:ext>
            </a:extLst>
          </p:cNvPr>
          <p:cNvSpPr>
            <a:spLocks noGrp="1"/>
          </p:cNvSpPr>
          <p:nvPr>
            <p:ph idx="15"/>
          </p:nvPr>
        </p:nvSpPr>
        <p:spPr>
          <a:xfrm>
            <a:off x="9050976"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24041333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09F1385C-E183-4949-1E52-945BDAAEC82D}"/>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p:nvPr>
        </p:nvSpPr>
        <p:spPr>
          <a:xfrm>
            <a:off x="408425" y="3495320"/>
            <a:ext cx="3719076" cy="2451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99063" y="1946275"/>
            <a:ext cx="5640387" cy="3992563"/>
          </a:xfrm>
        </p:spPr>
        <p:txBody>
          <a:bodyPr/>
          <a:lstStyle>
            <a:lvl1pPr algn="ctr">
              <a:defRPr/>
            </a:lvl1pPr>
          </a:lstStyle>
          <a:p>
            <a:r>
              <a:rPr lang="en-US"/>
              <a:t>Click icon to add chart</a:t>
            </a:r>
            <a:endParaRPr lang="en-US" dirty="0"/>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0855695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970667"/>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1" name="Content Placeholder 2">
            <a:extLst>
              <a:ext uri="{FF2B5EF4-FFF2-40B4-BE49-F238E27FC236}">
                <a16:creationId xmlns:a16="http://schemas.microsoft.com/office/drawing/2014/main" id="{CE07336A-CA43-BA10-15BC-4A7C003A2346}"/>
              </a:ext>
            </a:extLst>
          </p:cNvPr>
          <p:cNvSpPr>
            <a:spLocks noGrp="1"/>
          </p:cNvSpPr>
          <p:nvPr>
            <p:ph idx="10"/>
          </p:nvPr>
        </p:nvSpPr>
        <p:spPr>
          <a:xfrm>
            <a:off x="411484"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88643" y="1970667"/>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5802" y="1970667"/>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21" name="Content Placeholder 2">
            <a:extLst>
              <a:ext uri="{FF2B5EF4-FFF2-40B4-BE49-F238E27FC236}">
                <a16:creationId xmlns:a16="http://schemas.microsoft.com/office/drawing/2014/main" id="{E38614DA-316C-FC85-3F42-B262BEAC7A89}"/>
              </a:ext>
            </a:extLst>
          </p:cNvPr>
          <p:cNvSpPr>
            <a:spLocks noGrp="1"/>
          </p:cNvSpPr>
          <p:nvPr>
            <p:ph idx="26"/>
          </p:nvPr>
        </p:nvSpPr>
        <p:spPr>
          <a:xfrm>
            <a:off x="6165805"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2961" y="1970667"/>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23" name="Content Placeholder 2">
            <a:extLst>
              <a:ext uri="{FF2B5EF4-FFF2-40B4-BE49-F238E27FC236}">
                <a16:creationId xmlns:a16="http://schemas.microsoft.com/office/drawing/2014/main" id="{519D1C7E-BE40-062C-9607-4651359E8EAD}"/>
              </a:ext>
            </a:extLst>
          </p:cNvPr>
          <p:cNvSpPr>
            <a:spLocks noGrp="1"/>
          </p:cNvSpPr>
          <p:nvPr>
            <p:ph idx="28"/>
          </p:nvPr>
        </p:nvSpPr>
        <p:spPr>
          <a:xfrm>
            <a:off x="9050247"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37884784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442398"/>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411484" y="3494738"/>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4" name="Content Placeholder 2">
            <a:extLst>
              <a:ext uri="{FF2B5EF4-FFF2-40B4-BE49-F238E27FC236}">
                <a16:creationId xmlns:a16="http://schemas.microsoft.com/office/drawing/2014/main" id="{7C31502B-FAB9-8313-90B7-D7C06363AE17}"/>
              </a:ext>
            </a:extLst>
          </p:cNvPr>
          <p:cNvSpPr>
            <a:spLocks noGrp="1"/>
          </p:cNvSpPr>
          <p:nvPr>
            <p:ph idx="25"/>
          </p:nvPr>
        </p:nvSpPr>
        <p:spPr>
          <a:xfrm>
            <a:off x="328864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66924" y="1442398"/>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0" name="Content Placeholder 2">
            <a:extLst>
              <a:ext uri="{FF2B5EF4-FFF2-40B4-BE49-F238E27FC236}">
                <a16:creationId xmlns:a16="http://schemas.microsoft.com/office/drawing/2014/main" id="{3DF40A1F-2110-372D-0359-94789B6D9CD7}"/>
              </a:ext>
            </a:extLst>
          </p:cNvPr>
          <p:cNvSpPr>
            <a:spLocks noGrp="1"/>
          </p:cNvSpPr>
          <p:nvPr>
            <p:ph idx="28"/>
          </p:nvPr>
        </p:nvSpPr>
        <p:spPr>
          <a:xfrm>
            <a:off x="9049151"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66924" y="3494738"/>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4" name="Content Placeholder 2">
            <a:extLst>
              <a:ext uri="{FF2B5EF4-FFF2-40B4-BE49-F238E27FC236}">
                <a16:creationId xmlns:a16="http://schemas.microsoft.com/office/drawing/2014/main" id="{FCAFF494-77C5-F797-6FAA-D4D42743AB5D}"/>
              </a:ext>
            </a:extLst>
          </p:cNvPr>
          <p:cNvSpPr>
            <a:spLocks noGrp="1"/>
          </p:cNvSpPr>
          <p:nvPr>
            <p:ph idx="29"/>
          </p:nvPr>
        </p:nvSpPr>
        <p:spPr>
          <a:xfrm>
            <a:off x="904408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0745335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42545967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59351640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53658" y="1946275"/>
            <a:ext cx="6629400" cy="1482725"/>
          </a:xfrm>
        </p:spPr>
        <p:txBody>
          <a:bodyPr anchor="t" anchorCtr="0"/>
          <a:lstStyle>
            <a:lvl1pPr algn="l">
              <a:lnSpc>
                <a:spcPct val="80000"/>
              </a:lnSpc>
              <a:spcBef>
                <a:spcPts val="1200"/>
              </a:spcBef>
              <a:defRPr sz="6600"/>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j-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dirty="0">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2772662045"/>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428750"/>
            <a:ext cx="8520907" cy="1933344"/>
          </a:xfrm>
        </p:spPr>
        <p:txBody>
          <a:bodyPr anchor="b" anchorCtr="0"/>
          <a:lstStyle>
            <a:lvl1pPr algn="l">
              <a:lnSpc>
                <a:spcPct val="80000"/>
              </a:lnSpc>
              <a:spcBef>
                <a:spcPts val="1200"/>
              </a:spcBef>
              <a:defRPr sz="6600">
                <a:solidFill>
                  <a:schemeClr val="tx1"/>
                </a:solidFill>
              </a:defRPr>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40243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dirty="0">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1535985866"/>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957425"/>
            <a:ext cx="5229304" cy="2441537"/>
          </a:xfrm>
        </p:spPr>
        <p:txBody>
          <a:bodyPr anchor="t" anchorCtr="0"/>
          <a:lstStyle>
            <a:lvl1pPr algn="l">
              <a:lnSpc>
                <a:spcPct val="80000"/>
              </a:lnSpc>
              <a:spcBef>
                <a:spcPts val="1200"/>
              </a:spcBef>
              <a:defRPr sz="6600">
                <a:solidFill>
                  <a:schemeClr val="tx1"/>
                </a:solidFill>
              </a:defRPr>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57425"/>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dirty="0">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2509489089"/>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413582" y="400050"/>
            <a:ext cx="11387893" cy="3484563"/>
          </a:xfrm>
          <a:solidFill>
            <a:schemeClr val="bg2"/>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13582" y="4410115"/>
            <a:ext cx="5630031" cy="1541462"/>
          </a:xfrm>
        </p:spPr>
        <p:txBody>
          <a:bodyPr anchor="t" anchorCtr="0"/>
          <a:lstStyle>
            <a:lvl1pPr algn="l">
              <a:lnSpc>
                <a:spcPct val="80000"/>
              </a:lnSpc>
              <a:spcBef>
                <a:spcPts val="1200"/>
              </a:spcBef>
              <a:defRPr sz="6600">
                <a:solidFill>
                  <a:schemeClr val="tx1"/>
                </a:solidFill>
              </a:defRPr>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0114"/>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dirty="0">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136328785"/>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7"/>
            <a:ext cx="6606383" cy="9152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9482935" cy="3992562"/>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0556A229-FEBB-D152-453C-CB7311E22927}"/>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dirty="0">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2268276992"/>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One Content Subtitle">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402337"/>
            <a:ext cx="11399691" cy="457200"/>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1946276"/>
            <a:ext cx="6606383" cy="400050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 Placeholder 4">
            <a:extLst>
              <a:ext uri="{FF2B5EF4-FFF2-40B4-BE49-F238E27FC236}">
                <a16:creationId xmlns:a16="http://schemas.microsoft.com/office/drawing/2014/main" id="{51C9977E-07C7-6A42-E691-FD4699CEC98F}"/>
              </a:ext>
            </a:extLst>
          </p:cNvPr>
          <p:cNvSpPr>
            <a:spLocks noGrp="1"/>
          </p:cNvSpPr>
          <p:nvPr>
            <p:ph type="body" sz="quarter" idx="10"/>
          </p:nvPr>
        </p:nvSpPr>
        <p:spPr>
          <a:xfrm>
            <a:off x="401638" y="885381"/>
            <a:ext cx="11399837" cy="685800"/>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305533739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One Column Chart">
  <p:cSld name="1_One Column Chart">
    <p:spTree>
      <p:nvGrpSpPr>
        <p:cNvPr id="1" name="Shape 223"/>
        <p:cNvGrpSpPr/>
        <p:nvPr/>
      </p:nvGrpSpPr>
      <p:grpSpPr>
        <a:xfrm>
          <a:off x="0" y="0"/>
          <a:ext cx="0" cy="0"/>
          <a:chOff x="0" y="0"/>
          <a:chExt cx="0" cy="0"/>
        </a:xfrm>
      </p:grpSpPr>
      <p:sp>
        <p:nvSpPr>
          <p:cNvPr id="224" name="Google Shape;224;p36"/>
          <p:cNvSpPr txBox="1">
            <a:spLocks noGrp="1"/>
          </p:cNvSpPr>
          <p:nvPr>
            <p:ph type="body" idx="1"/>
          </p:nvPr>
        </p:nvSpPr>
        <p:spPr>
          <a:xfrm>
            <a:off x="442913"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25" name="Google Shape;225;p36"/>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Arial"/>
                <a:ea typeface="Arial"/>
                <a:cs typeface="Arial"/>
                <a:sym typeface="Arial"/>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26" name="Google Shape;226;p36"/>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2825301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442913" y="432001"/>
            <a:ext cx="11306175" cy="4924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11327130" y="6400800"/>
            <a:ext cx="421958"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09604790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dirty="0"/>
          </a:p>
        </p:txBody>
      </p:sp>
    </p:spTree>
    <p:extLst>
      <p:ext uri="{BB962C8B-B14F-4D97-AF65-F5344CB8AC3E}">
        <p14:creationId xmlns:p14="http://schemas.microsoft.com/office/powerpoint/2010/main" val="2059310726"/>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 id="2147483942" r:id="rId60"/>
    <p:sldLayoutId id="2147483943" r:id="rId61"/>
    <p:sldLayoutId id="2147483944" r:id="rId62"/>
    <p:sldLayoutId id="2147483945" r:id="rId63"/>
    <p:sldLayoutId id="2147483946" r:id="rId64"/>
    <p:sldLayoutId id="2147483947" r:id="rId65"/>
    <p:sldLayoutId id="2147483948" r:id="rId66"/>
    <p:sldLayoutId id="2147483949" r:id="rId67"/>
    <p:sldLayoutId id="2147483950" r:id="rId68"/>
    <p:sldLayoutId id="2147483951" r:id="rId69"/>
    <p:sldLayoutId id="2147483952" r:id="rId70"/>
    <p:sldLayoutId id="2147483953" r:id="rId71"/>
    <p:sldLayoutId id="2147483954" r:id="rId72"/>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p15:clr>
            <a:srgbClr val="F26B43"/>
          </p15:clr>
        </p15:guide>
        <p15:guide id="3" pos="252">
          <p15:clr>
            <a:srgbClr val="F26B43"/>
          </p15:clr>
        </p15:guide>
        <p15:guide id="4" pos="7434">
          <p15:clr>
            <a:srgbClr val="F26B43"/>
          </p15:clr>
        </p15:guide>
        <p15:guide id="11" orient="horz" pos="4065">
          <p15:clr>
            <a:srgbClr val="F26B43"/>
          </p15:clr>
        </p15:guide>
        <p15:guide id="12" pos="786">
          <p15:clr>
            <a:srgbClr val="F26B43"/>
          </p15:clr>
        </p15:guide>
        <p15:guide id="13" pos="858">
          <p15:clr>
            <a:srgbClr val="F26B43"/>
          </p15:clr>
        </p15:guide>
        <p15:guide id="14" pos="1391">
          <p15:clr>
            <a:srgbClr val="F26B43"/>
          </p15:clr>
        </p15:guide>
        <p15:guide id="15" pos="1461">
          <p15:clr>
            <a:srgbClr val="F26B43"/>
          </p15:clr>
        </p15:guide>
        <p15:guide id="16" pos="1994">
          <p15:clr>
            <a:srgbClr val="F26B43"/>
          </p15:clr>
        </p15:guide>
        <p15:guide id="17" pos="2067">
          <p15:clr>
            <a:srgbClr val="F26B43"/>
          </p15:clr>
        </p15:guide>
        <p15:guide id="18" pos="2600">
          <p15:clr>
            <a:srgbClr val="F26B43"/>
          </p15:clr>
        </p15:guide>
        <p15:guide id="19" pos="2670">
          <p15:clr>
            <a:srgbClr val="F26B43"/>
          </p15:clr>
        </p15:guide>
        <p15:guide id="20" pos="3204">
          <p15:clr>
            <a:srgbClr val="F26B43"/>
          </p15:clr>
        </p15:guide>
        <p15:guide id="21" pos="3275">
          <p15:clr>
            <a:srgbClr val="F26B43"/>
          </p15:clr>
        </p15:guide>
        <p15:guide id="22" pos="3807">
          <p15:clr>
            <a:srgbClr val="F26B43"/>
          </p15:clr>
        </p15:guide>
        <p15:guide id="23" pos="3879">
          <p15:clr>
            <a:srgbClr val="F26B43"/>
          </p15:clr>
        </p15:guide>
        <p15:guide id="24" pos="4412">
          <p15:clr>
            <a:srgbClr val="F26B43"/>
          </p15:clr>
        </p15:guide>
        <p15:guide id="25" pos="5016">
          <p15:clr>
            <a:srgbClr val="F26B43"/>
          </p15:clr>
        </p15:guide>
        <p15:guide id="26" pos="4484">
          <p15:clr>
            <a:srgbClr val="F26B43"/>
          </p15:clr>
        </p15:guide>
        <p15:guide id="27" pos="5088">
          <p15:clr>
            <a:srgbClr val="F26B43"/>
          </p15:clr>
        </p15:guide>
        <p15:guide id="28" pos="5621">
          <p15:clr>
            <a:srgbClr val="F26B43"/>
          </p15:clr>
        </p15:guide>
        <p15:guide id="29" pos="5693">
          <p15:clr>
            <a:srgbClr val="F26B43"/>
          </p15:clr>
        </p15:guide>
        <p15:guide id="30" pos="6224">
          <p15:clr>
            <a:srgbClr val="F26B43"/>
          </p15:clr>
        </p15:guide>
        <p15:guide id="31" pos="6297">
          <p15:clr>
            <a:srgbClr val="F26B43"/>
          </p15:clr>
        </p15:guide>
        <p15:guide id="32" pos="6828">
          <p15:clr>
            <a:srgbClr val="F26B43"/>
          </p15:clr>
        </p15:guide>
        <p15:guide id="33" pos="6900">
          <p15:clr>
            <a:srgbClr val="F26B43"/>
          </p15:clr>
        </p15:guide>
        <p15:guide id="34" orient="horz" pos="506">
          <p15:clr>
            <a:srgbClr val="F26B43"/>
          </p15:clr>
        </p15:guide>
        <p15:guide id="35" orient="horz" pos="578">
          <p15:clr>
            <a:srgbClr val="F26B43"/>
          </p15:clr>
        </p15:guide>
        <p15:guide id="36" orient="horz" pos="830">
          <p15:clr>
            <a:srgbClr val="F26B43"/>
          </p15:clr>
        </p15:guide>
        <p15:guide id="37" orient="horz" pos="900">
          <p15:clr>
            <a:srgbClr val="F26B43"/>
          </p15:clr>
        </p15:guide>
        <p15:guide id="38" orient="horz" pos="1152">
          <p15:clr>
            <a:srgbClr val="F26B43"/>
          </p15:clr>
        </p15:guide>
        <p15:guide id="39" orient="horz" pos="1226">
          <p15:clr>
            <a:srgbClr val="F26B43"/>
          </p15:clr>
        </p15:guide>
        <p15:guide id="40" orient="horz" pos="1476">
          <p15:clr>
            <a:srgbClr val="F26B43"/>
          </p15:clr>
        </p15:guide>
        <p15:guide id="41" orient="horz" pos="1800">
          <p15:clr>
            <a:srgbClr val="F26B43"/>
          </p15:clr>
        </p15:guide>
        <p15:guide id="42" orient="horz" pos="1872">
          <p15:clr>
            <a:srgbClr val="F26B43"/>
          </p15:clr>
        </p15:guide>
        <p15:guide id="43" orient="horz" pos="2123">
          <p15:clr>
            <a:srgbClr val="F26B43"/>
          </p15:clr>
        </p15:guide>
        <p15:guide id="44" orient="horz" pos="2195">
          <p15:clr>
            <a:srgbClr val="F26B43"/>
          </p15:clr>
        </p15:guide>
        <p15:guide id="45" orient="horz" pos="2447">
          <p15:clr>
            <a:srgbClr val="F26B43"/>
          </p15:clr>
        </p15:guide>
        <p15:guide id="46" orient="horz" pos="2519">
          <p15:clr>
            <a:srgbClr val="F26B43"/>
          </p15:clr>
        </p15:guide>
        <p15:guide id="47" orient="horz" pos="2771">
          <p15:clr>
            <a:srgbClr val="F26B43"/>
          </p15:clr>
        </p15:guide>
        <p15:guide id="48" orient="horz" pos="2843">
          <p15:clr>
            <a:srgbClr val="F26B43"/>
          </p15:clr>
        </p15:guide>
        <p15:guide id="49" orient="horz" pos="3095">
          <p15:clr>
            <a:srgbClr val="F26B43"/>
          </p15:clr>
        </p15:guide>
        <p15:guide id="50" orient="horz" pos="3167">
          <p15:clr>
            <a:srgbClr val="F26B43"/>
          </p15:clr>
        </p15:guide>
        <p15:guide id="51" orient="horz" pos="3417">
          <p15:clr>
            <a:srgbClr val="F26B43"/>
          </p15:clr>
        </p15:guide>
        <p15:guide id="52" orient="horz" pos="3489">
          <p15:clr>
            <a:srgbClr val="F26B43"/>
          </p15:clr>
        </p15:guide>
        <p15:guide id="53" orient="horz" pos="3741">
          <p15:clr>
            <a:srgbClr val="F26B43"/>
          </p15:clr>
        </p15:guide>
        <p15:guide id="54" orient="horz" pos="3813">
          <p15:clr>
            <a:srgbClr val="F26B43"/>
          </p15:clr>
        </p15:guide>
        <p15:guide id="55" orient="horz" pos="15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3" Type="http://schemas.openxmlformats.org/officeDocument/2006/relationships/hyperlink" Target="https://feedbackexchange.pwcinternal.com/logout" TargetMode="External"/><Relationship Id="rId2" Type="http://schemas.openxmlformats.org/officeDocument/2006/relationships/notesSlide" Target="../notesSlides/notesSlide2.xml"/><Relationship Id="rId1" Type="http://schemas.openxmlformats.org/officeDocument/2006/relationships/slideLayout" Target="../slideLayouts/slideLayout70.xml"/><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hyperlink" Target="https://pwc.mediaspace.kaltura.com/embed/secure/iframe/entryId/1_xgf3nv02" TargetMode="External"/><Relationship Id="rId2" Type="http://schemas.openxmlformats.org/officeDocument/2006/relationships/notesSlide" Target="../notesSlides/notesSlide3.xml"/><Relationship Id="rId1" Type="http://schemas.openxmlformats.org/officeDocument/2006/relationships/slideLayout" Target="../slideLayouts/slideLayout63.xml"/><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3.xml"/></Relationships>
</file>

<file path=ppt/slides/_rels/slide5.xml.rels><?xml version="1.0" encoding="UTF-8" standalone="yes"?>
<Relationships xmlns="http://schemas.openxmlformats.org/package/2006/relationships"><Relationship Id="rId3" Type="http://schemas.openxmlformats.org/officeDocument/2006/relationships/hyperlink" Target="https://pwceur.sharepoint.com/sites/GBL-ASR-QMSEmicrosite/SitePages/Assurance-Quality-Dimensions.aspx" TargetMode="External"/><Relationship Id="rId2" Type="http://schemas.openxmlformats.org/officeDocument/2006/relationships/notesSlide" Target="../notesSlides/notesSlide5.xml"/><Relationship Id="rId1" Type="http://schemas.openxmlformats.org/officeDocument/2006/relationships/slideLayout" Target="../slideLayouts/slideLayout7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1.xml"/><Relationship Id="rId6" Type="http://schemas.openxmlformats.org/officeDocument/2006/relationships/hyperlink" Target="https://wwwpwcnetwork.pwc.myshn.net/hub?id=kb_article_view&amp;sysparm_article=KB0214061&amp;shn-direct" TargetMode="External"/><Relationship Id="rId5" Type="http://schemas.openxmlformats.org/officeDocument/2006/relationships/hyperlink" Target="https://pwceur.sharepoint.com/sites/GBL-ASR-QMSEmicrosite/SitePages/Assurance-Quality-Dimensions.aspx" TargetMode="Externa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1.xml"/><Relationship Id="rId6" Type="http://schemas.openxmlformats.org/officeDocument/2006/relationships/image" Target="../media/image15.png"/><Relationship Id="rId5" Type="http://schemas.openxmlformats.org/officeDocument/2006/relationships/hyperlink" Target="https://wwwpwcnetwork.pwc.myshn.net/hub?id=kb_article_view&amp;sysparm_article=KB0214061&amp;shn-direct" TargetMode="Externa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1.xml"/><Relationship Id="rId6" Type="http://schemas.openxmlformats.org/officeDocument/2006/relationships/hyperlink" Target="https://wwwpwcnetwork.pwc.myshn.net/hub?id=kb_article_view&amp;sysparm_article=KB0214061&amp;shn-direct" TargetMode="External"/><Relationship Id="rId5" Type="http://schemas.openxmlformats.org/officeDocument/2006/relationships/hyperlink" Target="https://pwceur.sharepoint.com/sites/GBL-ASR-QMSEmicrosite/SitePages/Assurance-Quality-Dimensions.aspx" TargetMode="Externa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1.xml"/><Relationship Id="rId4" Type="http://schemas.openxmlformats.org/officeDocument/2006/relationships/hyperlink" Target="https://wwwpwcnetwork.pwc.myshn.net/hub?id=kb_article_view&amp;sysparm_article=KB0214061&amp;shn-direct"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pwceur.sharepoint.com/sites/ThePwcProfessional/SitePages/Home.aspx" TargetMode="External"/><Relationship Id="rId2" Type="http://schemas.openxmlformats.org/officeDocument/2006/relationships/notesSlide" Target="../notesSlides/notesSlide11.xml"/><Relationship Id="rId1" Type="http://schemas.openxmlformats.org/officeDocument/2006/relationships/slideLayout" Target="../slideLayouts/slideLayout70.xml"/></Relationships>
</file>

<file path=ppt/slides/_rels/slide12.xml.rels><?xml version="1.0" encoding="UTF-8" standalone="yes"?>
<Relationships xmlns="http://schemas.openxmlformats.org/package/2006/relationships"><Relationship Id="rId3" Type="http://schemas.openxmlformats.org/officeDocument/2006/relationships/hyperlink" Target="https://docs.google.com/presentation/d/1b-3QYNGrvup07hq2jc76kBAHm3BEW0q7QHumnJXAG74/edit#slide=id.g2c0609c5a7e_0_720" TargetMode="External"/><Relationship Id="rId2" Type="http://schemas.openxmlformats.org/officeDocument/2006/relationships/notesSlide" Target="../notesSlides/notesSlide12.xml"/><Relationship Id="rId1" Type="http://schemas.openxmlformats.org/officeDocument/2006/relationships/slideLayout" Target="../slideLayouts/slideLayout70.xml"/></Relationships>
</file>

<file path=ppt/slides/_rels/slide13.xml.rels><?xml version="1.0" encoding="UTF-8" standalone="yes"?>
<Relationships xmlns="http://schemas.openxmlformats.org/package/2006/relationships"><Relationship Id="rId3" Type="http://schemas.openxmlformats.org/officeDocument/2006/relationships/hyperlink" Target="https://pwceur.sharepoint.com/sites/GBL-ASR-QMSEmicrosite/SitePages/Assurance-Quality-Dimensions.aspx" TargetMode="External"/><Relationship Id="rId2" Type="http://schemas.openxmlformats.org/officeDocument/2006/relationships/notesSlide" Target="../notesSlides/notesSlide13.xml"/><Relationship Id="rId1" Type="http://schemas.openxmlformats.org/officeDocument/2006/relationships/slideLayout" Target="../slideLayouts/slideLayout7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7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6"/>
          <p:cNvSpPr txBox="1"/>
          <p:nvPr/>
        </p:nvSpPr>
        <p:spPr>
          <a:xfrm>
            <a:off x="406400" y="381000"/>
            <a:ext cx="10769600" cy="1468800"/>
          </a:xfrm>
          <a:prstGeom prst="rect">
            <a:avLst/>
          </a:prstGeom>
          <a:noFill/>
          <a:ln>
            <a:noFill/>
          </a:ln>
        </p:spPr>
        <p:txBody>
          <a:bodyPr spcFirstLastPara="1" wrap="square" lIns="121900" tIns="121900" rIns="121900" bIns="121900" anchor="t" anchorCtr="0">
            <a:noAutofit/>
          </a:bodyPr>
          <a:lstStyle/>
          <a:p>
            <a:r>
              <a:rPr lang="en-GB" sz="3200" b="1">
                <a:latin typeface="Georgia"/>
                <a:ea typeface="Georgia"/>
                <a:cs typeface="Georgia"/>
                <a:sym typeface="Georgia"/>
              </a:rPr>
              <a:t>I have impact on my continuous development</a:t>
            </a:r>
            <a:endParaRPr sz="3200" b="1">
              <a:latin typeface="Georgia"/>
              <a:ea typeface="Georgia"/>
              <a:cs typeface="Georgia"/>
              <a:sym typeface="Georgia"/>
            </a:endParaRPr>
          </a:p>
          <a:p>
            <a:r>
              <a:rPr lang="en-GB" sz="2400">
                <a:latin typeface="Georgia"/>
                <a:ea typeface="Georgia"/>
                <a:cs typeface="Georgia"/>
                <a:sym typeface="Georgia"/>
              </a:rPr>
              <a:t>THROUGH ONGOING REAL-TIME FEEDBACK</a:t>
            </a:r>
            <a:endParaRPr sz="2400">
              <a:latin typeface="Georgia"/>
              <a:ea typeface="Georgia"/>
              <a:cs typeface="Georgia"/>
              <a:sym typeface="Georgia"/>
            </a:endParaRPr>
          </a:p>
          <a:p>
            <a:endParaRPr sz="3200" b="1">
              <a:latin typeface="Georgia"/>
              <a:ea typeface="Georgia"/>
              <a:cs typeface="Georgia"/>
              <a:sym typeface="Georgia"/>
            </a:endParaRPr>
          </a:p>
        </p:txBody>
      </p:sp>
      <p:sp>
        <p:nvSpPr>
          <p:cNvPr id="301" name="Google Shape;301;p46"/>
          <p:cNvSpPr txBox="1"/>
          <p:nvPr/>
        </p:nvSpPr>
        <p:spPr>
          <a:xfrm>
            <a:off x="401467" y="1814900"/>
            <a:ext cx="10266400" cy="446000"/>
          </a:xfrm>
          <a:prstGeom prst="rect">
            <a:avLst/>
          </a:prstGeom>
          <a:solidFill>
            <a:srgbClr val="999999"/>
          </a:solidFill>
          <a:ln>
            <a:noFill/>
          </a:ln>
        </p:spPr>
        <p:txBody>
          <a:bodyPr spcFirstLastPara="1" wrap="square" lIns="56967" tIns="56967" rIns="56967" bIns="56967" anchor="ctr" anchorCtr="0">
            <a:noAutofit/>
          </a:bodyPr>
          <a:lstStyle/>
          <a:p>
            <a:pPr algn="ctr"/>
            <a:r>
              <a:rPr lang="en-GB" sz="2489" b="1">
                <a:solidFill>
                  <a:srgbClr val="FFFFFF"/>
                </a:solidFill>
                <a:latin typeface="Georgia"/>
                <a:ea typeface="Georgia"/>
                <a:cs typeface="Georgia"/>
                <a:sym typeface="Georgia"/>
              </a:rPr>
              <a:t>WHAT DOES IT MEAN FOR ME?</a:t>
            </a:r>
            <a:endParaRPr sz="2489"/>
          </a:p>
        </p:txBody>
      </p:sp>
      <p:sp>
        <p:nvSpPr>
          <p:cNvPr id="302" name="Google Shape;302;p46"/>
          <p:cNvSpPr txBox="1"/>
          <p:nvPr/>
        </p:nvSpPr>
        <p:spPr>
          <a:xfrm>
            <a:off x="401467" y="2339467"/>
            <a:ext cx="10266400" cy="4221200"/>
          </a:xfrm>
          <a:prstGeom prst="rect">
            <a:avLst/>
          </a:prstGeom>
          <a:noFill/>
          <a:ln w="9525" cap="flat" cmpd="sng">
            <a:solidFill>
              <a:srgbClr val="CCCCCC"/>
            </a:solidFill>
            <a:prstDash val="solid"/>
            <a:round/>
            <a:headEnd type="none" w="sm" len="sm"/>
            <a:tailEnd type="none" w="sm" len="sm"/>
          </a:ln>
        </p:spPr>
        <p:txBody>
          <a:bodyPr spcFirstLastPara="1" wrap="square" lIns="121900" tIns="121900" rIns="121900" bIns="121900" anchor="t" anchorCtr="0">
            <a:noAutofit/>
          </a:bodyPr>
          <a:lstStyle/>
          <a:p>
            <a:pPr marL="609585" indent="-423323">
              <a:lnSpc>
                <a:spcPct val="114000"/>
              </a:lnSpc>
              <a:buClr>
                <a:schemeClr val="dk1"/>
              </a:buClr>
              <a:buSzPts val="1400"/>
              <a:buFont typeface="Georgia"/>
              <a:buChar char="●"/>
            </a:pPr>
            <a:r>
              <a:rPr lang="en-GB" sz="1800" b="1" dirty="0">
                <a:solidFill>
                  <a:schemeClr val="dk1"/>
                </a:solidFill>
              </a:rPr>
              <a:t>Feedback Exchange tool </a:t>
            </a:r>
            <a:r>
              <a:rPr lang="en-GB" sz="1800" dirty="0">
                <a:solidFill>
                  <a:schemeClr val="dk1"/>
                </a:solidFill>
              </a:rPr>
              <a:t>is the main and only system that I use for Real-Time Feedback</a:t>
            </a:r>
            <a:endParaRPr sz="1800" dirty="0">
              <a:solidFill>
                <a:schemeClr val="dk1"/>
              </a:solidFill>
            </a:endParaRPr>
          </a:p>
          <a:p>
            <a:pPr marL="609585" indent="-423323">
              <a:lnSpc>
                <a:spcPct val="114000"/>
              </a:lnSpc>
              <a:spcBef>
                <a:spcPts val="400"/>
              </a:spcBef>
              <a:buSzPts val="1400"/>
              <a:buFont typeface="Georgia"/>
              <a:buChar char="●"/>
            </a:pPr>
            <a:r>
              <a:rPr lang="en-GB" sz="1800" dirty="0"/>
              <a:t>I </a:t>
            </a:r>
            <a:r>
              <a:rPr lang="en-GB" sz="1800" b="1" dirty="0"/>
              <a:t>give</a:t>
            </a:r>
            <a:r>
              <a:rPr lang="en-GB" sz="1800" dirty="0"/>
              <a:t> my People </a:t>
            </a:r>
            <a:r>
              <a:rPr lang="en-GB" sz="1800" b="1" dirty="0"/>
              <a:t>real-time feedback </a:t>
            </a:r>
            <a:r>
              <a:rPr lang="en-GB" sz="1800" dirty="0"/>
              <a:t>so that they are able to benefit from it throughout the year</a:t>
            </a:r>
            <a:endParaRPr sz="1800" dirty="0"/>
          </a:p>
          <a:p>
            <a:pPr marL="609585" indent="-423323">
              <a:lnSpc>
                <a:spcPct val="114000"/>
              </a:lnSpc>
              <a:spcBef>
                <a:spcPts val="400"/>
              </a:spcBef>
              <a:buSzPts val="1400"/>
              <a:buFont typeface="Georgia"/>
              <a:buChar char="●"/>
            </a:pPr>
            <a:r>
              <a:rPr lang="en-GB" sz="1800" dirty="0"/>
              <a:t>I</a:t>
            </a:r>
            <a:r>
              <a:rPr lang="en-GB" sz="1800" b="1" dirty="0"/>
              <a:t> ask </a:t>
            </a:r>
            <a:r>
              <a:rPr lang="en-GB" sz="1800" dirty="0"/>
              <a:t>my Team Members</a:t>
            </a:r>
            <a:r>
              <a:rPr lang="en-GB" sz="1800" b="1" dirty="0"/>
              <a:t> for ongoing feedback</a:t>
            </a:r>
            <a:r>
              <a:rPr lang="en-GB" sz="1800" dirty="0"/>
              <a:t> which helps me improve my leadership skills</a:t>
            </a:r>
            <a:endParaRPr sz="1800" dirty="0"/>
          </a:p>
          <a:p>
            <a:pPr marL="609585" indent="-423323">
              <a:lnSpc>
                <a:spcPct val="114000"/>
              </a:lnSpc>
              <a:spcBef>
                <a:spcPts val="400"/>
              </a:spcBef>
              <a:buSzPts val="1400"/>
              <a:buFont typeface="Georgia"/>
              <a:buChar char="●"/>
            </a:pPr>
            <a:r>
              <a:rPr lang="en-GB" sz="1800" dirty="0"/>
              <a:t>I have </a:t>
            </a:r>
            <a:r>
              <a:rPr lang="en-GB" sz="1800" b="1" dirty="0"/>
              <a:t>direct access</a:t>
            </a:r>
            <a:r>
              <a:rPr lang="en-GB" sz="1800" dirty="0"/>
              <a:t> to my Team Members </a:t>
            </a:r>
            <a:r>
              <a:rPr lang="en-GB" sz="1800" b="1" dirty="0"/>
              <a:t>feedback </a:t>
            </a:r>
            <a:r>
              <a:rPr lang="en-GB" sz="1800" dirty="0"/>
              <a:t>and I can monitor their progress in real-time</a:t>
            </a:r>
            <a:endParaRPr sz="1800" b="1" dirty="0"/>
          </a:p>
          <a:p>
            <a:pPr marL="609585" indent="-423323">
              <a:lnSpc>
                <a:spcPct val="114000"/>
              </a:lnSpc>
              <a:spcBef>
                <a:spcPts val="400"/>
              </a:spcBef>
              <a:buSzPts val="1400"/>
              <a:buFont typeface="Georgia"/>
              <a:buChar char="●"/>
            </a:pPr>
            <a:r>
              <a:rPr lang="en-GB" sz="1800" dirty="0"/>
              <a:t>I</a:t>
            </a:r>
            <a:r>
              <a:rPr lang="en-GB" sz="1800" b="1" dirty="0"/>
              <a:t> promote </a:t>
            </a:r>
            <a:r>
              <a:rPr lang="en-GB" sz="1800" dirty="0"/>
              <a:t>culture of</a:t>
            </a:r>
            <a:r>
              <a:rPr lang="en-GB" sz="1800" b="1" dirty="0"/>
              <a:t> continuous development</a:t>
            </a:r>
            <a:endParaRPr sz="1800" b="1" dirty="0"/>
          </a:p>
          <a:p>
            <a:pPr marL="609585" indent="-423323">
              <a:lnSpc>
                <a:spcPct val="114000"/>
              </a:lnSpc>
              <a:spcBef>
                <a:spcPts val="400"/>
              </a:spcBef>
              <a:buSzPts val="1400"/>
              <a:buFont typeface="Georgia"/>
              <a:buChar char="●"/>
            </a:pPr>
            <a:r>
              <a:rPr lang="en-GB" sz="1800" dirty="0"/>
              <a:t>I make sure my Team Members have </a:t>
            </a:r>
            <a:r>
              <a:rPr lang="en-GB" sz="1800" b="1" dirty="0"/>
              <a:t>min. 9 feedbacks </a:t>
            </a:r>
            <a:r>
              <a:rPr lang="en-GB" sz="1800" dirty="0"/>
              <a:t>covering</a:t>
            </a:r>
            <a:r>
              <a:rPr lang="en-GB" sz="1800" b="1" dirty="0"/>
              <a:t> min. 80% </a:t>
            </a:r>
            <a:r>
              <a:rPr lang="en-GB" sz="1800" dirty="0"/>
              <a:t>of their </a:t>
            </a:r>
            <a:r>
              <a:rPr lang="en-GB" sz="1800" b="1" dirty="0"/>
              <a:t>time</a:t>
            </a:r>
          </a:p>
          <a:p>
            <a:pPr marL="609585" indent="-423323">
              <a:lnSpc>
                <a:spcPct val="114000"/>
              </a:lnSpc>
              <a:spcBef>
                <a:spcPts val="400"/>
              </a:spcBef>
              <a:buSzPts val="1400"/>
              <a:buFont typeface="Georgia"/>
              <a:buChar char="●"/>
            </a:pPr>
            <a:r>
              <a:rPr lang="en-US" sz="1800" dirty="0"/>
              <a:t>Feedback is a f</a:t>
            </a:r>
            <a:r>
              <a:rPr lang="ru-RU" sz="1800" dirty="0" err="1"/>
              <a:t>requent</a:t>
            </a:r>
            <a:r>
              <a:rPr lang="ru-RU" sz="1800" dirty="0"/>
              <a:t> </a:t>
            </a:r>
            <a:r>
              <a:rPr lang="ru-RU" sz="1800" dirty="0" err="1"/>
              <a:t>type</a:t>
            </a:r>
            <a:r>
              <a:rPr lang="ru-RU" sz="1800" dirty="0"/>
              <a:t> </a:t>
            </a:r>
            <a:r>
              <a:rPr lang="ru-RU" sz="1800" dirty="0" err="1"/>
              <a:t>of</a:t>
            </a:r>
            <a:r>
              <a:rPr lang="ru-RU" sz="1800" dirty="0"/>
              <a:t> </a:t>
            </a:r>
            <a:r>
              <a:rPr lang="ru-RU" sz="1800" dirty="0" err="1"/>
              <a:t>communication</a:t>
            </a:r>
            <a:r>
              <a:rPr lang="ru-RU" sz="1800" dirty="0"/>
              <a:t> </a:t>
            </a:r>
            <a:r>
              <a:rPr lang="ru-RU" sz="1800" dirty="0" err="1"/>
              <a:t>in</a:t>
            </a:r>
            <a:r>
              <a:rPr lang="ru-RU" sz="1800" dirty="0"/>
              <a:t> </a:t>
            </a:r>
            <a:r>
              <a:rPr lang="en-US" sz="1800" dirty="0"/>
              <a:t>PwC Culture, it’s a part of our Values; in PwC we encourage g</a:t>
            </a:r>
            <a:r>
              <a:rPr lang="en-US" sz="1800" dirty="0">
                <a:solidFill>
                  <a:schemeClr val="dk1"/>
                </a:solidFill>
              </a:rPr>
              <a:t>iving </a:t>
            </a:r>
            <a:r>
              <a:rPr lang="en-US" sz="1800">
                <a:solidFill>
                  <a:schemeClr val="dk1"/>
                </a:solidFill>
              </a:rPr>
              <a:t>and asking </a:t>
            </a:r>
            <a:r>
              <a:rPr lang="en-US" sz="1800" dirty="0">
                <a:solidFill>
                  <a:schemeClr val="dk1"/>
                </a:solidFill>
              </a:rPr>
              <a:t>for feedback to improve ourselves </a:t>
            </a:r>
            <a:r>
              <a:rPr lang="en-US" sz="1800">
                <a:solidFill>
                  <a:schemeClr val="dk1"/>
                </a:solidFill>
              </a:rPr>
              <a:t>and others.</a:t>
            </a:r>
            <a:endParaRPr lang="en-US" sz="1800" dirty="0">
              <a:solidFill>
                <a:schemeClr val="dk1"/>
              </a:solidFill>
            </a:endParaRPr>
          </a:p>
          <a:p>
            <a:pPr marL="609585" indent="-423323">
              <a:lnSpc>
                <a:spcPct val="114000"/>
              </a:lnSpc>
              <a:spcBef>
                <a:spcPts val="400"/>
              </a:spcBef>
              <a:buSzPts val="1400"/>
              <a:buFont typeface="Georgia"/>
              <a:buChar char="●"/>
            </a:pPr>
            <a:endParaRPr lang="ru-RU" sz="1800" dirty="0"/>
          </a:p>
          <a:p>
            <a:pPr marL="186262">
              <a:lnSpc>
                <a:spcPct val="114000"/>
              </a:lnSpc>
              <a:spcBef>
                <a:spcPts val="400"/>
              </a:spcBef>
              <a:buSzPts val="1400"/>
            </a:pPr>
            <a:endParaRPr sz="1800" b="1" dirty="0"/>
          </a:p>
          <a:p>
            <a:pPr marL="609585">
              <a:lnSpc>
                <a:spcPct val="114000"/>
              </a:lnSpc>
              <a:spcBef>
                <a:spcPts val="400"/>
              </a:spcBef>
              <a:spcAft>
                <a:spcPts val="400"/>
              </a:spcAft>
            </a:pP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89CF-734B-0AE7-9B7A-3FDE5779593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58E52B4-4581-2AB7-37C5-ADE2292CE4FC}"/>
              </a:ext>
            </a:extLst>
          </p:cNvPr>
          <p:cNvSpPr/>
          <p:nvPr/>
        </p:nvSpPr>
        <p:spPr>
          <a:xfrm>
            <a:off x="407098" y="5284647"/>
            <a:ext cx="4122040" cy="1108200"/>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itle 6">
            <a:extLst>
              <a:ext uri="{FF2B5EF4-FFF2-40B4-BE49-F238E27FC236}">
                <a16:creationId xmlns:a16="http://schemas.microsoft.com/office/drawing/2014/main" id="{42FAEE36-155C-4E35-92DB-4F1FB3EA753D}"/>
              </a:ext>
            </a:extLst>
          </p:cNvPr>
          <p:cNvSpPr>
            <a:spLocks noGrp="1"/>
          </p:cNvSpPr>
          <p:nvPr>
            <p:ph type="title"/>
          </p:nvPr>
        </p:nvSpPr>
        <p:spPr/>
        <p:txBody>
          <a:bodyPr/>
          <a:lstStyle/>
          <a:p>
            <a:r>
              <a:rPr lang="en-US" noProof="0"/>
              <a:t>Feedback Exchange tool</a:t>
            </a:r>
            <a:br>
              <a:rPr lang="en-US" noProof="0"/>
            </a:br>
            <a:r>
              <a:rPr lang="en-US" noProof="0"/>
              <a:t>Technology supporting real-time feedback culture</a:t>
            </a:r>
          </a:p>
        </p:txBody>
      </p:sp>
      <p:sp>
        <p:nvSpPr>
          <p:cNvPr id="2" name="Footer Placeholder 1">
            <a:extLst>
              <a:ext uri="{FF2B5EF4-FFF2-40B4-BE49-F238E27FC236}">
                <a16:creationId xmlns:a16="http://schemas.microsoft.com/office/drawing/2014/main" id="{A4CDE69B-EB26-2A58-B12E-BFE29318DA06}"/>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Leadership Development Experience (LDE) </a:t>
            </a:r>
          </a:p>
        </p:txBody>
      </p:sp>
      <p:sp>
        <p:nvSpPr>
          <p:cNvPr id="3" name="Slide Number Placeholder 2">
            <a:extLst>
              <a:ext uri="{FF2B5EF4-FFF2-40B4-BE49-F238E27FC236}">
                <a16:creationId xmlns:a16="http://schemas.microsoft.com/office/drawing/2014/main" id="{6C863D69-2D8F-F6B1-AE39-29C8CD1A3E5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 name="Google Shape;1288;p159">
            <a:extLst>
              <a:ext uri="{FF2B5EF4-FFF2-40B4-BE49-F238E27FC236}">
                <a16:creationId xmlns:a16="http://schemas.microsoft.com/office/drawing/2014/main" id="{3293E8A1-3022-10E3-8951-FE079C6E4A89}"/>
              </a:ext>
            </a:extLst>
          </p:cNvPr>
          <p:cNvSpPr txBox="1">
            <a:spLocks/>
          </p:cNvSpPr>
          <p:nvPr/>
        </p:nvSpPr>
        <p:spPr>
          <a:xfrm>
            <a:off x="402335" y="1819275"/>
            <a:ext cx="4169665" cy="3465372"/>
          </a:xfrm>
          <a:prstGeom prst="rect">
            <a:avLst/>
          </a:prstGeom>
          <a:noFill/>
          <a:ln>
            <a:noFill/>
          </a:ln>
        </p:spPr>
        <p:txBody>
          <a:bodyPr spcFirstLastPara="1" vert="horz" wrap="square" lIns="0" tIns="0" rIns="0" bIns="0" rtlCol="0" anchor="t" anchorCtr="0">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0975" indent="-180975">
              <a:lnSpc>
                <a:spcPct val="114000"/>
              </a:lnSpc>
              <a:spcBef>
                <a:spcPts val="0"/>
              </a:spcBef>
              <a:spcAft>
                <a:spcPts val="600"/>
              </a:spcAft>
              <a:buClr>
                <a:schemeClr val="dk1"/>
              </a:buClr>
              <a:buSzPts val="1200"/>
              <a:buFont typeface="Arial" panose="020B0604020202020204" pitchFamily="34" charset="0"/>
              <a:buChar char="•"/>
            </a:pPr>
            <a:r>
              <a:rPr lang="en-US" sz="1200" b="0">
                <a:solidFill>
                  <a:schemeClr val="dk1"/>
                </a:solidFill>
                <a:latin typeface="+mj-lt"/>
              </a:rPr>
              <a:t>Feedback Exchange is a global application for giving </a:t>
            </a:r>
            <a:br>
              <a:rPr lang="en-US" sz="1200" b="0">
                <a:solidFill>
                  <a:schemeClr val="dk1"/>
                </a:solidFill>
                <a:latin typeface="+mj-lt"/>
              </a:rPr>
            </a:br>
            <a:r>
              <a:rPr lang="en-US" sz="1200" b="0">
                <a:solidFill>
                  <a:schemeClr val="dk1"/>
                </a:solidFill>
                <a:latin typeface="+mj-lt"/>
              </a:rPr>
              <a:t>and receiving downward, peer, upward and anonymous feedback within one easy-to-use tool. </a:t>
            </a:r>
          </a:p>
          <a:p>
            <a:pPr marL="180975" indent="-180975">
              <a:lnSpc>
                <a:spcPct val="114000"/>
              </a:lnSpc>
              <a:spcBef>
                <a:spcPts val="0"/>
              </a:spcBef>
              <a:spcAft>
                <a:spcPts val="600"/>
              </a:spcAft>
              <a:buClr>
                <a:schemeClr val="dk1"/>
              </a:buClr>
              <a:buSzPts val="1200"/>
              <a:buFont typeface="Arial" panose="020B0604020202020204" pitchFamily="34" charset="0"/>
              <a:buChar char="•"/>
            </a:pPr>
            <a:r>
              <a:rPr lang="en-US" sz="1200" b="0">
                <a:solidFill>
                  <a:schemeClr val="dk1"/>
                </a:solidFill>
                <a:latin typeface="+mj-lt"/>
              </a:rPr>
              <a:t>Feedback Exchange is grounded in the evolved PwC Professional framework. It allows you to have clearer insight into how you bring the PwC Professional behaviors to life and understand the value you create and where you can take action to enhance your growth. </a:t>
            </a:r>
            <a:endParaRPr lang="en-US" sz="1200">
              <a:solidFill>
                <a:schemeClr val="dk1"/>
              </a:solidFill>
              <a:latin typeface="+mj-lt"/>
            </a:endParaRPr>
          </a:p>
          <a:p>
            <a:pPr marL="180975" indent="-180975">
              <a:lnSpc>
                <a:spcPct val="114000"/>
              </a:lnSpc>
              <a:spcBef>
                <a:spcPts val="0"/>
              </a:spcBef>
              <a:spcAft>
                <a:spcPts val="600"/>
              </a:spcAft>
              <a:buClr>
                <a:schemeClr val="dk1"/>
              </a:buClr>
              <a:buSzPts val="1200"/>
              <a:buFont typeface="Arial" panose="020B0604020202020204" pitchFamily="34" charset="0"/>
              <a:buChar char="•"/>
            </a:pPr>
            <a:r>
              <a:rPr lang="en-US" sz="1200" b="0">
                <a:solidFill>
                  <a:schemeClr val="dk1"/>
                </a:solidFill>
                <a:latin typeface="+mj-lt"/>
              </a:rPr>
              <a:t>Feedback Exchange helps provide a balanced view of both ‘what’ we do (outcomes) as well as ‘how’ we do them (behaviors). </a:t>
            </a:r>
          </a:p>
          <a:p>
            <a:pPr marL="180975" indent="-180975">
              <a:lnSpc>
                <a:spcPct val="114000"/>
              </a:lnSpc>
              <a:spcBef>
                <a:spcPts val="0"/>
              </a:spcBef>
              <a:spcAft>
                <a:spcPts val="600"/>
              </a:spcAft>
              <a:buClr>
                <a:schemeClr val="dk1"/>
              </a:buClr>
              <a:buSzPts val="1200"/>
              <a:buFont typeface="Arial" panose="020B0604020202020204" pitchFamily="34" charset="0"/>
              <a:buChar char="•"/>
            </a:pPr>
            <a:r>
              <a:rPr lang="en-US" sz="1200" b="0">
                <a:solidFill>
                  <a:schemeClr val="dk1"/>
                </a:solidFill>
                <a:latin typeface="+mj-lt"/>
              </a:rPr>
              <a:t>Performance is evaluated by assessing demonstration of PwC Professional </a:t>
            </a:r>
            <a:r>
              <a:rPr lang="en-US" sz="1200" b="0" err="1">
                <a:solidFill>
                  <a:schemeClr val="dk1"/>
                </a:solidFill>
                <a:latin typeface="+mj-lt"/>
              </a:rPr>
              <a:t>behaviours</a:t>
            </a:r>
            <a:r>
              <a:rPr lang="en-US" sz="1200" b="0">
                <a:solidFill>
                  <a:schemeClr val="dk1"/>
                </a:solidFill>
                <a:latin typeface="+mj-lt"/>
              </a:rPr>
              <a:t>, application of knowledge and technical skills, target metrics and compliance requirements (captured through feedback tool).</a:t>
            </a:r>
          </a:p>
        </p:txBody>
      </p:sp>
      <p:sp>
        <p:nvSpPr>
          <p:cNvPr id="6" name="Google Shape;1293;p159">
            <a:extLst>
              <a:ext uri="{FF2B5EF4-FFF2-40B4-BE49-F238E27FC236}">
                <a16:creationId xmlns:a16="http://schemas.microsoft.com/office/drawing/2014/main" id="{B63A7FD1-8E08-681A-ED88-EAB5A42FE4C3}"/>
              </a:ext>
            </a:extLst>
          </p:cNvPr>
          <p:cNvSpPr txBox="1"/>
          <p:nvPr/>
        </p:nvSpPr>
        <p:spPr>
          <a:xfrm>
            <a:off x="1144988" y="5440005"/>
            <a:ext cx="3212700" cy="842025"/>
          </a:xfrm>
          <a:prstGeom prst="rect">
            <a:avLst/>
          </a:prstGeom>
          <a:noFill/>
          <a:ln>
            <a:noFill/>
          </a:ln>
        </p:spPr>
        <p:txBody>
          <a:bodyPr spcFirstLastPara="1" wrap="square" lIns="0" tIns="0" rIns="0" bIns="0" anchor="t" anchorCtr="0">
            <a:spAutoFit/>
          </a:bodyPr>
          <a:lstStyle/>
          <a:p>
            <a:pPr marL="0" lvl="0" indent="0" algn="l" rtl="0">
              <a:lnSpc>
                <a:spcPct val="114000"/>
              </a:lnSpc>
              <a:spcBef>
                <a:spcPts val="0"/>
              </a:spcBef>
              <a:buClr>
                <a:schemeClr val="dk1"/>
              </a:buClr>
              <a:buSzPts val="1100"/>
              <a:buFont typeface="Arial"/>
              <a:buNone/>
            </a:pPr>
            <a:r>
              <a:rPr lang="en-US" sz="1200" b="1">
                <a:solidFill>
                  <a:schemeClr val="tx1"/>
                </a:solidFill>
                <a:latin typeface="+mj-lt"/>
              </a:rPr>
              <a:t>Feedback Exchange tool should always </a:t>
            </a:r>
            <a:br>
              <a:rPr lang="en-US" sz="1200" b="1">
                <a:solidFill>
                  <a:schemeClr val="tx1"/>
                </a:solidFill>
                <a:latin typeface="+mj-lt"/>
              </a:rPr>
            </a:br>
            <a:r>
              <a:rPr lang="en-US" sz="1200" b="1">
                <a:solidFill>
                  <a:schemeClr val="tx1"/>
                </a:solidFill>
                <a:latin typeface="+mj-lt"/>
              </a:rPr>
              <a:t>be filled out during or after a feedback conversation and should never replace </a:t>
            </a:r>
            <a:br>
              <a:rPr lang="en-US" sz="1200" b="1">
                <a:solidFill>
                  <a:schemeClr val="tx1"/>
                </a:solidFill>
                <a:latin typeface="+mj-lt"/>
              </a:rPr>
            </a:br>
            <a:r>
              <a:rPr lang="en-US" sz="1200" b="1">
                <a:solidFill>
                  <a:schemeClr val="tx1"/>
                </a:solidFill>
                <a:latin typeface="+mj-lt"/>
              </a:rPr>
              <a:t>a conversation</a:t>
            </a:r>
            <a:endParaRPr sz="1200" b="1">
              <a:solidFill>
                <a:schemeClr val="tx1"/>
              </a:solidFill>
              <a:latin typeface="+mj-lt"/>
            </a:endParaRPr>
          </a:p>
        </p:txBody>
      </p:sp>
      <p:sp>
        <p:nvSpPr>
          <p:cNvPr id="9" name="Google Shape;1295;p159">
            <a:extLst>
              <a:ext uri="{FF2B5EF4-FFF2-40B4-BE49-F238E27FC236}">
                <a16:creationId xmlns:a16="http://schemas.microsoft.com/office/drawing/2014/main" id="{F9AAFE92-A930-2C7E-C340-EA2CCB307B56}"/>
              </a:ext>
            </a:extLst>
          </p:cNvPr>
          <p:cNvSpPr txBox="1"/>
          <p:nvPr/>
        </p:nvSpPr>
        <p:spPr>
          <a:xfrm>
            <a:off x="4867827" y="5362570"/>
            <a:ext cx="4228548" cy="47195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dirty="0">
                <a:solidFill>
                  <a:schemeClr val="hlink"/>
                </a:solidFill>
                <a:hlinkClick r:id="rId3"/>
              </a:rPr>
              <a:t>Feedback Exchange tool Login </a:t>
            </a:r>
            <a:endParaRPr dirty="0"/>
          </a:p>
        </p:txBody>
      </p:sp>
      <p:pic>
        <p:nvPicPr>
          <p:cNvPr id="16" name="Graphic 15">
            <a:extLst>
              <a:ext uri="{FF2B5EF4-FFF2-40B4-BE49-F238E27FC236}">
                <a16:creationId xmlns:a16="http://schemas.microsoft.com/office/drawing/2014/main" id="{424FE64B-660F-780B-DDF7-84A0421C6F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2197" y="5438777"/>
            <a:ext cx="548640" cy="548640"/>
          </a:xfrm>
          <a:prstGeom prst="rect">
            <a:avLst/>
          </a:prstGeom>
        </p:spPr>
      </p:pic>
      <p:pic>
        <p:nvPicPr>
          <p:cNvPr id="12" name="Picture 11">
            <a:extLst>
              <a:ext uri="{FF2B5EF4-FFF2-40B4-BE49-F238E27FC236}">
                <a16:creationId xmlns:a16="http://schemas.microsoft.com/office/drawing/2014/main" id="{26872FC3-AA39-5E02-312C-0D3DFBFE328C}"/>
              </a:ext>
            </a:extLst>
          </p:cNvPr>
          <p:cNvPicPr>
            <a:picLocks noChangeAspect="1"/>
          </p:cNvPicPr>
          <p:nvPr/>
        </p:nvPicPr>
        <p:blipFill>
          <a:blip r:embed="rId5"/>
          <a:stretch>
            <a:fillRect/>
          </a:stretch>
        </p:blipFill>
        <p:spPr>
          <a:xfrm>
            <a:off x="5621967" y="2305459"/>
            <a:ext cx="6030955" cy="2904498"/>
          </a:xfrm>
          <a:prstGeom prst="rect">
            <a:avLst/>
          </a:prstGeom>
        </p:spPr>
      </p:pic>
    </p:spTree>
    <p:extLst>
      <p:ext uri="{BB962C8B-B14F-4D97-AF65-F5344CB8AC3E}">
        <p14:creationId xmlns:p14="http://schemas.microsoft.com/office/powerpoint/2010/main" val="3355502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E7664-D552-B84E-50E6-B9D3DC9B0C3B}"/>
            </a:ext>
          </a:extLst>
        </p:cNvPr>
        <p:cNvGrpSpPr/>
        <p:nvPr/>
      </p:nvGrpSpPr>
      <p:grpSpPr>
        <a:xfrm>
          <a:off x="0" y="0"/>
          <a:ext cx="0" cy="0"/>
          <a:chOff x="0" y="0"/>
          <a:chExt cx="0" cy="0"/>
        </a:xfrm>
      </p:grpSpPr>
      <p:pic>
        <p:nvPicPr>
          <p:cNvPr id="4" name="Picture 3">
            <a:hlinkClick r:id="rId3"/>
            <a:extLst>
              <a:ext uri="{FF2B5EF4-FFF2-40B4-BE49-F238E27FC236}">
                <a16:creationId xmlns:a16="http://schemas.microsoft.com/office/drawing/2014/main" id="{C9EFED9E-E744-7416-E870-BAAD52648CD6}"/>
              </a:ext>
            </a:extLst>
          </p:cNvPr>
          <p:cNvPicPr>
            <a:picLocks noChangeAspect="1"/>
          </p:cNvPicPr>
          <p:nvPr/>
        </p:nvPicPr>
        <p:blipFill>
          <a:blip r:embed="rId4"/>
          <a:srcRect l="751" b="596"/>
          <a:stretch/>
        </p:blipFill>
        <p:spPr>
          <a:xfrm>
            <a:off x="397667" y="1331376"/>
            <a:ext cx="6606383" cy="3720836"/>
          </a:xfrm>
          <a:prstGeom prst="rect">
            <a:avLst/>
          </a:prstGeom>
        </p:spPr>
      </p:pic>
      <p:sp>
        <p:nvSpPr>
          <p:cNvPr id="8" name="Prostokąt 14">
            <a:extLst>
              <a:ext uri="{FF2B5EF4-FFF2-40B4-BE49-F238E27FC236}">
                <a16:creationId xmlns:a16="http://schemas.microsoft.com/office/drawing/2014/main" id="{656721D1-7C46-017D-E7FD-91453D99D19F}"/>
              </a:ext>
            </a:extLst>
          </p:cNvPr>
          <p:cNvSpPr/>
          <p:nvPr/>
        </p:nvSpPr>
        <p:spPr>
          <a:xfrm>
            <a:off x="8077200" y="1"/>
            <a:ext cx="4114800" cy="6857999"/>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365760" tIns="1280160" rIns="640080" rtlCol="0" anchor="t"/>
          <a:lstStyle/>
          <a:p>
            <a:pPr marL="0" marR="0" lvl="0" indent="0" algn="l" defTabSz="914400" rtl="0" eaLnBrk="1" fontAlgn="auto" latinLnBrk="0" hangingPunct="1">
              <a:lnSpc>
                <a:spcPct val="125000"/>
              </a:lnSpc>
              <a:spcBef>
                <a:spcPts val="0"/>
              </a:spcBef>
              <a:spcAft>
                <a:spcPts val="80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Georgia"/>
                <a:ea typeface="+mn-ea"/>
                <a:cs typeface="+mn-cs"/>
                <a:sym typeface="Arial"/>
              </a:rPr>
              <a:t>Feedback Exchange is our multi-directional feedback technology that enables each of us to gain deeper insight into how our </a:t>
            </a:r>
            <a:r>
              <a:rPr kumimoji="0" lang="en-US" sz="1400" b="0" i="0" u="none" strike="noStrike" kern="0" cap="none" spc="0" normalizeH="0" baseline="0" noProof="0" dirty="0" err="1">
                <a:ln>
                  <a:noFill/>
                </a:ln>
                <a:solidFill>
                  <a:srgbClr val="000000"/>
                </a:solidFill>
                <a:effectLst/>
                <a:uLnTx/>
                <a:uFillTx/>
                <a:latin typeface="Georgia"/>
                <a:ea typeface="+mn-ea"/>
                <a:cs typeface="+mn-cs"/>
                <a:sym typeface="Arial"/>
              </a:rPr>
              <a:t>behaviour</a:t>
            </a:r>
            <a:r>
              <a:rPr kumimoji="0" lang="en-US" sz="1400" b="0" i="0" u="none" strike="noStrike" kern="0" cap="none" spc="0" normalizeH="0" baseline="0" noProof="0" dirty="0">
                <a:ln>
                  <a:noFill/>
                </a:ln>
                <a:solidFill>
                  <a:srgbClr val="000000"/>
                </a:solidFill>
                <a:effectLst/>
                <a:uLnTx/>
                <a:uFillTx/>
                <a:latin typeface="Georgia"/>
                <a:ea typeface="+mn-ea"/>
                <a:cs typeface="+mn-cs"/>
                <a:sym typeface="Arial"/>
              </a:rPr>
              <a:t> influences those around us and the overall value we create.</a:t>
            </a:r>
          </a:p>
        </p:txBody>
      </p:sp>
      <p:sp>
        <p:nvSpPr>
          <p:cNvPr id="9" name="Google Shape;1301;p45">
            <a:extLst>
              <a:ext uri="{FF2B5EF4-FFF2-40B4-BE49-F238E27FC236}">
                <a16:creationId xmlns:a16="http://schemas.microsoft.com/office/drawing/2014/main" id="{67798B1C-BA95-B37F-58A3-054F1A941665}"/>
              </a:ext>
            </a:extLst>
          </p:cNvPr>
          <p:cNvSpPr/>
          <p:nvPr/>
        </p:nvSpPr>
        <p:spPr>
          <a:xfrm>
            <a:off x="7687227" y="5343525"/>
            <a:ext cx="4114800" cy="788626"/>
          </a:xfrm>
          <a:prstGeom prst="rect">
            <a:avLst/>
          </a:prstGeom>
          <a:solidFill>
            <a:schemeClr val="accent1"/>
          </a:solidFill>
          <a:ln>
            <a:noFill/>
          </a:ln>
        </p:spPr>
        <p:txBody>
          <a:bodyPr spcFirstLastPara="1" wrap="square" lIns="182880" tIns="182880" rIns="182880" bIns="182880" anchor="ctr" anchorCtr="0">
            <a:noAutofit/>
          </a:bodyPr>
          <a:lstStyle/>
          <a:p>
            <a:pPr marL="0" marR="0" lvl="0" indent="0" algn="l" defTabSz="1219170" rtl="0" eaLnBrk="1" fontAlgn="auto" latinLnBrk="0" hangingPunct="1">
              <a:lnSpc>
                <a:spcPct val="110000"/>
              </a:lnSpc>
              <a:spcBef>
                <a:spcPts val="0"/>
              </a:spcBef>
              <a:spcAft>
                <a:spcPts val="0"/>
              </a:spcAft>
              <a:buClr>
                <a:srgbClr val="000000"/>
              </a:buClr>
              <a:buSzTx/>
              <a:buFontTx/>
              <a:buNone/>
              <a:tabLst/>
              <a:defRPr/>
            </a:pPr>
            <a:r>
              <a:rPr kumimoji="0" lang="en-US" sz="1600" b="1" i="0" u="none" strike="noStrike" kern="0" cap="none" spc="0" normalizeH="0" baseline="0" noProof="0" dirty="0">
                <a:ln>
                  <a:noFill/>
                </a:ln>
                <a:solidFill>
                  <a:srgbClr val="000000"/>
                </a:solidFill>
                <a:effectLst/>
                <a:uLnTx/>
                <a:uFillTx/>
                <a:latin typeface="Arial"/>
                <a:ea typeface="+mn-ea"/>
                <a:cs typeface="Arial"/>
                <a:sym typeface="Arial"/>
              </a:rPr>
              <a:t>Watch the video </a:t>
            </a:r>
            <a:r>
              <a:rPr kumimoji="0" lang="en-US" sz="1600" b="1" i="0" u="none" strike="noStrike" kern="0" cap="none" spc="0" normalizeH="0" baseline="0" noProof="0" dirty="0">
                <a:ln>
                  <a:noFill/>
                </a:ln>
                <a:solidFill>
                  <a:srgbClr val="000000"/>
                </a:solidFill>
                <a:effectLst/>
                <a:uLnTx/>
                <a:uFillTx/>
                <a:latin typeface="Arial"/>
                <a:ea typeface="+mn-ea"/>
                <a:cs typeface="Arial"/>
                <a:sym typeface="Arial"/>
                <a:hlinkClick r:id="rId3"/>
              </a:rPr>
              <a:t>here</a:t>
            </a:r>
            <a:endParaRPr kumimoji="0" lang="en-US" sz="1600" b="1"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3" name="Footer Placeholder 1">
            <a:extLst>
              <a:ext uri="{FF2B5EF4-FFF2-40B4-BE49-F238E27FC236}">
                <a16:creationId xmlns:a16="http://schemas.microsoft.com/office/drawing/2014/main" id="{6659C4F3-E746-939B-92A5-09E21F8C49BA}"/>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ysClr val="windowText" lastClr="000000"/>
                </a:solidFill>
                <a:effectLst/>
                <a:uLnTx/>
                <a:uFillTx/>
                <a:latin typeface="Arial"/>
                <a:ea typeface="+mn-ea"/>
                <a:cs typeface="Arial" panose="020B0604020202020204" pitchFamily="34" charset="0"/>
                <a:sym typeface="Arial"/>
              </a:rPr>
              <a:t>Welcome</a:t>
            </a:r>
          </a:p>
        </p:txBody>
      </p:sp>
      <p:sp>
        <p:nvSpPr>
          <p:cNvPr id="12" name="Slide Number Placeholder 2">
            <a:extLst>
              <a:ext uri="{FF2B5EF4-FFF2-40B4-BE49-F238E27FC236}">
                <a16:creationId xmlns:a16="http://schemas.microsoft.com/office/drawing/2014/main" id="{AFEE7115-C387-708A-CE98-ED822C42B06A}"/>
              </a:ext>
            </a:extLst>
          </p:cNvPr>
          <p:cNvSpPr>
            <a:spLocks noGrp="1"/>
          </p:cNvSpPr>
          <p:nvPr>
            <p:ph type="sldNum" sz="quarter" idx="4"/>
          </p:nvPr>
        </p:nvSpPr>
        <p:spPr>
          <a:xfrm>
            <a:off x="11503818" y="6501384"/>
            <a:ext cx="298209" cy="16158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Arial"/>
            </a:endParaRPr>
          </a:p>
        </p:txBody>
      </p:sp>
      <p:sp>
        <p:nvSpPr>
          <p:cNvPr id="5" name="Title 4">
            <a:extLst>
              <a:ext uri="{FF2B5EF4-FFF2-40B4-BE49-F238E27FC236}">
                <a16:creationId xmlns:a16="http://schemas.microsoft.com/office/drawing/2014/main" id="{49524825-ADB0-D25E-9E4E-F70EFC0C8893}"/>
              </a:ext>
            </a:extLst>
          </p:cNvPr>
          <p:cNvSpPr>
            <a:spLocks noGrp="1"/>
          </p:cNvSpPr>
          <p:nvPr>
            <p:ph type="title"/>
          </p:nvPr>
        </p:nvSpPr>
        <p:spPr>
          <a:xfrm>
            <a:off x="397667" y="402336"/>
            <a:ext cx="5645946" cy="731139"/>
          </a:xfrm>
        </p:spPr>
        <p:txBody>
          <a:bodyPr/>
          <a:lstStyle/>
          <a:p>
            <a:r>
              <a:rPr lang="en-US" dirty="0"/>
              <a:t>Introducing Feedback Exchange</a:t>
            </a:r>
          </a:p>
        </p:txBody>
      </p:sp>
      <p:pic>
        <p:nvPicPr>
          <p:cNvPr id="11" name="Graphic 10">
            <a:extLst>
              <a:ext uri="{FF2B5EF4-FFF2-40B4-BE49-F238E27FC236}">
                <a16:creationId xmlns:a16="http://schemas.microsoft.com/office/drawing/2014/main" id="{DD4C7CB2-E9C8-522B-CA59-6E8A1CCC531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74054" y="5486378"/>
            <a:ext cx="502920" cy="502920"/>
          </a:xfrm>
          <a:prstGeom prst="rect">
            <a:avLst/>
          </a:prstGeom>
        </p:spPr>
      </p:pic>
      <p:sp>
        <p:nvSpPr>
          <p:cNvPr id="3" name="Google Shape;862;p101">
            <a:extLst>
              <a:ext uri="{FF2B5EF4-FFF2-40B4-BE49-F238E27FC236}">
                <a16:creationId xmlns:a16="http://schemas.microsoft.com/office/drawing/2014/main" id="{2B4BCFEA-421B-5356-C15C-922AFCB62ED3}"/>
              </a:ext>
            </a:extLst>
          </p:cNvPr>
          <p:cNvSpPr/>
          <p:nvPr/>
        </p:nvSpPr>
        <p:spPr>
          <a:xfrm rot="5400000">
            <a:off x="3453058" y="2977394"/>
            <a:ext cx="495600" cy="428800"/>
          </a:xfrm>
          <a:prstGeom prst="triangle">
            <a:avLst>
              <a:gd name="adj" fmla="val 50000"/>
            </a:avLst>
          </a:prstGeom>
          <a:solidFill>
            <a:schemeClr val="l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53045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FFF21-B291-7FB4-613E-82296F6B6D3A}"/>
            </a:ext>
          </a:extLst>
        </p:cNvPr>
        <p:cNvGrpSpPr/>
        <p:nvPr/>
      </p:nvGrpSpPr>
      <p:grpSpPr>
        <a:xfrm>
          <a:off x="0" y="0"/>
          <a:ext cx="0" cy="0"/>
          <a:chOff x="0" y="0"/>
          <a:chExt cx="0" cy="0"/>
        </a:xfrm>
      </p:grpSpPr>
      <p:sp>
        <p:nvSpPr>
          <p:cNvPr id="13" name="Footer Placeholder 1">
            <a:extLst>
              <a:ext uri="{FF2B5EF4-FFF2-40B4-BE49-F238E27FC236}">
                <a16:creationId xmlns:a16="http://schemas.microsoft.com/office/drawing/2014/main" id="{A9606E02-FBE1-E57E-7FF2-242A6427C85D}"/>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ysClr val="windowText" lastClr="000000"/>
                </a:solidFill>
                <a:effectLst/>
                <a:uLnTx/>
                <a:uFillTx/>
                <a:latin typeface="Arial"/>
                <a:ea typeface="+mn-ea"/>
                <a:cs typeface="Arial" panose="020B0604020202020204" pitchFamily="34" charset="0"/>
                <a:sym typeface="Arial"/>
              </a:rPr>
              <a:t>Welcome</a:t>
            </a:r>
          </a:p>
        </p:txBody>
      </p:sp>
      <p:sp>
        <p:nvSpPr>
          <p:cNvPr id="12" name="Slide Number Placeholder 2">
            <a:extLst>
              <a:ext uri="{FF2B5EF4-FFF2-40B4-BE49-F238E27FC236}">
                <a16:creationId xmlns:a16="http://schemas.microsoft.com/office/drawing/2014/main" id="{A017871E-37B9-A200-1883-C9A2A116F80F}"/>
              </a:ext>
            </a:extLst>
          </p:cNvPr>
          <p:cNvSpPr>
            <a:spLocks noGrp="1"/>
          </p:cNvSpPr>
          <p:nvPr>
            <p:ph type="sldNum" sz="quarter" idx="4"/>
          </p:nvPr>
        </p:nvSpPr>
        <p:spPr>
          <a:xfrm>
            <a:off x="11503818" y="6501384"/>
            <a:ext cx="298209" cy="16158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sym typeface="Arial"/>
            </a:endParaRPr>
          </a:p>
        </p:txBody>
      </p:sp>
      <p:sp>
        <p:nvSpPr>
          <p:cNvPr id="3" name="Title 2">
            <a:extLst>
              <a:ext uri="{FF2B5EF4-FFF2-40B4-BE49-F238E27FC236}">
                <a16:creationId xmlns:a16="http://schemas.microsoft.com/office/drawing/2014/main" id="{FDDF3208-E431-6939-A95A-3B4C4E4BD8BF}"/>
              </a:ext>
            </a:extLst>
          </p:cNvPr>
          <p:cNvSpPr>
            <a:spLocks noGrp="1"/>
          </p:cNvSpPr>
          <p:nvPr>
            <p:ph type="title"/>
          </p:nvPr>
        </p:nvSpPr>
        <p:spPr>
          <a:xfrm>
            <a:off x="397667" y="402336"/>
            <a:ext cx="11404360" cy="350139"/>
          </a:xfrm>
        </p:spPr>
        <p:txBody>
          <a:bodyPr/>
          <a:lstStyle/>
          <a:p>
            <a:r>
              <a:rPr lang="en-US" dirty="0"/>
              <a:t>How we bring our culture to life: The PwC Professional </a:t>
            </a:r>
          </a:p>
        </p:txBody>
      </p:sp>
      <p:pic>
        <p:nvPicPr>
          <p:cNvPr id="7" name="Picture 6" descr="A diagram with text and symbols&#10;&#10;AI-generated content may be incorrect.">
            <a:extLst>
              <a:ext uri="{FF2B5EF4-FFF2-40B4-BE49-F238E27FC236}">
                <a16:creationId xmlns:a16="http://schemas.microsoft.com/office/drawing/2014/main" id="{2B2A2AA7-8A0C-00C3-4439-44452C440030}"/>
              </a:ext>
            </a:extLst>
          </p:cNvPr>
          <p:cNvPicPr>
            <a:picLocks noChangeAspect="1"/>
          </p:cNvPicPr>
          <p:nvPr/>
        </p:nvPicPr>
        <p:blipFill>
          <a:blip r:embed="rId3"/>
          <a:stretch>
            <a:fillRect/>
          </a:stretch>
        </p:blipFill>
        <p:spPr>
          <a:xfrm>
            <a:off x="397667" y="1001638"/>
            <a:ext cx="9327358" cy="5246639"/>
          </a:xfrm>
          <a:prstGeom prst="rect">
            <a:avLst/>
          </a:prstGeom>
          <a:ln>
            <a:solidFill>
              <a:srgbClr val="DFE3E6"/>
            </a:solidFill>
          </a:ln>
        </p:spPr>
      </p:pic>
    </p:spTree>
    <p:extLst>
      <p:ext uri="{BB962C8B-B14F-4D97-AF65-F5344CB8AC3E}">
        <p14:creationId xmlns:p14="http://schemas.microsoft.com/office/powerpoint/2010/main" val="1975456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5">
          <a:extLst>
            <a:ext uri="{FF2B5EF4-FFF2-40B4-BE49-F238E27FC236}">
              <a16:creationId xmlns:a16="http://schemas.microsoft.com/office/drawing/2014/main" id="{AEDBAD1A-AB13-3D15-660B-2EBDFAF6B289}"/>
            </a:ext>
          </a:extLst>
        </p:cNvPr>
        <p:cNvGrpSpPr/>
        <p:nvPr/>
      </p:nvGrpSpPr>
      <p:grpSpPr>
        <a:xfrm>
          <a:off x="0" y="0"/>
          <a:ext cx="0" cy="0"/>
          <a:chOff x="0" y="0"/>
          <a:chExt cx="0" cy="0"/>
        </a:xfrm>
      </p:grpSpPr>
      <p:sp>
        <p:nvSpPr>
          <p:cNvPr id="476" name="Google Shape;476;p57">
            <a:extLst>
              <a:ext uri="{FF2B5EF4-FFF2-40B4-BE49-F238E27FC236}">
                <a16:creationId xmlns:a16="http://schemas.microsoft.com/office/drawing/2014/main" id="{18CFA6FE-703C-1796-9600-4D07FF1CD33A}"/>
              </a:ext>
            </a:extLst>
          </p:cNvPr>
          <p:cNvSpPr txBox="1">
            <a:spLocks noGrp="1"/>
          </p:cNvSpPr>
          <p:nvPr>
            <p:ph type="title"/>
          </p:nvPr>
        </p:nvSpPr>
        <p:spPr>
          <a:xfrm>
            <a:off x="442900" y="432000"/>
            <a:ext cx="11306000" cy="520000"/>
          </a:xfrm>
          <a:prstGeom prst="rect">
            <a:avLst/>
          </a:prstGeom>
        </p:spPr>
        <p:txBody>
          <a:bodyPr spcFirstLastPara="1" wrap="square" lIns="0" tIns="0" rIns="0" bIns="0" anchor="t" anchorCtr="0">
            <a:noAutofit/>
          </a:bodyPr>
          <a:lstStyle/>
          <a:p>
            <a:r>
              <a:rPr lang="en-GB" sz="2933"/>
              <a:t>Multi-directional feedback questions in Feedback Exchange</a:t>
            </a:r>
            <a:endParaRPr sz="2933"/>
          </a:p>
        </p:txBody>
      </p:sp>
      <p:sp>
        <p:nvSpPr>
          <p:cNvPr id="477" name="Google Shape;477;p57">
            <a:extLst>
              <a:ext uri="{FF2B5EF4-FFF2-40B4-BE49-F238E27FC236}">
                <a16:creationId xmlns:a16="http://schemas.microsoft.com/office/drawing/2014/main" id="{F9761928-E93A-03BA-CDCE-939036F89B3B}"/>
              </a:ext>
            </a:extLst>
          </p:cNvPr>
          <p:cNvSpPr txBox="1"/>
          <p:nvPr/>
        </p:nvSpPr>
        <p:spPr>
          <a:xfrm>
            <a:off x="443000" y="892067"/>
            <a:ext cx="11306000" cy="463600"/>
          </a:xfrm>
          <a:prstGeom prst="rect">
            <a:avLst/>
          </a:prstGeom>
          <a:noFill/>
          <a:ln>
            <a:noFill/>
          </a:ln>
        </p:spPr>
        <p:txBody>
          <a:bodyPr spcFirstLastPara="1" wrap="square" lIns="24000" tIns="216000" rIns="24000" bIns="216000" anchor="ctr" anchorCtr="0">
            <a:noAutofit/>
          </a:bodyPr>
          <a:lstStyle/>
          <a:p>
            <a:pPr>
              <a:spcAft>
                <a:spcPts val="800"/>
              </a:spcAft>
            </a:pPr>
            <a:r>
              <a:rPr lang="en-GB" sz="1333">
                <a:solidFill>
                  <a:schemeClr val="dk1"/>
                </a:solidFill>
              </a:rPr>
              <a:t>When employee requests feedback, the feedback giver will be prompted to respond to the following questions in order to assess how the employee demonstrated PwC Professional behaviours, role expectations, and </a:t>
            </a:r>
            <a:r>
              <a:rPr lang="en-GB" sz="1333" u="sng">
                <a:solidFill>
                  <a:schemeClr val="hlink"/>
                </a:solidFill>
                <a:hlinkClick r:id="rId3"/>
              </a:rPr>
              <a:t>Assurance Quality Dimensions</a:t>
            </a:r>
            <a:r>
              <a:rPr lang="en-GB" sz="1333">
                <a:solidFill>
                  <a:schemeClr val="dk1"/>
                </a:solidFill>
              </a:rPr>
              <a:t> (where applicable).</a:t>
            </a:r>
            <a:endParaRPr sz="1333">
              <a:solidFill>
                <a:schemeClr val="dk1"/>
              </a:solidFill>
            </a:endParaRPr>
          </a:p>
        </p:txBody>
      </p:sp>
      <p:sp>
        <p:nvSpPr>
          <p:cNvPr id="478" name="Google Shape;478;p57">
            <a:extLst>
              <a:ext uri="{FF2B5EF4-FFF2-40B4-BE49-F238E27FC236}">
                <a16:creationId xmlns:a16="http://schemas.microsoft.com/office/drawing/2014/main" id="{3663E1CE-612C-F058-54BA-242D19B3A2BA}"/>
              </a:ext>
            </a:extLst>
          </p:cNvPr>
          <p:cNvSpPr/>
          <p:nvPr/>
        </p:nvSpPr>
        <p:spPr>
          <a:xfrm>
            <a:off x="442067" y="5195099"/>
            <a:ext cx="2121600" cy="1078800"/>
          </a:xfrm>
          <a:prstGeom prst="rect">
            <a:avLst/>
          </a:prstGeom>
          <a:solidFill>
            <a:srgbClr val="EB8C00">
              <a:alpha val="19380"/>
            </a:srgbClr>
          </a:solidFill>
          <a:ln>
            <a:noFill/>
          </a:ln>
          <a:effectLst>
            <a:outerShdw blurRad="57150" dist="57150" dir="5400000" algn="bl" rotWithShape="0">
              <a:schemeClr val="lt1">
                <a:alpha val="50000"/>
              </a:schemeClr>
            </a:outerShdw>
          </a:effectLst>
        </p:spPr>
        <p:txBody>
          <a:bodyPr spcFirstLastPara="1" wrap="square" lIns="121900" tIns="121900" rIns="121900" bIns="121900" anchor="ctr" anchorCtr="0">
            <a:noAutofit/>
          </a:bodyPr>
          <a:lstStyle/>
          <a:p>
            <a:pPr algn="ctr"/>
            <a:r>
              <a:rPr lang="en-GB" sz="1067" i="1">
                <a:solidFill>
                  <a:schemeClr val="dk1"/>
                </a:solidFill>
              </a:rPr>
              <a:t>Captures how you and the feedback giver have worked together from the feedback giver’s perspective</a:t>
            </a:r>
            <a:endParaRPr sz="1067" i="1">
              <a:solidFill>
                <a:schemeClr val="dk1"/>
              </a:solidFill>
            </a:endParaRPr>
          </a:p>
        </p:txBody>
      </p:sp>
      <p:sp>
        <p:nvSpPr>
          <p:cNvPr id="479" name="Google Shape;479;p57">
            <a:extLst>
              <a:ext uri="{FF2B5EF4-FFF2-40B4-BE49-F238E27FC236}">
                <a16:creationId xmlns:a16="http://schemas.microsoft.com/office/drawing/2014/main" id="{48F47C54-2197-DD84-62A7-392C2965EDEB}"/>
              </a:ext>
            </a:extLst>
          </p:cNvPr>
          <p:cNvSpPr/>
          <p:nvPr/>
        </p:nvSpPr>
        <p:spPr>
          <a:xfrm>
            <a:off x="2738635" y="5195099"/>
            <a:ext cx="2121600" cy="1078800"/>
          </a:xfrm>
          <a:prstGeom prst="rect">
            <a:avLst/>
          </a:prstGeom>
          <a:solidFill>
            <a:srgbClr val="EB8C00">
              <a:alpha val="19380"/>
            </a:srgbClr>
          </a:solidFill>
          <a:ln>
            <a:noFill/>
          </a:ln>
          <a:effectLst>
            <a:outerShdw blurRad="57150" dist="57150" dir="5400000" algn="bl" rotWithShape="0">
              <a:schemeClr val="lt1">
                <a:alpha val="50000"/>
              </a:schemeClr>
            </a:outerShdw>
          </a:effectLst>
        </p:spPr>
        <p:txBody>
          <a:bodyPr spcFirstLastPara="1" wrap="square" lIns="121900" tIns="121900" rIns="121900" bIns="121900" anchor="ctr" anchorCtr="0">
            <a:noAutofit/>
          </a:bodyPr>
          <a:lstStyle/>
          <a:p>
            <a:pPr algn="ctr"/>
            <a:r>
              <a:rPr lang="en-GB" sz="1067" i="1">
                <a:solidFill>
                  <a:schemeClr val="dk1"/>
                </a:solidFill>
              </a:rPr>
              <a:t>Focus is on assessing your consistent demonstration of PwC Professional behaviours</a:t>
            </a:r>
            <a:endParaRPr sz="1067" i="1">
              <a:solidFill>
                <a:schemeClr val="dk1"/>
              </a:solidFill>
            </a:endParaRPr>
          </a:p>
        </p:txBody>
      </p:sp>
      <p:sp>
        <p:nvSpPr>
          <p:cNvPr id="480" name="Google Shape;480;p57">
            <a:extLst>
              <a:ext uri="{FF2B5EF4-FFF2-40B4-BE49-F238E27FC236}">
                <a16:creationId xmlns:a16="http://schemas.microsoft.com/office/drawing/2014/main" id="{598D1C8E-9EA2-44ED-CEFB-D0329EFA987A}"/>
              </a:ext>
            </a:extLst>
          </p:cNvPr>
          <p:cNvSpPr/>
          <p:nvPr/>
        </p:nvSpPr>
        <p:spPr>
          <a:xfrm>
            <a:off x="5035204" y="5195099"/>
            <a:ext cx="2121600" cy="1078800"/>
          </a:xfrm>
          <a:prstGeom prst="rect">
            <a:avLst/>
          </a:prstGeom>
          <a:solidFill>
            <a:srgbClr val="EB8C00">
              <a:alpha val="19380"/>
            </a:srgbClr>
          </a:solidFill>
          <a:ln>
            <a:noFill/>
          </a:ln>
          <a:effectLst>
            <a:outerShdw blurRad="57150" dist="57150" dir="5400000" algn="bl" rotWithShape="0">
              <a:schemeClr val="lt1">
                <a:alpha val="50000"/>
              </a:schemeClr>
            </a:outerShdw>
          </a:effectLst>
        </p:spPr>
        <p:txBody>
          <a:bodyPr spcFirstLastPara="1" wrap="square" lIns="121900" tIns="121900" rIns="121900" bIns="121900" anchor="ctr" anchorCtr="0">
            <a:noAutofit/>
          </a:bodyPr>
          <a:lstStyle/>
          <a:p>
            <a:pPr algn="ctr"/>
            <a:r>
              <a:rPr lang="en-GB" sz="1067" i="1">
                <a:solidFill>
                  <a:schemeClr val="dk1"/>
                </a:solidFill>
              </a:rPr>
              <a:t>Questions emphasise our commitment to delivering quality, and are based off a new global Assurance Quality Dimension </a:t>
            </a:r>
            <a:r>
              <a:rPr lang="en-GB" sz="1067" i="1" u="sng">
                <a:solidFill>
                  <a:schemeClr val="hlink"/>
                </a:solidFill>
                <a:hlinkClick r:id="rId3"/>
              </a:rPr>
              <a:t>framework</a:t>
            </a:r>
            <a:r>
              <a:rPr lang="en-GB" sz="1067" i="1">
                <a:solidFill>
                  <a:schemeClr val="dk1"/>
                </a:solidFill>
              </a:rPr>
              <a:t>. </a:t>
            </a:r>
            <a:endParaRPr sz="1067" i="1">
              <a:solidFill>
                <a:schemeClr val="dk1"/>
              </a:solidFill>
            </a:endParaRPr>
          </a:p>
        </p:txBody>
      </p:sp>
      <p:sp>
        <p:nvSpPr>
          <p:cNvPr id="481" name="Google Shape;481;p57">
            <a:extLst>
              <a:ext uri="{FF2B5EF4-FFF2-40B4-BE49-F238E27FC236}">
                <a16:creationId xmlns:a16="http://schemas.microsoft.com/office/drawing/2014/main" id="{8273B022-856A-64CB-3976-DD5B43375DD8}"/>
              </a:ext>
            </a:extLst>
          </p:cNvPr>
          <p:cNvSpPr/>
          <p:nvPr/>
        </p:nvSpPr>
        <p:spPr>
          <a:xfrm>
            <a:off x="7331788" y="5195099"/>
            <a:ext cx="2121600" cy="1078800"/>
          </a:xfrm>
          <a:prstGeom prst="rect">
            <a:avLst/>
          </a:prstGeom>
          <a:solidFill>
            <a:srgbClr val="EB8C00">
              <a:alpha val="19380"/>
            </a:srgbClr>
          </a:solidFill>
          <a:ln>
            <a:noFill/>
          </a:ln>
          <a:effectLst>
            <a:outerShdw blurRad="57150" dist="57150" dir="5400000" algn="bl" rotWithShape="0">
              <a:schemeClr val="lt1">
                <a:alpha val="50000"/>
              </a:schemeClr>
            </a:outerShdw>
          </a:effectLst>
        </p:spPr>
        <p:txBody>
          <a:bodyPr spcFirstLastPara="1" wrap="square" lIns="121900" tIns="121900" rIns="121900" bIns="121900" anchor="ctr" anchorCtr="0">
            <a:noAutofit/>
          </a:bodyPr>
          <a:lstStyle/>
          <a:p>
            <a:pPr algn="ctr"/>
            <a:r>
              <a:rPr lang="en-GB" sz="1067" i="1">
                <a:solidFill>
                  <a:schemeClr val="dk1"/>
                </a:solidFill>
              </a:rPr>
              <a:t>This question helps you understand whether your project contributions met the expectations of your role</a:t>
            </a:r>
            <a:endParaRPr sz="1067" i="1">
              <a:solidFill>
                <a:schemeClr val="dk1"/>
              </a:solidFill>
            </a:endParaRPr>
          </a:p>
        </p:txBody>
      </p:sp>
      <p:sp>
        <p:nvSpPr>
          <p:cNvPr id="482" name="Google Shape;482;p57">
            <a:extLst>
              <a:ext uri="{FF2B5EF4-FFF2-40B4-BE49-F238E27FC236}">
                <a16:creationId xmlns:a16="http://schemas.microsoft.com/office/drawing/2014/main" id="{1315C0FA-A26D-21F5-B6AF-D18B372E59AD}"/>
              </a:ext>
            </a:extLst>
          </p:cNvPr>
          <p:cNvSpPr/>
          <p:nvPr/>
        </p:nvSpPr>
        <p:spPr>
          <a:xfrm>
            <a:off x="9628332" y="5195099"/>
            <a:ext cx="2121600" cy="1078800"/>
          </a:xfrm>
          <a:prstGeom prst="rect">
            <a:avLst/>
          </a:prstGeom>
          <a:solidFill>
            <a:srgbClr val="EB8C00">
              <a:alpha val="19380"/>
            </a:srgbClr>
          </a:solidFill>
          <a:ln>
            <a:noFill/>
          </a:ln>
          <a:effectLst>
            <a:outerShdw blurRad="57150" dist="57150" dir="5400000" algn="bl" rotWithShape="0">
              <a:schemeClr val="lt1">
                <a:alpha val="50000"/>
              </a:schemeClr>
            </a:outerShdw>
          </a:effectLst>
        </p:spPr>
        <p:txBody>
          <a:bodyPr spcFirstLastPara="1" wrap="square" lIns="121900" tIns="121900" rIns="121900" bIns="121900" anchor="ctr" anchorCtr="0">
            <a:noAutofit/>
          </a:bodyPr>
          <a:lstStyle/>
          <a:p>
            <a:pPr algn="ctr"/>
            <a:r>
              <a:rPr lang="en-GB" sz="1067" i="1">
                <a:solidFill>
                  <a:schemeClr val="dk1"/>
                </a:solidFill>
              </a:rPr>
              <a:t>Space to provide additional context around questions 2 and 3</a:t>
            </a:r>
            <a:endParaRPr sz="1067" i="1">
              <a:solidFill>
                <a:schemeClr val="accent3"/>
              </a:solidFill>
            </a:endParaRPr>
          </a:p>
        </p:txBody>
      </p:sp>
      <p:sp>
        <p:nvSpPr>
          <p:cNvPr id="483" name="Google Shape;483;p57" descr="Information&#10;">
            <a:extLst>
              <a:ext uri="{FF2B5EF4-FFF2-40B4-BE49-F238E27FC236}">
                <a16:creationId xmlns:a16="http://schemas.microsoft.com/office/drawing/2014/main" id="{1A8D1A0A-C347-4836-1FE7-2FF503AB4589}"/>
              </a:ext>
            </a:extLst>
          </p:cNvPr>
          <p:cNvSpPr/>
          <p:nvPr/>
        </p:nvSpPr>
        <p:spPr>
          <a:xfrm>
            <a:off x="1283085" y="1673333"/>
            <a:ext cx="439233" cy="444400"/>
          </a:xfrm>
          <a:custGeom>
            <a:avLst/>
            <a:gdLst/>
            <a:ahLst/>
            <a:cxnLst/>
            <a:rect l="l" t="t" r="r" b="b"/>
            <a:pathLst>
              <a:path w="200" h="200" extrusionOk="0">
                <a:moveTo>
                  <a:pt x="100" y="200"/>
                </a:moveTo>
                <a:cubicBezTo>
                  <a:pt x="155" y="200"/>
                  <a:pt x="200" y="156"/>
                  <a:pt x="200" y="100"/>
                </a:cubicBezTo>
                <a:cubicBezTo>
                  <a:pt x="200" y="45"/>
                  <a:pt x="155" y="0"/>
                  <a:pt x="100" y="0"/>
                </a:cubicBezTo>
                <a:cubicBezTo>
                  <a:pt x="45" y="0"/>
                  <a:pt x="0" y="45"/>
                  <a:pt x="0" y="100"/>
                </a:cubicBezTo>
                <a:cubicBezTo>
                  <a:pt x="0" y="156"/>
                  <a:pt x="45" y="200"/>
                  <a:pt x="100" y="200"/>
                </a:cubicBezTo>
                <a:close/>
                <a:moveTo>
                  <a:pt x="100" y="13"/>
                </a:moveTo>
                <a:cubicBezTo>
                  <a:pt x="148" y="13"/>
                  <a:pt x="188" y="52"/>
                  <a:pt x="188" y="100"/>
                </a:cubicBezTo>
                <a:cubicBezTo>
                  <a:pt x="188" y="149"/>
                  <a:pt x="148" y="188"/>
                  <a:pt x="100" y="188"/>
                </a:cubicBezTo>
                <a:cubicBezTo>
                  <a:pt x="52" y="188"/>
                  <a:pt x="13" y="149"/>
                  <a:pt x="13" y="100"/>
                </a:cubicBezTo>
                <a:cubicBezTo>
                  <a:pt x="13" y="52"/>
                  <a:pt x="52" y="13"/>
                  <a:pt x="100" y="13"/>
                </a:cubicBezTo>
                <a:close/>
                <a:moveTo>
                  <a:pt x="94" y="149"/>
                </a:moveTo>
                <a:cubicBezTo>
                  <a:pt x="106" y="149"/>
                  <a:pt x="106" y="149"/>
                  <a:pt x="106" y="149"/>
                </a:cubicBezTo>
                <a:cubicBezTo>
                  <a:pt x="106" y="89"/>
                  <a:pt x="106" y="89"/>
                  <a:pt x="106" y="89"/>
                </a:cubicBezTo>
                <a:cubicBezTo>
                  <a:pt x="94" y="89"/>
                  <a:pt x="94" y="89"/>
                  <a:pt x="94" y="89"/>
                </a:cubicBezTo>
                <a:lnTo>
                  <a:pt x="94" y="149"/>
                </a:lnTo>
                <a:close/>
                <a:moveTo>
                  <a:pt x="100" y="67"/>
                </a:moveTo>
                <a:cubicBezTo>
                  <a:pt x="105" y="67"/>
                  <a:pt x="110" y="63"/>
                  <a:pt x="110" y="58"/>
                </a:cubicBezTo>
                <a:cubicBezTo>
                  <a:pt x="110" y="53"/>
                  <a:pt x="105" y="49"/>
                  <a:pt x="100" y="49"/>
                </a:cubicBezTo>
                <a:cubicBezTo>
                  <a:pt x="95" y="49"/>
                  <a:pt x="91" y="53"/>
                  <a:pt x="91" y="58"/>
                </a:cubicBezTo>
                <a:cubicBezTo>
                  <a:pt x="91" y="63"/>
                  <a:pt x="95" y="67"/>
                  <a:pt x="100" y="67"/>
                </a:cubicBezTo>
                <a:close/>
              </a:path>
            </a:pathLst>
          </a:custGeom>
          <a:solidFill>
            <a:schemeClr val="accent5"/>
          </a:solidFill>
          <a:ln>
            <a:noFill/>
          </a:ln>
          <a:effectLst>
            <a:outerShdw blurRad="57150" dist="19050" dir="5400000" algn="bl" rotWithShape="0">
              <a:schemeClr val="lt1">
                <a:alpha val="50000"/>
              </a:schemeClr>
            </a:outerShdw>
          </a:effectLst>
        </p:spPr>
        <p:txBody>
          <a:bodyPr spcFirstLastPara="1" wrap="square" lIns="121900" tIns="60933" rIns="121900" bIns="60933" anchor="t" anchorCtr="0">
            <a:noAutofit/>
          </a:bodyPr>
          <a:lstStyle/>
          <a:p>
            <a:pPr>
              <a:buSzPts val="1800"/>
            </a:pPr>
            <a:endParaRPr sz="2400"/>
          </a:p>
        </p:txBody>
      </p:sp>
      <p:sp>
        <p:nvSpPr>
          <p:cNvPr id="484" name="Google Shape;484;p57">
            <a:extLst>
              <a:ext uri="{FF2B5EF4-FFF2-40B4-BE49-F238E27FC236}">
                <a16:creationId xmlns:a16="http://schemas.microsoft.com/office/drawing/2014/main" id="{72980C1D-54E0-F460-5092-52C8B6599A78}"/>
              </a:ext>
            </a:extLst>
          </p:cNvPr>
          <p:cNvSpPr/>
          <p:nvPr/>
        </p:nvSpPr>
        <p:spPr>
          <a:xfrm rot="8100000">
            <a:off x="2466616" y="1823125"/>
            <a:ext cx="170837" cy="144816"/>
          </a:xfrm>
          <a:prstGeom prst="halfFrame">
            <a:avLst>
              <a:gd name="adj1" fmla="val 33333"/>
              <a:gd name="adj2" fmla="val 33333"/>
            </a:avLst>
          </a:prstGeom>
          <a:solidFill>
            <a:schemeClr val="accent6"/>
          </a:solidFill>
          <a:ln>
            <a:noFill/>
          </a:ln>
        </p:spPr>
        <p:txBody>
          <a:bodyPr spcFirstLastPara="1" wrap="square" lIns="121900" tIns="121900" rIns="121900" bIns="121900" anchor="ctr" anchorCtr="0">
            <a:noAutofit/>
          </a:bodyPr>
          <a:lstStyle/>
          <a:p>
            <a:pPr algn="ctr"/>
            <a:endParaRPr sz="1867">
              <a:solidFill>
                <a:schemeClr val="accent5"/>
              </a:solidFill>
            </a:endParaRPr>
          </a:p>
        </p:txBody>
      </p:sp>
      <p:sp>
        <p:nvSpPr>
          <p:cNvPr id="485" name="Google Shape;485;p57">
            <a:extLst>
              <a:ext uri="{FF2B5EF4-FFF2-40B4-BE49-F238E27FC236}">
                <a16:creationId xmlns:a16="http://schemas.microsoft.com/office/drawing/2014/main" id="{439E4263-9C78-308C-D394-D48384FBA07C}"/>
              </a:ext>
            </a:extLst>
          </p:cNvPr>
          <p:cNvSpPr/>
          <p:nvPr/>
        </p:nvSpPr>
        <p:spPr>
          <a:xfrm rot="8100000">
            <a:off x="9345129" y="1820297"/>
            <a:ext cx="168008" cy="150472"/>
          </a:xfrm>
          <a:prstGeom prst="halfFrame">
            <a:avLst>
              <a:gd name="adj1" fmla="val 33333"/>
              <a:gd name="adj2" fmla="val 33333"/>
            </a:avLst>
          </a:prstGeom>
          <a:solidFill>
            <a:schemeClr val="accent6"/>
          </a:solidFill>
          <a:ln>
            <a:noFill/>
          </a:ln>
        </p:spPr>
        <p:txBody>
          <a:bodyPr spcFirstLastPara="1" wrap="square" lIns="121900" tIns="121900" rIns="121900" bIns="121900" anchor="ctr" anchorCtr="0">
            <a:noAutofit/>
          </a:bodyPr>
          <a:lstStyle/>
          <a:p>
            <a:pPr algn="ctr"/>
            <a:endParaRPr sz="1867">
              <a:solidFill>
                <a:schemeClr val="accent5"/>
              </a:solidFill>
            </a:endParaRPr>
          </a:p>
        </p:txBody>
      </p:sp>
      <p:sp>
        <p:nvSpPr>
          <p:cNvPr id="486" name="Google Shape;486;p57">
            <a:extLst>
              <a:ext uri="{FF2B5EF4-FFF2-40B4-BE49-F238E27FC236}">
                <a16:creationId xmlns:a16="http://schemas.microsoft.com/office/drawing/2014/main" id="{AFE42F55-E484-BF4B-E079-6F241EFA2D64}"/>
              </a:ext>
            </a:extLst>
          </p:cNvPr>
          <p:cNvSpPr/>
          <p:nvPr/>
        </p:nvSpPr>
        <p:spPr>
          <a:xfrm rot="8100000">
            <a:off x="7052431" y="1820297"/>
            <a:ext cx="168008" cy="150472"/>
          </a:xfrm>
          <a:prstGeom prst="halfFrame">
            <a:avLst>
              <a:gd name="adj1" fmla="val 33333"/>
              <a:gd name="adj2" fmla="val 33333"/>
            </a:avLst>
          </a:prstGeom>
          <a:solidFill>
            <a:schemeClr val="accent6"/>
          </a:solidFill>
          <a:ln>
            <a:noFill/>
          </a:ln>
        </p:spPr>
        <p:txBody>
          <a:bodyPr spcFirstLastPara="1" wrap="square" lIns="121900" tIns="121900" rIns="121900" bIns="121900" anchor="ctr" anchorCtr="0">
            <a:noAutofit/>
          </a:bodyPr>
          <a:lstStyle/>
          <a:p>
            <a:pPr algn="ctr"/>
            <a:endParaRPr sz="1867">
              <a:solidFill>
                <a:schemeClr val="accent5"/>
              </a:solidFill>
            </a:endParaRPr>
          </a:p>
        </p:txBody>
      </p:sp>
      <p:sp>
        <p:nvSpPr>
          <p:cNvPr id="487" name="Google Shape;487;p57">
            <a:extLst>
              <a:ext uri="{FF2B5EF4-FFF2-40B4-BE49-F238E27FC236}">
                <a16:creationId xmlns:a16="http://schemas.microsoft.com/office/drawing/2014/main" id="{08A8507F-1E10-15B2-1A91-4E697FF1CC52}"/>
              </a:ext>
            </a:extLst>
          </p:cNvPr>
          <p:cNvSpPr/>
          <p:nvPr/>
        </p:nvSpPr>
        <p:spPr>
          <a:xfrm rot="8100000">
            <a:off x="4759731" y="1820297"/>
            <a:ext cx="168008" cy="150472"/>
          </a:xfrm>
          <a:prstGeom prst="halfFrame">
            <a:avLst>
              <a:gd name="adj1" fmla="val 33333"/>
              <a:gd name="adj2" fmla="val 33333"/>
            </a:avLst>
          </a:prstGeom>
          <a:solidFill>
            <a:schemeClr val="accent6"/>
          </a:solidFill>
          <a:ln>
            <a:noFill/>
          </a:ln>
        </p:spPr>
        <p:txBody>
          <a:bodyPr spcFirstLastPara="1" wrap="square" lIns="121900" tIns="121900" rIns="121900" bIns="121900" anchor="ctr" anchorCtr="0">
            <a:noAutofit/>
          </a:bodyPr>
          <a:lstStyle/>
          <a:p>
            <a:pPr algn="ctr"/>
            <a:endParaRPr sz="1867">
              <a:solidFill>
                <a:schemeClr val="accent5"/>
              </a:solidFill>
            </a:endParaRPr>
          </a:p>
        </p:txBody>
      </p:sp>
      <p:pic>
        <p:nvPicPr>
          <p:cNvPr id="488" name="Google Shape;488;p57" descr="A colorful infinity symbol on a black background&#10;&#10;Description automatically generated">
            <a:extLst>
              <a:ext uri="{FF2B5EF4-FFF2-40B4-BE49-F238E27FC236}">
                <a16:creationId xmlns:a16="http://schemas.microsoft.com/office/drawing/2014/main" id="{E5608825-52C8-3049-E345-AA418000AAE1}"/>
              </a:ext>
            </a:extLst>
          </p:cNvPr>
          <p:cNvPicPr preferRelativeResize="0"/>
          <p:nvPr/>
        </p:nvPicPr>
        <p:blipFill rotWithShape="1">
          <a:blip r:embed="rId4">
            <a:alphaModFix/>
          </a:blip>
          <a:srcRect/>
          <a:stretch/>
        </p:blipFill>
        <p:spPr>
          <a:xfrm>
            <a:off x="3353043" y="1683867"/>
            <a:ext cx="892781" cy="398800"/>
          </a:xfrm>
          <a:prstGeom prst="rect">
            <a:avLst/>
          </a:prstGeom>
          <a:noFill/>
          <a:ln>
            <a:noFill/>
          </a:ln>
        </p:spPr>
      </p:pic>
      <p:sp>
        <p:nvSpPr>
          <p:cNvPr id="489" name="Google Shape;489;p57" descr="Circle Checkmark&#10;">
            <a:extLst>
              <a:ext uri="{FF2B5EF4-FFF2-40B4-BE49-F238E27FC236}">
                <a16:creationId xmlns:a16="http://schemas.microsoft.com/office/drawing/2014/main" id="{081144C5-7018-E773-A0FB-B71744693738}"/>
              </a:ext>
            </a:extLst>
          </p:cNvPr>
          <p:cNvSpPr/>
          <p:nvPr/>
        </p:nvSpPr>
        <p:spPr>
          <a:xfrm>
            <a:off x="5876385" y="1673333"/>
            <a:ext cx="439233" cy="444400"/>
          </a:xfrm>
          <a:custGeom>
            <a:avLst/>
            <a:gdLst/>
            <a:ahLst/>
            <a:cxnLst/>
            <a:rect l="l" t="t" r="r" b="b"/>
            <a:pathLst>
              <a:path w="200" h="200" extrusionOk="0">
                <a:moveTo>
                  <a:pt x="100" y="0"/>
                </a:moveTo>
                <a:cubicBezTo>
                  <a:pt x="45" y="0"/>
                  <a:pt x="0" y="45"/>
                  <a:pt x="0" y="100"/>
                </a:cubicBezTo>
                <a:cubicBezTo>
                  <a:pt x="0" y="155"/>
                  <a:pt x="45" y="200"/>
                  <a:pt x="100" y="200"/>
                </a:cubicBezTo>
                <a:cubicBezTo>
                  <a:pt x="155" y="200"/>
                  <a:pt x="200" y="155"/>
                  <a:pt x="200" y="100"/>
                </a:cubicBezTo>
                <a:cubicBezTo>
                  <a:pt x="200" y="45"/>
                  <a:pt x="155" y="0"/>
                  <a:pt x="100" y="0"/>
                </a:cubicBezTo>
                <a:close/>
                <a:moveTo>
                  <a:pt x="100" y="188"/>
                </a:moveTo>
                <a:cubicBezTo>
                  <a:pt x="52" y="188"/>
                  <a:pt x="13" y="149"/>
                  <a:pt x="13" y="100"/>
                </a:cubicBezTo>
                <a:cubicBezTo>
                  <a:pt x="13" y="52"/>
                  <a:pt x="52" y="13"/>
                  <a:pt x="100" y="13"/>
                </a:cubicBezTo>
                <a:cubicBezTo>
                  <a:pt x="148" y="13"/>
                  <a:pt x="188" y="52"/>
                  <a:pt x="188" y="100"/>
                </a:cubicBezTo>
                <a:cubicBezTo>
                  <a:pt x="188" y="149"/>
                  <a:pt x="148" y="188"/>
                  <a:pt x="100" y="188"/>
                </a:cubicBezTo>
                <a:close/>
                <a:moveTo>
                  <a:pt x="88" y="116"/>
                </a:moveTo>
                <a:cubicBezTo>
                  <a:pt x="68" y="96"/>
                  <a:pt x="68" y="96"/>
                  <a:pt x="68" y="96"/>
                </a:cubicBezTo>
                <a:cubicBezTo>
                  <a:pt x="59" y="105"/>
                  <a:pt x="59" y="105"/>
                  <a:pt x="59" y="105"/>
                </a:cubicBezTo>
                <a:cubicBezTo>
                  <a:pt x="88" y="134"/>
                  <a:pt x="88" y="134"/>
                  <a:pt x="88" y="134"/>
                </a:cubicBezTo>
                <a:cubicBezTo>
                  <a:pt x="146" y="75"/>
                  <a:pt x="146" y="75"/>
                  <a:pt x="146" y="75"/>
                </a:cubicBezTo>
                <a:cubicBezTo>
                  <a:pt x="138" y="66"/>
                  <a:pt x="138" y="66"/>
                  <a:pt x="138" y="66"/>
                </a:cubicBezTo>
                <a:lnTo>
                  <a:pt x="88" y="116"/>
                </a:lnTo>
                <a:close/>
              </a:path>
            </a:pathLst>
          </a:custGeom>
          <a:solidFill>
            <a:schemeClr val="accent5"/>
          </a:solidFill>
          <a:ln>
            <a:noFill/>
          </a:ln>
        </p:spPr>
        <p:txBody>
          <a:bodyPr spcFirstLastPara="1" wrap="square" lIns="121900" tIns="60933" rIns="121900" bIns="60933" anchor="t" anchorCtr="0">
            <a:noAutofit/>
          </a:bodyPr>
          <a:lstStyle/>
          <a:p>
            <a:pPr>
              <a:buSzPts val="1800"/>
            </a:pPr>
            <a:endParaRPr sz="2400"/>
          </a:p>
        </p:txBody>
      </p:sp>
      <p:sp>
        <p:nvSpPr>
          <p:cNvPr id="490" name="Google Shape;490;p57" descr="Person&#10;">
            <a:extLst>
              <a:ext uri="{FF2B5EF4-FFF2-40B4-BE49-F238E27FC236}">
                <a16:creationId xmlns:a16="http://schemas.microsoft.com/office/drawing/2014/main" id="{494CA2B4-5717-17F6-46BA-D802BCC2A1BD}"/>
              </a:ext>
            </a:extLst>
          </p:cNvPr>
          <p:cNvSpPr/>
          <p:nvPr/>
        </p:nvSpPr>
        <p:spPr>
          <a:xfrm>
            <a:off x="8217634" y="1673333"/>
            <a:ext cx="439233" cy="444400"/>
          </a:xfrm>
          <a:custGeom>
            <a:avLst/>
            <a:gdLst/>
            <a:ahLst/>
            <a:cxnLst/>
            <a:rect l="l" t="t" r="r" b="b"/>
            <a:pathLst>
              <a:path w="210" h="179" extrusionOk="0">
                <a:moveTo>
                  <a:pt x="105" y="81"/>
                </a:moveTo>
                <a:cubicBezTo>
                  <a:pt x="127" y="81"/>
                  <a:pt x="146" y="63"/>
                  <a:pt x="146" y="41"/>
                </a:cubicBezTo>
                <a:cubicBezTo>
                  <a:pt x="146" y="18"/>
                  <a:pt x="127" y="0"/>
                  <a:pt x="105" y="0"/>
                </a:cubicBezTo>
                <a:cubicBezTo>
                  <a:pt x="83" y="0"/>
                  <a:pt x="64" y="18"/>
                  <a:pt x="64" y="41"/>
                </a:cubicBezTo>
                <a:cubicBezTo>
                  <a:pt x="64" y="63"/>
                  <a:pt x="83" y="81"/>
                  <a:pt x="105" y="81"/>
                </a:cubicBezTo>
                <a:close/>
                <a:moveTo>
                  <a:pt x="105" y="13"/>
                </a:moveTo>
                <a:cubicBezTo>
                  <a:pt x="121" y="13"/>
                  <a:pt x="133" y="25"/>
                  <a:pt x="133" y="41"/>
                </a:cubicBezTo>
                <a:cubicBezTo>
                  <a:pt x="133" y="56"/>
                  <a:pt x="121" y="69"/>
                  <a:pt x="105" y="69"/>
                </a:cubicBezTo>
                <a:cubicBezTo>
                  <a:pt x="90" y="69"/>
                  <a:pt x="77" y="56"/>
                  <a:pt x="77" y="41"/>
                </a:cubicBezTo>
                <a:cubicBezTo>
                  <a:pt x="77" y="25"/>
                  <a:pt x="90" y="13"/>
                  <a:pt x="105" y="13"/>
                </a:cubicBezTo>
                <a:close/>
                <a:moveTo>
                  <a:pt x="23" y="179"/>
                </a:moveTo>
                <a:cubicBezTo>
                  <a:pt x="187" y="179"/>
                  <a:pt x="187" y="179"/>
                  <a:pt x="187" y="179"/>
                </a:cubicBezTo>
                <a:cubicBezTo>
                  <a:pt x="202" y="179"/>
                  <a:pt x="210" y="162"/>
                  <a:pt x="201" y="150"/>
                </a:cubicBezTo>
                <a:cubicBezTo>
                  <a:pt x="184" y="128"/>
                  <a:pt x="148" y="113"/>
                  <a:pt x="105" y="113"/>
                </a:cubicBezTo>
                <a:cubicBezTo>
                  <a:pt x="62" y="113"/>
                  <a:pt x="26" y="128"/>
                  <a:pt x="9" y="150"/>
                </a:cubicBezTo>
                <a:cubicBezTo>
                  <a:pt x="0" y="162"/>
                  <a:pt x="8" y="179"/>
                  <a:pt x="23" y="179"/>
                </a:cubicBezTo>
                <a:close/>
                <a:moveTo>
                  <a:pt x="19" y="158"/>
                </a:moveTo>
                <a:cubicBezTo>
                  <a:pt x="34" y="138"/>
                  <a:pt x="68" y="125"/>
                  <a:pt x="105" y="125"/>
                </a:cubicBezTo>
                <a:cubicBezTo>
                  <a:pt x="142" y="125"/>
                  <a:pt x="176" y="138"/>
                  <a:pt x="191" y="158"/>
                </a:cubicBezTo>
                <a:cubicBezTo>
                  <a:pt x="193" y="160"/>
                  <a:pt x="192" y="162"/>
                  <a:pt x="192" y="163"/>
                </a:cubicBezTo>
                <a:cubicBezTo>
                  <a:pt x="192" y="164"/>
                  <a:pt x="190" y="166"/>
                  <a:pt x="187" y="166"/>
                </a:cubicBezTo>
                <a:cubicBezTo>
                  <a:pt x="23" y="166"/>
                  <a:pt x="23" y="166"/>
                  <a:pt x="23" y="166"/>
                </a:cubicBezTo>
                <a:cubicBezTo>
                  <a:pt x="20" y="166"/>
                  <a:pt x="19" y="164"/>
                  <a:pt x="18" y="163"/>
                </a:cubicBezTo>
                <a:cubicBezTo>
                  <a:pt x="18" y="162"/>
                  <a:pt x="17" y="160"/>
                  <a:pt x="19" y="158"/>
                </a:cubicBezTo>
                <a:close/>
              </a:path>
            </a:pathLst>
          </a:custGeom>
          <a:solidFill>
            <a:schemeClr val="accent5"/>
          </a:solidFill>
          <a:ln>
            <a:noFill/>
          </a:ln>
        </p:spPr>
        <p:txBody>
          <a:bodyPr spcFirstLastPara="1" wrap="square" lIns="121900" tIns="60933" rIns="121900" bIns="60933" anchor="t" anchorCtr="0">
            <a:noAutofit/>
          </a:bodyPr>
          <a:lstStyle/>
          <a:p>
            <a:pPr>
              <a:buSzPts val="1800"/>
            </a:pPr>
            <a:endParaRPr sz="2400"/>
          </a:p>
        </p:txBody>
      </p:sp>
      <p:sp>
        <p:nvSpPr>
          <p:cNvPr id="491" name="Google Shape;491;p57" descr="Comment&#10;">
            <a:extLst>
              <a:ext uri="{FF2B5EF4-FFF2-40B4-BE49-F238E27FC236}">
                <a16:creationId xmlns:a16="http://schemas.microsoft.com/office/drawing/2014/main" id="{4028DF02-2864-02BE-2E99-B81DF9770BBD}"/>
              </a:ext>
            </a:extLst>
          </p:cNvPr>
          <p:cNvSpPr/>
          <p:nvPr/>
        </p:nvSpPr>
        <p:spPr>
          <a:xfrm>
            <a:off x="10469509" y="1663717"/>
            <a:ext cx="439233" cy="463600"/>
          </a:xfrm>
          <a:custGeom>
            <a:avLst/>
            <a:gdLst/>
            <a:ahLst/>
            <a:cxnLst/>
            <a:rect l="l" t="t" r="r" b="b"/>
            <a:pathLst>
              <a:path w="202" h="200" extrusionOk="0">
                <a:moveTo>
                  <a:pt x="25" y="200"/>
                </a:moveTo>
                <a:cubicBezTo>
                  <a:pt x="66" y="174"/>
                  <a:pt x="66" y="174"/>
                  <a:pt x="66" y="174"/>
                </a:cubicBezTo>
                <a:cubicBezTo>
                  <a:pt x="73" y="176"/>
                  <a:pt x="81" y="177"/>
                  <a:pt x="89" y="177"/>
                </a:cubicBezTo>
                <a:cubicBezTo>
                  <a:pt x="114" y="177"/>
                  <a:pt x="114" y="177"/>
                  <a:pt x="114" y="177"/>
                </a:cubicBezTo>
                <a:cubicBezTo>
                  <a:pt x="163" y="177"/>
                  <a:pt x="202" y="138"/>
                  <a:pt x="202" y="89"/>
                </a:cubicBezTo>
                <a:cubicBezTo>
                  <a:pt x="202" y="40"/>
                  <a:pt x="163" y="0"/>
                  <a:pt x="114" y="0"/>
                </a:cubicBezTo>
                <a:cubicBezTo>
                  <a:pt x="89" y="0"/>
                  <a:pt x="89" y="0"/>
                  <a:pt x="89" y="0"/>
                </a:cubicBezTo>
                <a:cubicBezTo>
                  <a:pt x="40" y="0"/>
                  <a:pt x="0" y="40"/>
                  <a:pt x="0" y="89"/>
                </a:cubicBezTo>
                <a:cubicBezTo>
                  <a:pt x="0" y="113"/>
                  <a:pt x="10" y="134"/>
                  <a:pt x="25" y="150"/>
                </a:cubicBezTo>
                <a:lnTo>
                  <a:pt x="25" y="200"/>
                </a:lnTo>
                <a:close/>
                <a:moveTo>
                  <a:pt x="13" y="89"/>
                </a:moveTo>
                <a:cubicBezTo>
                  <a:pt x="13" y="47"/>
                  <a:pt x="47" y="13"/>
                  <a:pt x="89" y="13"/>
                </a:cubicBezTo>
                <a:cubicBezTo>
                  <a:pt x="114" y="13"/>
                  <a:pt x="114" y="13"/>
                  <a:pt x="114" y="13"/>
                </a:cubicBezTo>
                <a:cubicBezTo>
                  <a:pt x="156" y="13"/>
                  <a:pt x="190" y="47"/>
                  <a:pt x="190" y="89"/>
                </a:cubicBezTo>
                <a:cubicBezTo>
                  <a:pt x="190" y="131"/>
                  <a:pt x="156" y="165"/>
                  <a:pt x="114" y="165"/>
                </a:cubicBezTo>
                <a:cubicBezTo>
                  <a:pt x="89" y="165"/>
                  <a:pt x="89" y="165"/>
                  <a:pt x="89" y="165"/>
                </a:cubicBezTo>
                <a:cubicBezTo>
                  <a:pt x="82" y="165"/>
                  <a:pt x="76" y="164"/>
                  <a:pt x="69" y="162"/>
                </a:cubicBezTo>
                <a:cubicBezTo>
                  <a:pt x="63" y="160"/>
                  <a:pt x="63" y="160"/>
                  <a:pt x="63" y="160"/>
                </a:cubicBezTo>
                <a:cubicBezTo>
                  <a:pt x="59" y="163"/>
                  <a:pt x="59" y="163"/>
                  <a:pt x="59" y="163"/>
                </a:cubicBezTo>
                <a:cubicBezTo>
                  <a:pt x="37" y="177"/>
                  <a:pt x="37" y="177"/>
                  <a:pt x="37" y="177"/>
                </a:cubicBezTo>
                <a:cubicBezTo>
                  <a:pt x="38" y="150"/>
                  <a:pt x="38" y="150"/>
                  <a:pt x="38" y="150"/>
                </a:cubicBezTo>
                <a:cubicBezTo>
                  <a:pt x="38" y="145"/>
                  <a:pt x="38" y="145"/>
                  <a:pt x="38" y="145"/>
                </a:cubicBezTo>
                <a:cubicBezTo>
                  <a:pt x="34" y="141"/>
                  <a:pt x="34" y="141"/>
                  <a:pt x="34" y="141"/>
                </a:cubicBezTo>
                <a:cubicBezTo>
                  <a:pt x="20" y="127"/>
                  <a:pt x="13" y="108"/>
                  <a:pt x="13" y="89"/>
                </a:cubicBezTo>
                <a:close/>
              </a:path>
            </a:pathLst>
          </a:custGeom>
          <a:solidFill>
            <a:schemeClr val="accent5"/>
          </a:solidFill>
          <a:ln>
            <a:noFill/>
          </a:ln>
        </p:spPr>
        <p:txBody>
          <a:bodyPr spcFirstLastPara="1" wrap="square" lIns="121900" tIns="60933" rIns="121900" bIns="60933" anchor="t" anchorCtr="0">
            <a:noAutofit/>
          </a:bodyPr>
          <a:lstStyle/>
          <a:p>
            <a:pPr>
              <a:buSzPts val="1800"/>
            </a:pPr>
            <a:endParaRPr sz="2400"/>
          </a:p>
        </p:txBody>
      </p:sp>
      <p:sp>
        <p:nvSpPr>
          <p:cNvPr id="492" name="Google Shape;492;p57">
            <a:extLst>
              <a:ext uri="{FF2B5EF4-FFF2-40B4-BE49-F238E27FC236}">
                <a16:creationId xmlns:a16="http://schemas.microsoft.com/office/drawing/2014/main" id="{22EB62F3-B218-8750-0E52-4F3735384488}"/>
              </a:ext>
            </a:extLst>
          </p:cNvPr>
          <p:cNvSpPr/>
          <p:nvPr/>
        </p:nvSpPr>
        <p:spPr>
          <a:xfrm>
            <a:off x="442900" y="3417200"/>
            <a:ext cx="2119600" cy="1306800"/>
          </a:xfrm>
          <a:prstGeom prst="rect">
            <a:avLst/>
          </a:prstGeom>
          <a:solidFill>
            <a:srgbClr val="EB8C00">
              <a:alpha val="19380"/>
            </a:srgbClr>
          </a:solidFill>
          <a:ln>
            <a:noFill/>
          </a:ln>
        </p:spPr>
        <p:txBody>
          <a:bodyPr spcFirstLastPara="1" wrap="square" lIns="121900" tIns="121900" rIns="121900" bIns="121900" anchor="ctr" anchorCtr="0">
            <a:noAutofit/>
          </a:bodyPr>
          <a:lstStyle/>
          <a:p>
            <a:pPr algn="ctr"/>
            <a:r>
              <a:rPr lang="en-GB" sz="1067">
                <a:solidFill>
                  <a:schemeClr val="dk1"/>
                </a:solidFill>
              </a:rPr>
              <a:t>Reflecting on the role this individual held on this piece of work, please provide additional details on how you worked together (e.g., frequency of interaction, specific roles, complexity of effort)</a:t>
            </a:r>
            <a:endParaRPr sz="1067">
              <a:solidFill>
                <a:schemeClr val="dk1"/>
              </a:solidFill>
            </a:endParaRPr>
          </a:p>
        </p:txBody>
      </p:sp>
      <p:sp>
        <p:nvSpPr>
          <p:cNvPr id="493" name="Google Shape;493;p57">
            <a:extLst>
              <a:ext uri="{FF2B5EF4-FFF2-40B4-BE49-F238E27FC236}">
                <a16:creationId xmlns:a16="http://schemas.microsoft.com/office/drawing/2014/main" id="{E81C8520-B2C8-7659-CD12-C35C061A2A86}"/>
              </a:ext>
            </a:extLst>
          </p:cNvPr>
          <p:cNvSpPr/>
          <p:nvPr/>
        </p:nvSpPr>
        <p:spPr>
          <a:xfrm>
            <a:off x="442900" y="2579745"/>
            <a:ext cx="2119600" cy="312400"/>
          </a:xfrm>
          <a:prstGeom prst="rect">
            <a:avLst/>
          </a:prstGeom>
          <a:noFill/>
          <a:ln>
            <a:noFill/>
          </a:ln>
        </p:spPr>
        <p:txBody>
          <a:bodyPr spcFirstLastPara="1" wrap="square" lIns="121900" tIns="121900" rIns="121900" bIns="121900" anchor="ctr" anchorCtr="0">
            <a:noAutofit/>
          </a:bodyPr>
          <a:lstStyle/>
          <a:p>
            <a:pPr algn="ctr"/>
            <a:r>
              <a:rPr lang="en-GB" sz="1067" i="1">
                <a:solidFill>
                  <a:schemeClr val="accent6"/>
                </a:solidFill>
              </a:rPr>
              <a:t>Downward &amp; peer feedback</a:t>
            </a:r>
            <a:endParaRPr sz="1067" i="1">
              <a:solidFill>
                <a:schemeClr val="accent6"/>
              </a:solidFill>
            </a:endParaRPr>
          </a:p>
        </p:txBody>
      </p:sp>
      <p:sp>
        <p:nvSpPr>
          <p:cNvPr id="494" name="Google Shape;494;p57">
            <a:extLst>
              <a:ext uri="{FF2B5EF4-FFF2-40B4-BE49-F238E27FC236}">
                <a16:creationId xmlns:a16="http://schemas.microsoft.com/office/drawing/2014/main" id="{012CBD23-EF52-C3AE-580C-BD9E1577DA49}"/>
              </a:ext>
            </a:extLst>
          </p:cNvPr>
          <p:cNvSpPr/>
          <p:nvPr/>
        </p:nvSpPr>
        <p:spPr>
          <a:xfrm>
            <a:off x="442900" y="2254072"/>
            <a:ext cx="2119600" cy="312400"/>
          </a:xfrm>
          <a:prstGeom prst="rect">
            <a:avLst/>
          </a:prstGeom>
          <a:noFill/>
          <a:ln>
            <a:noFill/>
          </a:ln>
        </p:spPr>
        <p:txBody>
          <a:bodyPr spcFirstLastPara="1" wrap="square" lIns="121900" tIns="121900" rIns="121900" bIns="121900" anchor="ctr" anchorCtr="0">
            <a:noAutofit/>
          </a:bodyPr>
          <a:lstStyle/>
          <a:p>
            <a:pPr algn="ctr"/>
            <a:r>
              <a:rPr lang="en-GB" sz="1200" b="1">
                <a:solidFill>
                  <a:schemeClr val="dk1"/>
                </a:solidFill>
              </a:rPr>
              <a:t>Work Context</a:t>
            </a:r>
            <a:endParaRPr sz="1200" b="1">
              <a:solidFill>
                <a:schemeClr val="dk1"/>
              </a:solidFill>
            </a:endParaRPr>
          </a:p>
        </p:txBody>
      </p:sp>
      <p:sp>
        <p:nvSpPr>
          <p:cNvPr id="495" name="Google Shape;495;p57">
            <a:extLst>
              <a:ext uri="{FF2B5EF4-FFF2-40B4-BE49-F238E27FC236}">
                <a16:creationId xmlns:a16="http://schemas.microsoft.com/office/drawing/2014/main" id="{D340A29F-54C4-AE06-EDE2-D9F22C77F5FD}"/>
              </a:ext>
            </a:extLst>
          </p:cNvPr>
          <p:cNvSpPr/>
          <p:nvPr/>
        </p:nvSpPr>
        <p:spPr>
          <a:xfrm>
            <a:off x="2739635" y="3417200"/>
            <a:ext cx="2119600" cy="1308400"/>
          </a:xfrm>
          <a:prstGeom prst="rect">
            <a:avLst/>
          </a:prstGeom>
          <a:solidFill>
            <a:srgbClr val="EB8C00">
              <a:alpha val="19380"/>
            </a:srgbClr>
          </a:solidFill>
          <a:ln>
            <a:noFill/>
          </a:ln>
        </p:spPr>
        <p:txBody>
          <a:bodyPr spcFirstLastPara="1" wrap="square" lIns="121900" tIns="121900" rIns="121900" bIns="121900" anchor="ctr" anchorCtr="0">
            <a:noAutofit/>
          </a:bodyPr>
          <a:lstStyle/>
          <a:p>
            <a:pPr algn="ctr"/>
            <a:r>
              <a:rPr lang="en-GB" sz="1067">
                <a:solidFill>
                  <a:schemeClr val="dk1"/>
                </a:solidFill>
              </a:rPr>
              <a:t>Thinking about the behaviours under </a:t>
            </a:r>
            <a:r>
              <a:rPr lang="en-GB" sz="1067" i="1">
                <a:solidFill>
                  <a:schemeClr val="accent3"/>
                </a:solidFill>
              </a:rPr>
              <a:t>&lt;Core Behaviour&gt;</a:t>
            </a:r>
            <a:r>
              <a:rPr lang="en-GB" sz="1067" i="1">
                <a:solidFill>
                  <a:schemeClr val="dk1"/>
                </a:solidFill>
              </a:rPr>
              <a:t>,</a:t>
            </a:r>
            <a:r>
              <a:rPr lang="en-GB" sz="1067">
                <a:solidFill>
                  <a:schemeClr val="dk1"/>
                </a:solidFill>
              </a:rPr>
              <a:t> this person:</a:t>
            </a:r>
            <a:endParaRPr sz="1067">
              <a:solidFill>
                <a:schemeClr val="dk1"/>
              </a:solidFill>
            </a:endParaRPr>
          </a:p>
          <a:p>
            <a:pPr algn="ctr"/>
            <a:endParaRPr sz="933" i="1">
              <a:solidFill>
                <a:schemeClr val="dk1"/>
              </a:solidFill>
            </a:endParaRPr>
          </a:p>
          <a:p>
            <a:pPr algn="ctr"/>
            <a:r>
              <a:rPr lang="en-GB" sz="933" i="1">
                <a:solidFill>
                  <a:schemeClr val="dk1"/>
                </a:solidFill>
              </a:rPr>
              <a:t>*Multiple-choice selection*</a:t>
            </a:r>
            <a:endParaRPr sz="933" i="1">
              <a:solidFill>
                <a:schemeClr val="dk1"/>
              </a:solidFill>
            </a:endParaRPr>
          </a:p>
        </p:txBody>
      </p:sp>
      <p:sp>
        <p:nvSpPr>
          <p:cNvPr id="496" name="Google Shape;496;p57">
            <a:extLst>
              <a:ext uri="{FF2B5EF4-FFF2-40B4-BE49-F238E27FC236}">
                <a16:creationId xmlns:a16="http://schemas.microsoft.com/office/drawing/2014/main" id="{C4417C46-005C-2D45-1B9C-E22444706789}"/>
              </a:ext>
            </a:extLst>
          </p:cNvPr>
          <p:cNvSpPr/>
          <p:nvPr/>
        </p:nvSpPr>
        <p:spPr>
          <a:xfrm>
            <a:off x="2739633" y="2579745"/>
            <a:ext cx="2119600" cy="312400"/>
          </a:xfrm>
          <a:prstGeom prst="rect">
            <a:avLst/>
          </a:prstGeom>
          <a:noFill/>
          <a:ln>
            <a:noFill/>
          </a:ln>
        </p:spPr>
        <p:txBody>
          <a:bodyPr spcFirstLastPara="1" wrap="square" lIns="121900" tIns="121900" rIns="121900" bIns="121900" anchor="ctr" anchorCtr="0">
            <a:noAutofit/>
          </a:bodyPr>
          <a:lstStyle/>
          <a:p>
            <a:pPr algn="ctr"/>
            <a:r>
              <a:rPr lang="en-GB" sz="1067" i="1">
                <a:solidFill>
                  <a:schemeClr val="accent6"/>
                </a:solidFill>
              </a:rPr>
              <a:t>All directions of feedback</a:t>
            </a:r>
            <a:endParaRPr sz="1067" i="1">
              <a:solidFill>
                <a:schemeClr val="accent6"/>
              </a:solidFill>
            </a:endParaRPr>
          </a:p>
        </p:txBody>
      </p:sp>
      <p:sp>
        <p:nvSpPr>
          <p:cNvPr id="497" name="Google Shape;497;p57">
            <a:extLst>
              <a:ext uri="{FF2B5EF4-FFF2-40B4-BE49-F238E27FC236}">
                <a16:creationId xmlns:a16="http://schemas.microsoft.com/office/drawing/2014/main" id="{C5BC2811-1B8E-F4D2-59E9-749CEE49D949}"/>
              </a:ext>
            </a:extLst>
          </p:cNvPr>
          <p:cNvSpPr/>
          <p:nvPr/>
        </p:nvSpPr>
        <p:spPr>
          <a:xfrm>
            <a:off x="2739633" y="2254072"/>
            <a:ext cx="2119600" cy="312400"/>
          </a:xfrm>
          <a:prstGeom prst="rect">
            <a:avLst/>
          </a:prstGeom>
          <a:noFill/>
          <a:ln>
            <a:noFill/>
          </a:ln>
        </p:spPr>
        <p:txBody>
          <a:bodyPr spcFirstLastPara="1" wrap="square" lIns="121900" tIns="121900" rIns="121900" bIns="121900" anchor="ctr" anchorCtr="0">
            <a:noAutofit/>
          </a:bodyPr>
          <a:lstStyle/>
          <a:p>
            <a:pPr algn="ctr"/>
            <a:r>
              <a:rPr lang="en-GB" sz="1200" b="1">
                <a:solidFill>
                  <a:schemeClr val="dk1"/>
                </a:solidFill>
              </a:rPr>
              <a:t>Assessing evolved PwC Professional Behaviours</a:t>
            </a:r>
            <a:endParaRPr sz="1200" b="1">
              <a:solidFill>
                <a:schemeClr val="dk1"/>
              </a:solidFill>
            </a:endParaRPr>
          </a:p>
        </p:txBody>
      </p:sp>
      <p:sp>
        <p:nvSpPr>
          <p:cNvPr id="498" name="Google Shape;498;p57">
            <a:extLst>
              <a:ext uri="{FF2B5EF4-FFF2-40B4-BE49-F238E27FC236}">
                <a16:creationId xmlns:a16="http://schemas.microsoft.com/office/drawing/2014/main" id="{D18145E5-066D-2A5B-BE71-D84C1C3439CE}"/>
              </a:ext>
            </a:extLst>
          </p:cNvPr>
          <p:cNvSpPr/>
          <p:nvPr/>
        </p:nvSpPr>
        <p:spPr>
          <a:xfrm>
            <a:off x="5036204" y="3417200"/>
            <a:ext cx="2119600" cy="1308400"/>
          </a:xfrm>
          <a:prstGeom prst="rect">
            <a:avLst/>
          </a:prstGeom>
          <a:solidFill>
            <a:srgbClr val="EB8C00">
              <a:alpha val="19380"/>
            </a:srgbClr>
          </a:solidFill>
          <a:ln>
            <a:noFill/>
          </a:ln>
        </p:spPr>
        <p:txBody>
          <a:bodyPr spcFirstLastPara="1" wrap="square" lIns="121900" tIns="121900" rIns="121900" bIns="121900" anchor="ctr" anchorCtr="0">
            <a:noAutofit/>
          </a:bodyPr>
          <a:lstStyle/>
          <a:p>
            <a:pPr algn="ctr"/>
            <a:r>
              <a:rPr lang="en-GB" sz="1067">
                <a:solidFill>
                  <a:schemeClr val="dk1"/>
                </a:solidFill>
              </a:rPr>
              <a:t>Thinking about </a:t>
            </a:r>
            <a:r>
              <a:rPr lang="en-GB" sz="1067" i="1">
                <a:solidFill>
                  <a:schemeClr val="accent3"/>
                </a:solidFill>
              </a:rPr>
              <a:t>&lt;Assurance Quality Dimension&gt;</a:t>
            </a:r>
            <a:r>
              <a:rPr lang="en-GB" sz="1067" i="1">
                <a:solidFill>
                  <a:schemeClr val="dk1"/>
                </a:solidFill>
              </a:rPr>
              <a:t>,</a:t>
            </a:r>
            <a:r>
              <a:rPr lang="en-GB" sz="1067">
                <a:solidFill>
                  <a:schemeClr val="dk1"/>
                </a:solidFill>
              </a:rPr>
              <a:t> this person performed:</a:t>
            </a:r>
            <a:endParaRPr sz="1067">
              <a:solidFill>
                <a:schemeClr val="dk1"/>
              </a:solidFill>
            </a:endParaRPr>
          </a:p>
          <a:p>
            <a:pPr algn="ctr"/>
            <a:endParaRPr sz="933" i="1">
              <a:solidFill>
                <a:schemeClr val="dk1"/>
              </a:solidFill>
            </a:endParaRPr>
          </a:p>
          <a:p>
            <a:pPr algn="ctr">
              <a:buClr>
                <a:schemeClr val="dk1"/>
              </a:buClr>
              <a:buSzPts val="1100"/>
            </a:pPr>
            <a:r>
              <a:rPr lang="en-GB" sz="933" i="1">
                <a:solidFill>
                  <a:schemeClr val="dk1"/>
                </a:solidFill>
              </a:rPr>
              <a:t>*Multiple-choice selection*</a:t>
            </a:r>
            <a:endParaRPr sz="933">
              <a:solidFill>
                <a:schemeClr val="dk1"/>
              </a:solidFill>
            </a:endParaRPr>
          </a:p>
        </p:txBody>
      </p:sp>
      <p:sp>
        <p:nvSpPr>
          <p:cNvPr id="499" name="Google Shape;499;p57">
            <a:extLst>
              <a:ext uri="{FF2B5EF4-FFF2-40B4-BE49-F238E27FC236}">
                <a16:creationId xmlns:a16="http://schemas.microsoft.com/office/drawing/2014/main" id="{EB5D70F3-8E2A-E86D-9672-762C4CE9D33A}"/>
              </a:ext>
            </a:extLst>
          </p:cNvPr>
          <p:cNvSpPr/>
          <p:nvPr/>
        </p:nvSpPr>
        <p:spPr>
          <a:xfrm>
            <a:off x="5036200" y="2575499"/>
            <a:ext cx="2119600" cy="312400"/>
          </a:xfrm>
          <a:prstGeom prst="rect">
            <a:avLst/>
          </a:prstGeom>
          <a:noFill/>
          <a:ln>
            <a:noFill/>
          </a:ln>
        </p:spPr>
        <p:txBody>
          <a:bodyPr spcFirstLastPara="1" wrap="square" lIns="121900" tIns="121900" rIns="121900" bIns="121900" anchor="ctr" anchorCtr="0">
            <a:noAutofit/>
          </a:bodyPr>
          <a:lstStyle/>
          <a:p>
            <a:pPr algn="ctr"/>
            <a:r>
              <a:rPr lang="en-GB" sz="1067" i="1">
                <a:solidFill>
                  <a:schemeClr val="accent6"/>
                </a:solidFill>
              </a:rPr>
              <a:t>Downward-only (opt in)</a:t>
            </a:r>
            <a:endParaRPr sz="1067" i="1">
              <a:solidFill>
                <a:schemeClr val="accent6"/>
              </a:solidFill>
            </a:endParaRPr>
          </a:p>
        </p:txBody>
      </p:sp>
      <p:sp>
        <p:nvSpPr>
          <p:cNvPr id="500" name="Google Shape;500;p57">
            <a:extLst>
              <a:ext uri="{FF2B5EF4-FFF2-40B4-BE49-F238E27FC236}">
                <a16:creationId xmlns:a16="http://schemas.microsoft.com/office/drawing/2014/main" id="{F34E3806-A5CB-632B-A4FF-5E91A1E16937}"/>
              </a:ext>
            </a:extLst>
          </p:cNvPr>
          <p:cNvSpPr/>
          <p:nvPr/>
        </p:nvSpPr>
        <p:spPr>
          <a:xfrm>
            <a:off x="5036200" y="2249824"/>
            <a:ext cx="2119600" cy="312400"/>
          </a:xfrm>
          <a:prstGeom prst="rect">
            <a:avLst/>
          </a:prstGeom>
          <a:noFill/>
          <a:ln>
            <a:noFill/>
          </a:ln>
        </p:spPr>
        <p:txBody>
          <a:bodyPr spcFirstLastPara="1" wrap="square" lIns="121900" tIns="121900" rIns="121900" bIns="121900" anchor="ctr" anchorCtr="0">
            <a:noAutofit/>
          </a:bodyPr>
          <a:lstStyle/>
          <a:p>
            <a:pPr algn="ctr"/>
            <a:r>
              <a:rPr lang="en-GB" sz="1200" b="1">
                <a:solidFill>
                  <a:schemeClr val="dk1"/>
                </a:solidFill>
              </a:rPr>
              <a:t>Assurance Quality Dimension (AQDs)</a:t>
            </a:r>
            <a:endParaRPr sz="1200" b="1">
              <a:solidFill>
                <a:schemeClr val="dk1"/>
              </a:solidFill>
            </a:endParaRPr>
          </a:p>
        </p:txBody>
      </p:sp>
      <p:sp>
        <p:nvSpPr>
          <p:cNvPr id="501" name="Google Shape;501;p57">
            <a:extLst>
              <a:ext uri="{FF2B5EF4-FFF2-40B4-BE49-F238E27FC236}">
                <a16:creationId xmlns:a16="http://schemas.microsoft.com/office/drawing/2014/main" id="{45AE96C4-6D97-6F48-899A-BD5ACF210C48}"/>
              </a:ext>
            </a:extLst>
          </p:cNvPr>
          <p:cNvSpPr/>
          <p:nvPr/>
        </p:nvSpPr>
        <p:spPr>
          <a:xfrm>
            <a:off x="7377455" y="3417200"/>
            <a:ext cx="2119600" cy="1308400"/>
          </a:xfrm>
          <a:prstGeom prst="rect">
            <a:avLst/>
          </a:prstGeom>
          <a:solidFill>
            <a:srgbClr val="EB8C00">
              <a:alpha val="19380"/>
            </a:srgbClr>
          </a:solidFill>
          <a:ln>
            <a:noFill/>
          </a:ln>
        </p:spPr>
        <p:txBody>
          <a:bodyPr spcFirstLastPara="1" wrap="square" lIns="121900" tIns="121900" rIns="121900" bIns="121900" anchor="ctr" anchorCtr="0">
            <a:noAutofit/>
          </a:bodyPr>
          <a:lstStyle/>
          <a:p>
            <a:pPr algn="ctr"/>
            <a:r>
              <a:rPr lang="en-GB" sz="1067">
                <a:solidFill>
                  <a:schemeClr val="dk1"/>
                </a:solidFill>
              </a:rPr>
              <a:t>Thinking about the role they performed, this person demonstrated knowledge and technical skills that were:</a:t>
            </a:r>
            <a:endParaRPr sz="1067">
              <a:solidFill>
                <a:schemeClr val="dk1"/>
              </a:solidFill>
            </a:endParaRPr>
          </a:p>
          <a:p>
            <a:pPr algn="ctr"/>
            <a:endParaRPr sz="933" i="1">
              <a:solidFill>
                <a:schemeClr val="dk1"/>
              </a:solidFill>
            </a:endParaRPr>
          </a:p>
          <a:p>
            <a:pPr algn="ctr">
              <a:buClr>
                <a:schemeClr val="dk1"/>
              </a:buClr>
              <a:buSzPts val="1100"/>
            </a:pPr>
            <a:r>
              <a:rPr lang="en-GB" sz="933" i="1">
                <a:solidFill>
                  <a:schemeClr val="dk1"/>
                </a:solidFill>
              </a:rPr>
              <a:t>*Multiple-choice selection*</a:t>
            </a:r>
            <a:endParaRPr sz="1067">
              <a:solidFill>
                <a:schemeClr val="dk1"/>
              </a:solidFill>
            </a:endParaRPr>
          </a:p>
        </p:txBody>
      </p:sp>
      <p:sp>
        <p:nvSpPr>
          <p:cNvPr id="502" name="Google Shape;502;p57">
            <a:extLst>
              <a:ext uri="{FF2B5EF4-FFF2-40B4-BE49-F238E27FC236}">
                <a16:creationId xmlns:a16="http://schemas.microsoft.com/office/drawing/2014/main" id="{7465B373-34BF-F0AB-B30A-7C6F05AB0162}"/>
              </a:ext>
            </a:extLst>
          </p:cNvPr>
          <p:cNvSpPr/>
          <p:nvPr/>
        </p:nvSpPr>
        <p:spPr>
          <a:xfrm>
            <a:off x="7377449" y="2575499"/>
            <a:ext cx="2119600" cy="312400"/>
          </a:xfrm>
          <a:prstGeom prst="rect">
            <a:avLst/>
          </a:prstGeom>
          <a:noFill/>
          <a:ln>
            <a:noFill/>
          </a:ln>
        </p:spPr>
        <p:txBody>
          <a:bodyPr spcFirstLastPara="1" wrap="square" lIns="121900" tIns="121900" rIns="121900" bIns="121900" anchor="ctr" anchorCtr="0">
            <a:noAutofit/>
          </a:bodyPr>
          <a:lstStyle/>
          <a:p>
            <a:pPr algn="ctr"/>
            <a:r>
              <a:rPr lang="en-GB" sz="1067" i="1">
                <a:solidFill>
                  <a:schemeClr val="accent6"/>
                </a:solidFill>
              </a:rPr>
              <a:t>Downward-only</a:t>
            </a:r>
            <a:endParaRPr sz="1067" i="1">
              <a:solidFill>
                <a:schemeClr val="accent6"/>
              </a:solidFill>
            </a:endParaRPr>
          </a:p>
        </p:txBody>
      </p:sp>
      <p:sp>
        <p:nvSpPr>
          <p:cNvPr id="503" name="Google Shape;503;p57">
            <a:extLst>
              <a:ext uri="{FF2B5EF4-FFF2-40B4-BE49-F238E27FC236}">
                <a16:creationId xmlns:a16="http://schemas.microsoft.com/office/drawing/2014/main" id="{B4307315-11C5-20D1-B3F9-84FF46FB6932}"/>
              </a:ext>
            </a:extLst>
          </p:cNvPr>
          <p:cNvSpPr/>
          <p:nvPr/>
        </p:nvSpPr>
        <p:spPr>
          <a:xfrm>
            <a:off x="7377449" y="2249824"/>
            <a:ext cx="2119600" cy="312400"/>
          </a:xfrm>
          <a:prstGeom prst="rect">
            <a:avLst/>
          </a:prstGeom>
          <a:noFill/>
          <a:ln>
            <a:noFill/>
          </a:ln>
        </p:spPr>
        <p:txBody>
          <a:bodyPr spcFirstLastPara="1" wrap="square" lIns="121900" tIns="121900" rIns="121900" bIns="121900" anchor="ctr" anchorCtr="0">
            <a:noAutofit/>
          </a:bodyPr>
          <a:lstStyle/>
          <a:p>
            <a:pPr algn="ctr"/>
            <a:r>
              <a:rPr lang="en-GB" sz="1200" b="1">
                <a:solidFill>
                  <a:schemeClr val="dk1"/>
                </a:solidFill>
              </a:rPr>
              <a:t>Assessing Role Expectations</a:t>
            </a:r>
            <a:endParaRPr sz="1200" b="1">
              <a:solidFill>
                <a:schemeClr val="dk1"/>
              </a:solidFill>
            </a:endParaRPr>
          </a:p>
        </p:txBody>
      </p:sp>
      <p:sp>
        <p:nvSpPr>
          <p:cNvPr id="504" name="Google Shape;504;p57">
            <a:extLst>
              <a:ext uri="{FF2B5EF4-FFF2-40B4-BE49-F238E27FC236}">
                <a16:creationId xmlns:a16="http://schemas.microsoft.com/office/drawing/2014/main" id="{DE7ADE2D-20DA-2D1D-9D8E-3E5DA0DC7A42}"/>
              </a:ext>
            </a:extLst>
          </p:cNvPr>
          <p:cNvSpPr/>
          <p:nvPr/>
        </p:nvSpPr>
        <p:spPr>
          <a:xfrm>
            <a:off x="9629332" y="3417200"/>
            <a:ext cx="2119600" cy="1308400"/>
          </a:xfrm>
          <a:prstGeom prst="rect">
            <a:avLst/>
          </a:prstGeom>
          <a:solidFill>
            <a:srgbClr val="EB8C00">
              <a:alpha val="19380"/>
            </a:srgbClr>
          </a:solidFill>
          <a:ln>
            <a:noFill/>
          </a:ln>
        </p:spPr>
        <p:txBody>
          <a:bodyPr spcFirstLastPara="1" wrap="square" lIns="121900" tIns="121900" rIns="121900" bIns="121900" anchor="ctr" anchorCtr="0">
            <a:noAutofit/>
          </a:bodyPr>
          <a:lstStyle/>
          <a:p>
            <a:pPr algn="ctr"/>
            <a:r>
              <a:rPr lang="en-GB" sz="1067">
                <a:solidFill>
                  <a:schemeClr val="dk1"/>
                </a:solidFill>
              </a:rPr>
              <a:t>Please provide additional comments (e.g., context for responses above)</a:t>
            </a:r>
            <a:endParaRPr sz="1067">
              <a:solidFill>
                <a:schemeClr val="dk1"/>
              </a:solidFill>
            </a:endParaRPr>
          </a:p>
        </p:txBody>
      </p:sp>
      <p:sp>
        <p:nvSpPr>
          <p:cNvPr id="505" name="Google Shape;505;p57">
            <a:extLst>
              <a:ext uri="{FF2B5EF4-FFF2-40B4-BE49-F238E27FC236}">
                <a16:creationId xmlns:a16="http://schemas.microsoft.com/office/drawing/2014/main" id="{FE0A6DB8-606E-DAF7-EB8D-270396747AF0}"/>
              </a:ext>
            </a:extLst>
          </p:cNvPr>
          <p:cNvSpPr/>
          <p:nvPr/>
        </p:nvSpPr>
        <p:spPr>
          <a:xfrm>
            <a:off x="9629324" y="2575481"/>
            <a:ext cx="2119600" cy="312400"/>
          </a:xfrm>
          <a:prstGeom prst="rect">
            <a:avLst/>
          </a:prstGeom>
          <a:noFill/>
          <a:ln>
            <a:noFill/>
          </a:ln>
        </p:spPr>
        <p:txBody>
          <a:bodyPr spcFirstLastPara="1" wrap="square" lIns="121900" tIns="121900" rIns="121900" bIns="121900" anchor="ctr" anchorCtr="0">
            <a:noAutofit/>
          </a:bodyPr>
          <a:lstStyle/>
          <a:p>
            <a:pPr algn="ctr"/>
            <a:r>
              <a:rPr lang="en-GB" sz="1067" i="1">
                <a:solidFill>
                  <a:schemeClr val="accent6"/>
                </a:solidFill>
              </a:rPr>
              <a:t>All directions (upward optional)</a:t>
            </a:r>
            <a:endParaRPr sz="1067" i="1">
              <a:solidFill>
                <a:schemeClr val="accent6"/>
              </a:solidFill>
            </a:endParaRPr>
          </a:p>
        </p:txBody>
      </p:sp>
      <p:sp>
        <p:nvSpPr>
          <p:cNvPr id="506" name="Google Shape;506;p57">
            <a:extLst>
              <a:ext uri="{FF2B5EF4-FFF2-40B4-BE49-F238E27FC236}">
                <a16:creationId xmlns:a16="http://schemas.microsoft.com/office/drawing/2014/main" id="{9F93461F-82BF-8EDF-F9EC-69A9011ED5DC}"/>
              </a:ext>
            </a:extLst>
          </p:cNvPr>
          <p:cNvSpPr/>
          <p:nvPr/>
        </p:nvSpPr>
        <p:spPr>
          <a:xfrm>
            <a:off x="9629324" y="2249808"/>
            <a:ext cx="2119600" cy="312400"/>
          </a:xfrm>
          <a:prstGeom prst="rect">
            <a:avLst/>
          </a:prstGeom>
          <a:noFill/>
          <a:ln>
            <a:noFill/>
          </a:ln>
        </p:spPr>
        <p:txBody>
          <a:bodyPr spcFirstLastPara="1" wrap="square" lIns="121900" tIns="121900" rIns="121900" bIns="121900" anchor="ctr" anchorCtr="0">
            <a:noAutofit/>
          </a:bodyPr>
          <a:lstStyle/>
          <a:p>
            <a:pPr algn="ctr"/>
            <a:r>
              <a:rPr lang="en-GB" sz="1200" b="1">
                <a:solidFill>
                  <a:schemeClr val="dk1"/>
                </a:solidFill>
              </a:rPr>
              <a:t>Additional Comments</a:t>
            </a:r>
            <a:endParaRPr sz="1200" b="1">
              <a:solidFill>
                <a:schemeClr val="dk1"/>
              </a:solidFill>
            </a:endParaRPr>
          </a:p>
        </p:txBody>
      </p:sp>
      <p:sp>
        <p:nvSpPr>
          <p:cNvPr id="507" name="Google Shape;507;p57">
            <a:extLst>
              <a:ext uri="{FF2B5EF4-FFF2-40B4-BE49-F238E27FC236}">
                <a16:creationId xmlns:a16="http://schemas.microsoft.com/office/drawing/2014/main" id="{1C28ADA1-0795-993A-EEFF-E490D6767E30}"/>
              </a:ext>
            </a:extLst>
          </p:cNvPr>
          <p:cNvSpPr/>
          <p:nvPr/>
        </p:nvSpPr>
        <p:spPr>
          <a:xfrm>
            <a:off x="4405800" y="4827388"/>
            <a:ext cx="3380400" cy="354000"/>
          </a:xfrm>
          <a:prstGeom prst="rect">
            <a:avLst/>
          </a:prstGeom>
          <a:noFill/>
          <a:ln>
            <a:noFill/>
          </a:ln>
          <a:effectLst>
            <a:outerShdw blurRad="57150" dist="57150" dir="5400000" algn="bl" rotWithShape="0">
              <a:schemeClr val="lt1">
                <a:alpha val="50000"/>
              </a:schemeClr>
            </a:outerShdw>
          </a:effectLst>
        </p:spPr>
        <p:txBody>
          <a:bodyPr spcFirstLastPara="1" wrap="square" lIns="121900" tIns="121900" rIns="121900" bIns="121900" anchor="ctr" anchorCtr="0">
            <a:noAutofit/>
          </a:bodyPr>
          <a:lstStyle/>
          <a:p>
            <a:pPr algn="ctr"/>
            <a:r>
              <a:rPr lang="en-GB" sz="1333" b="1" i="1">
                <a:solidFill>
                  <a:schemeClr val="accent5"/>
                </a:solidFill>
              </a:rPr>
              <a:t>Intent of the question</a:t>
            </a:r>
            <a:endParaRPr sz="1333" b="1" i="1">
              <a:solidFill>
                <a:schemeClr val="accent5"/>
              </a:solidFill>
            </a:endParaRPr>
          </a:p>
        </p:txBody>
      </p:sp>
      <p:cxnSp>
        <p:nvCxnSpPr>
          <p:cNvPr id="508" name="Google Shape;508;p57">
            <a:extLst>
              <a:ext uri="{FF2B5EF4-FFF2-40B4-BE49-F238E27FC236}">
                <a16:creationId xmlns:a16="http://schemas.microsoft.com/office/drawing/2014/main" id="{54C27569-5C32-732B-4192-C9B3C5249FF1}"/>
              </a:ext>
            </a:extLst>
          </p:cNvPr>
          <p:cNvCxnSpPr/>
          <p:nvPr/>
        </p:nvCxnSpPr>
        <p:spPr>
          <a:xfrm rot="10800000" flipH="1">
            <a:off x="620100" y="5004721"/>
            <a:ext cx="1765200" cy="7600"/>
          </a:xfrm>
          <a:prstGeom prst="straightConnector1">
            <a:avLst/>
          </a:prstGeom>
          <a:noFill/>
          <a:ln w="9525" cap="flat" cmpd="sng">
            <a:solidFill>
              <a:schemeClr val="accent5"/>
            </a:solidFill>
            <a:prstDash val="solid"/>
            <a:round/>
            <a:headEnd type="none" w="med" len="med"/>
            <a:tailEnd type="none" w="med" len="med"/>
          </a:ln>
        </p:spPr>
      </p:cxnSp>
      <p:cxnSp>
        <p:nvCxnSpPr>
          <p:cNvPr id="509" name="Google Shape;509;p57">
            <a:extLst>
              <a:ext uri="{FF2B5EF4-FFF2-40B4-BE49-F238E27FC236}">
                <a16:creationId xmlns:a16="http://schemas.microsoft.com/office/drawing/2014/main" id="{5CB3A2FA-2CF2-A04F-976E-9DA50F1BFCC2}"/>
              </a:ext>
            </a:extLst>
          </p:cNvPr>
          <p:cNvCxnSpPr/>
          <p:nvPr/>
        </p:nvCxnSpPr>
        <p:spPr>
          <a:xfrm rot="10800000" flipH="1">
            <a:off x="2916833" y="5004721"/>
            <a:ext cx="1765200" cy="7600"/>
          </a:xfrm>
          <a:prstGeom prst="straightConnector1">
            <a:avLst/>
          </a:prstGeom>
          <a:noFill/>
          <a:ln w="9525" cap="flat" cmpd="sng">
            <a:solidFill>
              <a:schemeClr val="accent5"/>
            </a:solidFill>
            <a:prstDash val="solid"/>
            <a:round/>
            <a:headEnd type="none" w="med" len="med"/>
            <a:tailEnd type="none" w="med" len="med"/>
          </a:ln>
        </p:spPr>
      </p:cxnSp>
      <p:cxnSp>
        <p:nvCxnSpPr>
          <p:cNvPr id="510" name="Google Shape;510;p57">
            <a:extLst>
              <a:ext uri="{FF2B5EF4-FFF2-40B4-BE49-F238E27FC236}">
                <a16:creationId xmlns:a16="http://schemas.microsoft.com/office/drawing/2014/main" id="{E3F6D518-7A4B-5836-31CB-01111B87D61C}"/>
              </a:ext>
            </a:extLst>
          </p:cNvPr>
          <p:cNvCxnSpPr/>
          <p:nvPr/>
        </p:nvCxnSpPr>
        <p:spPr>
          <a:xfrm rot="10800000" flipH="1">
            <a:off x="7554649" y="5004721"/>
            <a:ext cx="1765200" cy="7600"/>
          </a:xfrm>
          <a:prstGeom prst="straightConnector1">
            <a:avLst/>
          </a:prstGeom>
          <a:noFill/>
          <a:ln w="9525" cap="flat" cmpd="sng">
            <a:solidFill>
              <a:schemeClr val="accent5"/>
            </a:solidFill>
            <a:prstDash val="solid"/>
            <a:round/>
            <a:headEnd type="none" w="med" len="med"/>
            <a:tailEnd type="none" w="med" len="med"/>
          </a:ln>
        </p:spPr>
      </p:cxnSp>
      <p:cxnSp>
        <p:nvCxnSpPr>
          <p:cNvPr id="511" name="Google Shape;511;p57">
            <a:extLst>
              <a:ext uri="{FF2B5EF4-FFF2-40B4-BE49-F238E27FC236}">
                <a16:creationId xmlns:a16="http://schemas.microsoft.com/office/drawing/2014/main" id="{210BD162-A620-00C5-0169-001CED1968BA}"/>
              </a:ext>
            </a:extLst>
          </p:cNvPr>
          <p:cNvCxnSpPr/>
          <p:nvPr/>
        </p:nvCxnSpPr>
        <p:spPr>
          <a:xfrm rot="10800000" flipH="1">
            <a:off x="9806524" y="5004705"/>
            <a:ext cx="1765200" cy="7600"/>
          </a:xfrm>
          <a:prstGeom prst="straightConnector1">
            <a:avLst/>
          </a:prstGeom>
          <a:noFill/>
          <a:ln w="9525" cap="flat" cmpd="sng">
            <a:solidFill>
              <a:schemeClr val="accent5"/>
            </a:solidFill>
            <a:prstDash val="solid"/>
            <a:round/>
            <a:headEnd type="none" w="med" len="med"/>
            <a:tailEnd type="none" w="med" len="med"/>
          </a:ln>
        </p:spPr>
      </p:cxnSp>
      <p:sp>
        <p:nvSpPr>
          <p:cNvPr id="512" name="Google Shape;512;p57">
            <a:extLst>
              <a:ext uri="{FF2B5EF4-FFF2-40B4-BE49-F238E27FC236}">
                <a16:creationId xmlns:a16="http://schemas.microsoft.com/office/drawing/2014/main" id="{970E1E2D-3D08-043B-2392-2E01E94EA032}"/>
              </a:ext>
            </a:extLst>
          </p:cNvPr>
          <p:cNvSpPr/>
          <p:nvPr/>
        </p:nvSpPr>
        <p:spPr>
          <a:xfrm>
            <a:off x="4405800" y="2998588"/>
            <a:ext cx="3380400" cy="354000"/>
          </a:xfrm>
          <a:prstGeom prst="rect">
            <a:avLst/>
          </a:prstGeom>
          <a:noFill/>
          <a:ln>
            <a:noFill/>
          </a:ln>
          <a:effectLst>
            <a:outerShdw blurRad="57150" dist="57150" dir="5400000" algn="bl" rotWithShape="0">
              <a:schemeClr val="lt1">
                <a:alpha val="50000"/>
              </a:schemeClr>
            </a:outerShdw>
          </a:effectLst>
        </p:spPr>
        <p:txBody>
          <a:bodyPr spcFirstLastPara="1" wrap="square" lIns="121900" tIns="121900" rIns="121900" bIns="121900" anchor="ctr" anchorCtr="0">
            <a:noAutofit/>
          </a:bodyPr>
          <a:lstStyle/>
          <a:p>
            <a:pPr algn="ctr"/>
            <a:r>
              <a:rPr lang="en-GB" sz="1333" b="1">
                <a:solidFill>
                  <a:schemeClr val="accent5"/>
                </a:solidFill>
              </a:rPr>
              <a:t>Question prompt</a:t>
            </a:r>
            <a:endParaRPr sz="1333" b="1">
              <a:solidFill>
                <a:schemeClr val="accent5"/>
              </a:solidFill>
            </a:endParaRPr>
          </a:p>
        </p:txBody>
      </p:sp>
      <p:cxnSp>
        <p:nvCxnSpPr>
          <p:cNvPr id="513" name="Google Shape;513;p57">
            <a:extLst>
              <a:ext uri="{FF2B5EF4-FFF2-40B4-BE49-F238E27FC236}">
                <a16:creationId xmlns:a16="http://schemas.microsoft.com/office/drawing/2014/main" id="{FDEBD60F-653D-044B-3EE4-913B6EDC9D6A}"/>
              </a:ext>
            </a:extLst>
          </p:cNvPr>
          <p:cNvCxnSpPr/>
          <p:nvPr/>
        </p:nvCxnSpPr>
        <p:spPr>
          <a:xfrm rot="10800000" flipH="1">
            <a:off x="620100" y="3175921"/>
            <a:ext cx="1765200" cy="7600"/>
          </a:xfrm>
          <a:prstGeom prst="straightConnector1">
            <a:avLst/>
          </a:prstGeom>
          <a:noFill/>
          <a:ln w="9525" cap="flat" cmpd="sng">
            <a:solidFill>
              <a:schemeClr val="accent5"/>
            </a:solidFill>
            <a:prstDash val="solid"/>
            <a:round/>
            <a:headEnd type="none" w="med" len="med"/>
            <a:tailEnd type="none" w="med" len="med"/>
          </a:ln>
        </p:spPr>
      </p:cxnSp>
      <p:cxnSp>
        <p:nvCxnSpPr>
          <p:cNvPr id="514" name="Google Shape;514;p57">
            <a:extLst>
              <a:ext uri="{FF2B5EF4-FFF2-40B4-BE49-F238E27FC236}">
                <a16:creationId xmlns:a16="http://schemas.microsoft.com/office/drawing/2014/main" id="{45ECBB20-E48C-0992-57BD-7444AA7EC1D0}"/>
              </a:ext>
            </a:extLst>
          </p:cNvPr>
          <p:cNvCxnSpPr/>
          <p:nvPr/>
        </p:nvCxnSpPr>
        <p:spPr>
          <a:xfrm rot="10800000" flipH="1">
            <a:off x="2916833" y="3175921"/>
            <a:ext cx="1765200" cy="7600"/>
          </a:xfrm>
          <a:prstGeom prst="straightConnector1">
            <a:avLst/>
          </a:prstGeom>
          <a:noFill/>
          <a:ln w="9525" cap="flat" cmpd="sng">
            <a:solidFill>
              <a:schemeClr val="accent5"/>
            </a:solidFill>
            <a:prstDash val="solid"/>
            <a:round/>
            <a:headEnd type="none" w="med" len="med"/>
            <a:tailEnd type="none" w="med" len="med"/>
          </a:ln>
        </p:spPr>
      </p:cxnSp>
      <p:cxnSp>
        <p:nvCxnSpPr>
          <p:cNvPr id="515" name="Google Shape;515;p57">
            <a:extLst>
              <a:ext uri="{FF2B5EF4-FFF2-40B4-BE49-F238E27FC236}">
                <a16:creationId xmlns:a16="http://schemas.microsoft.com/office/drawing/2014/main" id="{CE25BB56-EB6A-9DF7-BD6A-F0813207F62C}"/>
              </a:ext>
            </a:extLst>
          </p:cNvPr>
          <p:cNvCxnSpPr/>
          <p:nvPr/>
        </p:nvCxnSpPr>
        <p:spPr>
          <a:xfrm rot="10800000" flipH="1">
            <a:off x="7554649" y="3175921"/>
            <a:ext cx="1765200" cy="7600"/>
          </a:xfrm>
          <a:prstGeom prst="straightConnector1">
            <a:avLst/>
          </a:prstGeom>
          <a:noFill/>
          <a:ln w="9525" cap="flat" cmpd="sng">
            <a:solidFill>
              <a:schemeClr val="accent5"/>
            </a:solidFill>
            <a:prstDash val="solid"/>
            <a:round/>
            <a:headEnd type="none" w="med" len="med"/>
            <a:tailEnd type="none" w="med" len="med"/>
          </a:ln>
        </p:spPr>
      </p:cxnSp>
      <p:cxnSp>
        <p:nvCxnSpPr>
          <p:cNvPr id="516" name="Google Shape;516;p57">
            <a:extLst>
              <a:ext uri="{FF2B5EF4-FFF2-40B4-BE49-F238E27FC236}">
                <a16:creationId xmlns:a16="http://schemas.microsoft.com/office/drawing/2014/main" id="{04CDFEBD-38C3-B94B-79E2-D94972B6DE23}"/>
              </a:ext>
            </a:extLst>
          </p:cNvPr>
          <p:cNvCxnSpPr/>
          <p:nvPr/>
        </p:nvCxnSpPr>
        <p:spPr>
          <a:xfrm rot="10800000" flipH="1">
            <a:off x="9806524" y="3175905"/>
            <a:ext cx="1765200" cy="7600"/>
          </a:xfrm>
          <a:prstGeom prst="straightConnector1">
            <a:avLst/>
          </a:prstGeom>
          <a:noFill/>
          <a:ln w="9525" cap="flat" cmpd="sng">
            <a:solidFill>
              <a:schemeClr val="accent5"/>
            </a:solidFill>
            <a:prstDash val="solid"/>
            <a:round/>
            <a:headEnd type="none" w="med" len="med"/>
            <a:tailEnd type="none" w="med" len="med"/>
          </a:ln>
        </p:spPr>
      </p:cxnSp>
    </p:spTree>
    <p:extLst>
      <p:ext uri="{BB962C8B-B14F-4D97-AF65-F5344CB8AC3E}">
        <p14:creationId xmlns:p14="http://schemas.microsoft.com/office/powerpoint/2010/main" val="380779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0">
          <a:extLst>
            <a:ext uri="{FF2B5EF4-FFF2-40B4-BE49-F238E27FC236}">
              <a16:creationId xmlns:a16="http://schemas.microsoft.com/office/drawing/2014/main" id="{36B79438-B5B1-7A33-BF0B-0DB2B3B07241}"/>
            </a:ext>
          </a:extLst>
        </p:cNvPr>
        <p:cNvGrpSpPr/>
        <p:nvPr/>
      </p:nvGrpSpPr>
      <p:grpSpPr>
        <a:xfrm>
          <a:off x="0" y="0"/>
          <a:ext cx="0" cy="0"/>
          <a:chOff x="0" y="0"/>
          <a:chExt cx="0" cy="0"/>
        </a:xfrm>
      </p:grpSpPr>
      <p:sp>
        <p:nvSpPr>
          <p:cNvPr id="521" name="Google Shape;521;p58">
            <a:extLst>
              <a:ext uri="{FF2B5EF4-FFF2-40B4-BE49-F238E27FC236}">
                <a16:creationId xmlns:a16="http://schemas.microsoft.com/office/drawing/2014/main" id="{37DD06FE-7BFC-0853-93B6-6CC5880A8713}"/>
              </a:ext>
            </a:extLst>
          </p:cNvPr>
          <p:cNvSpPr txBox="1">
            <a:spLocks noGrp="1"/>
          </p:cNvSpPr>
          <p:nvPr>
            <p:ph type="title"/>
          </p:nvPr>
        </p:nvSpPr>
        <p:spPr>
          <a:xfrm>
            <a:off x="442900" y="432000"/>
            <a:ext cx="11306000" cy="520000"/>
          </a:xfrm>
          <a:prstGeom prst="rect">
            <a:avLst/>
          </a:prstGeom>
        </p:spPr>
        <p:txBody>
          <a:bodyPr spcFirstLastPara="1" wrap="square" lIns="0" tIns="0" rIns="0" bIns="0" anchor="t" anchorCtr="0">
            <a:noAutofit/>
          </a:bodyPr>
          <a:lstStyle/>
          <a:p>
            <a:r>
              <a:rPr lang="en-GB" sz="2900" dirty="0"/>
              <a:t>Multi-directional feedback questions in Feedback Exchange </a:t>
            </a:r>
            <a:endParaRPr sz="2900" dirty="0"/>
          </a:p>
        </p:txBody>
      </p:sp>
      <p:sp>
        <p:nvSpPr>
          <p:cNvPr id="522" name="Google Shape;522;p58">
            <a:extLst>
              <a:ext uri="{FF2B5EF4-FFF2-40B4-BE49-F238E27FC236}">
                <a16:creationId xmlns:a16="http://schemas.microsoft.com/office/drawing/2014/main" id="{4DB4792E-7690-48DD-A8BA-60221D16F1C4}"/>
              </a:ext>
            </a:extLst>
          </p:cNvPr>
          <p:cNvSpPr txBox="1"/>
          <p:nvPr/>
        </p:nvSpPr>
        <p:spPr>
          <a:xfrm>
            <a:off x="443000" y="892067"/>
            <a:ext cx="11102400" cy="784000"/>
          </a:xfrm>
          <a:prstGeom prst="rect">
            <a:avLst/>
          </a:prstGeom>
          <a:noFill/>
          <a:ln>
            <a:noFill/>
          </a:ln>
        </p:spPr>
        <p:txBody>
          <a:bodyPr spcFirstLastPara="1" wrap="square" lIns="24000" tIns="216000" rIns="24000" bIns="216000" anchor="ctr" anchorCtr="0">
            <a:noAutofit/>
          </a:bodyPr>
          <a:lstStyle/>
          <a:p>
            <a:pPr>
              <a:spcAft>
                <a:spcPts val="800"/>
              </a:spcAft>
              <a:buClr>
                <a:schemeClr val="dk1"/>
              </a:buClr>
              <a:buSzPts val="1100"/>
            </a:pPr>
            <a:r>
              <a:rPr lang="en-GB" sz="1300" dirty="0">
                <a:solidFill>
                  <a:schemeClr val="dk1"/>
                </a:solidFill>
              </a:rPr>
              <a:t>Feedback Exchange is equipped to seek feedback from individuals across all worker types, grade levels and staff in all onboarded territories. The tool supports both </a:t>
            </a:r>
            <a:r>
              <a:rPr lang="en-GB" sz="1300" b="1" dirty="0">
                <a:solidFill>
                  <a:schemeClr val="accent1"/>
                </a:solidFill>
              </a:rPr>
              <a:t>attributable</a:t>
            </a:r>
            <a:r>
              <a:rPr lang="en-GB" sz="1300" dirty="0">
                <a:solidFill>
                  <a:schemeClr val="dk1"/>
                </a:solidFill>
              </a:rPr>
              <a:t> and </a:t>
            </a:r>
            <a:r>
              <a:rPr lang="en-GB" sz="1300" b="1" dirty="0">
                <a:solidFill>
                  <a:schemeClr val="accent5"/>
                </a:solidFill>
              </a:rPr>
              <a:t>anonymous</a:t>
            </a:r>
            <a:r>
              <a:rPr lang="en-GB" sz="1300" dirty="0">
                <a:solidFill>
                  <a:schemeClr val="accent3"/>
                </a:solidFill>
              </a:rPr>
              <a:t> </a:t>
            </a:r>
            <a:r>
              <a:rPr lang="en-GB" sz="1300" dirty="0">
                <a:solidFill>
                  <a:schemeClr val="dk1"/>
                </a:solidFill>
              </a:rPr>
              <a:t>feedback. Anonymous feedback is released in increments of 3 -- that is, only when a batch threshold of ‘3’ pieces of feedback have been completed. This releases the feedback to the requester and their team, and it resets the anonymous batch threshold again. </a:t>
            </a:r>
            <a:endParaRPr sz="1300" dirty="0">
              <a:solidFill>
                <a:schemeClr val="dk1"/>
              </a:solidFill>
            </a:endParaRPr>
          </a:p>
        </p:txBody>
      </p:sp>
      <p:graphicFrame>
        <p:nvGraphicFramePr>
          <p:cNvPr id="523" name="Google Shape;523;p58">
            <a:extLst>
              <a:ext uri="{FF2B5EF4-FFF2-40B4-BE49-F238E27FC236}">
                <a16:creationId xmlns:a16="http://schemas.microsoft.com/office/drawing/2014/main" id="{D1013A9F-9076-E9BF-94B3-4F9809871D9C}"/>
              </a:ext>
            </a:extLst>
          </p:cNvPr>
          <p:cNvGraphicFramePr/>
          <p:nvPr/>
        </p:nvGraphicFramePr>
        <p:xfrm>
          <a:off x="268360" y="2002401"/>
          <a:ext cx="11102432" cy="3920501"/>
        </p:xfrm>
        <a:graphic>
          <a:graphicData uri="http://schemas.openxmlformats.org/drawingml/2006/table">
            <a:tbl>
              <a:tblPr>
                <a:noFill/>
              </a:tblPr>
              <a:tblGrid>
                <a:gridCol w="4281533">
                  <a:extLst>
                    <a:ext uri="{9D8B030D-6E8A-4147-A177-3AD203B41FA5}">
                      <a16:colId xmlns:a16="http://schemas.microsoft.com/office/drawing/2014/main" val="20000"/>
                    </a:ext>
                  </a:extLst>
                </a:gridCol>
                <a:gridCol w="2273633">
                  <a:extLst>
                    <a:ext uri="{9D8B030D-6E8A-4147-A177-3AD203B41FA5}">
                      <a16:colId xmlns:a16="http://schemas.microsoft.com/office/drawing/2014/main" val="20001"/>
                    </a:ext>
                  </a:extLst>
                </a:gridCol>
                <a:gridCol w="2273633">
                  <a:extLst>
                    <a:ext uri="{9D8B030D-6E8A-4147-A177-3AD203B41FA5}">
                      <a16:colId xmlns:a16="http://schemas.microsoft.com/office/drawing/2014/main" val="20002"/>
                    </a:ext>
                  </a:extLst>
                </a:gridCol>
                <a:gridCol w="2273633">
                  <a:extLst>
                    <a:ext uri="{9D8B030D-6E8A-4147-A177-3AD203B41FA5}">
                      <a16:colId xmlns:a16="http://schemas.microsoft.com/office/drawing/2014/main" val="20003"/>
                    </a:ext>
                  </a:extLst>
                </a:gridCol>
              </a:tblGrid>
              <a:tr h="390333">
                <a:tc>
                  <a:txBody>
                    <a:bodyPr/>
                    <a:lstStyle/>
                    <a:p>
                      <a:pPr marL="990000" marR="227973" lvl="0" indent="0" algn="l" rtl="0">
                        <a:spcBef>
                          <a:spcPts val="0"/>
                        </a:spcBef>
                        <a:spcAft>
                          <a:spcPts val="0"/>
                        </a:spcAft>
                        <a:buClr>
                          <a:schemeClr val="dk1"/>
                        </a:buClr>
                        <a:buSzPts val="1100"/>
                        <a:buFont typeface="Arial"/>
                        <a:buNone/>
                      </a:pPr>
                      <a:r>
                        <a:rPr lang="en-GB" sz="1300" b="1" i="1">
                          <a:solidFill>
                            <a:schemeClr val="dk1"/>
                          </a:solidFill>
                        </a:rPr>
                        <a:t>Question(s)</a:t>
                      </a:r>
                      <a:endParaRPr sz="1300" b="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12700"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300" b="1" i="1">
                          <a:solidFill>
                            <a:schemeClr val="dk1"/>
                          </a:solidFill>
                        </a:rPr>
                        <a:t>Downward</a:t>
                      </a:r>
                      <a:endParaRPr sz="1300" b="1"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300" b="1" i="1">
                          <a:solidFill>
                            <a:schemeClr val="dk1"/>
                          </a:solidFill>
                        </a:rPr>
                        <a:t>Peer</a:t>
                      </a:r>
                      <a:endParaRPr sz="1300" b="1"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300" b="1" i="1">
                          <a:solidFill>
                            <a:schemeClr val="dk1"/>
                          </a:solidFill>
                        </a:rPr>
                        <a:t>Upward</a:t>
                      </a:r>
                      <a:endParaRPr sz="1300" b="1"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61733">
                <a:tc rowSpan="2">
                  <a:txBody>
                    <a:bodyPr/>
                    <a:lstStyle/>
                    <a:p>
                      <a:pPr marL="990000" marR="227973" lvl="0" indent="0" algn="l" rtl="0">
                        <a:spcBef>
                          <a:spcPts val="0"/>
                        </a:spcBef>
                        <a:spcAft>
                          <a:spcPts val="0"/>
                        </a:spcAft>
                        <a:buNone/>
                      </a:pPr>
                      <a:r>
                        <a:rPr lang="en-GB" sz="1100" i="1">
                          <a:solidFill>
                            <a:schemeClr val="dk1"/>
                          </a:solidFill>
                        </a:rPr>
                        <a:t>Users can override the default direction of feedback determined by their grade, if there is a more appropriate direction based on their working relationship.</a:t>
                      </a:r>
                      <a:endParaRPr sz="1100" b="1">
                        <a:solidFill>
                          <a:schemeClr val="dk1"/>
                        </a:solidFill>
                      </a:endParaRPr>
                    </a:p>
                  </a:txBody>
                  <a:tcPr marL="38100" marR="38100" marT="25400" marB="25400">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12700" cap="flat" cmpd="sng">
                      <a:solidFill>
                        <a:schemeClr val="dk2">
                          <a:alpha val="0"/>
                        </a:schemeClr>
                      </a:solidFill>
                      <a:prstDash val="solid"/>
                      <a:round/>
                      <a:headEnd type="none" w="sm" len="sm"/>
                      <a:tailEnd type="none" w="sm" len="sm"/>
                    </a:lnT>
                    <a:lnB w="12700"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100" i="1">
                          <a:solidFill>
                            <a:schemeClr val="dk1"/>
                          </a:solidFill>
                        </a:rPr>
                        <a:t>Feedback from a person operating in a more ‘senior’ capacity from you</a:t>
                      </a:r>
                      <a:endParaRPr sz="1100"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100" i="1">
                          <a:solidFill>
                            <a:schemeClr val="dk1"/>
                          </a:solidFill>
                        </a:rPr>
                        <a:t>Feedback from a person operating as a ‘peer’</a:t>
                      </a:r>
                      <a:endParaRPr sz="1100"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100" i="1">
                          <a:solidFill>
                            <a:schemeClr val="dk1"/>
                          </a:solidFill>
                        </a:rPr>
                        <a:t>Feedback from a person operating in a more ‘junior’ capacity from you</a:t>
                      </a:r>
                      <a:endParaRPr sz="1100"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529100">
                <a:tc vMerge="1">
                  <a:txBody>
                    <a:bodyPr/>
                    <a:lstStyle/>
                    <a:p>
                      <a:endParaRPr lang="ru-RU"/>
                    </a:p>
                  </a:txBody>
                  <a:tcPr/>
                </a:tc>
                <a:tc>
                  <a:txBody>
                    <a:bodyPr/>
                    <a:lstStyle/>
                    <a:p>
                      <a:pPr marL="0" lvl="0" indent="0" algn="ctr" rtl="0">
                        <a:spcBef>
                          <a:spcPts val="200"/>
                        </a:spcBef>
                        <a:spcAft>
                          <a:spcPts val="0"/>
                        </a:spcAft>
                        <a:buNone/>
                      </a:pPr>
                      <a:r>
                        <a:rPr lang="en-GB" sz="1300" b="1" i="1">
                          <a:solidFill>
                            <a:schemeClr val="accent4"/>
                          </a:solidFill>
                        </a:rPr>
                        <a:t>Attributable</a:t>
                      </a:r>
                      <a:endParaRPr sz="1300" b="1" i="1">
                        <a:solidFill>
                          <a:schemeClr val="accent4"/>
                        </a:solidFill>
                      </a:endParaRPr>
                    </a:p>
                  </a:txBody>
                  <a:tcPr marL="38100" marR="38100" marT="25400" marB="25400">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200"/>
                        </a:spcBef>
                        <a:spcAft>
                          <a:spcPts val="0"/>
                        </a:spcAft>
                        <a:buNone/>
                      </a:pPr>
                      <a:r>
                        <a:rPr lang="en-GB" sz="1300" b="1" i="1">
                          <a:solidFill>
                            <a:schemeClr val="accent4"/>
                          </a:solidFill>
                        </a:rPr>
                        <a:t>Attributable</a:t>
                      </a:r>
                      <a:endParaRPr sz="1300" b="1" i="1">
                        <a:solidFill>
                          <a:schemeClr val="accent4"/>
                        </a:solidFill>
                      </a:endParaRPr>
                    </a:p>
                  </a:txBody>
                  <a:tcPr marL="38100" marR="38100" marT="25400" marB="25400">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200"/>
                        </a:spcBef>
                        <a:spcAft>
                          <a:spcPts val="0"/>
                        </a:spcAft>
                        <a:buNone/>
                      </a:pPr>
                      <a:r>
                        <a:rPr lang="en-GB" sz="1300" b="1" i="1">
                          <a:solidFill>
                            <a:schemeClr val="accent5"/>
                          </a:solidFill>
                        </a:rPr>
                        <a:t>Anonymous</a:t>
                      </a:r>
                      <a:endParaRPr sz="1300" b="1" i="1">
                        <a:solidFill>
                          <a:schemeClr val="accent5"/>
                        </a:solidFill>
                      </a:endParaRPr>
                    </a:p>
                  </a:txBody>
                  <a:tcPr marL="38100" marR="38100" marT="25400" marB="25400">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07867">
                <a:tc>
                  <a:txBody>
                    <a:bodyPr/>
                    <a:lstStyle/>
                    <a:p>
                      <a:pPr marL="990000" marR="196672" lvl="0" indent="0" algn="l" rtl="0">
                        <a:spcBef>
                          <a:spcPts val="0"/>
                        </a:spcBef>
                        <a:spcAft>
                          <a:spcPts val="0"/>
                        </a:spcAft>
                        <a:buClr>
                          <a:schemeClr val="dk1"/>
                        </a:buClr>
                        <a:buSzPts val="1100"/>
                        <a:buFont typeface="Arial"/>
                        <a:buNone/>
                      </a:pPr>
                      <a:r>
                        <a:rPr lang="en-GB" sz="1300" b="1" i="1">
                          <a:solidFill>
                            <a:schemeClr val="dk1"/>
                          </a:solidFill>
                        </a:rPr>
                        <a:t>Work context </a:t>
                      </a:r>
                      <a:endParaRPr sz="1300" b="1" i="1"/>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12700" cap="flat" cmpd="sng">
                      <a:solidFill>
                        <a:schemeClr val="dk2">
                          <a:alpha val="0"/>
                        </a:schemeClr>
                      </a:solidFill>
                      <a:prstDash val="solid"/>
                      <a:round/>
                      <a:headEnd type="none" w="sm" len="sm"/>
                      <a:tailEnd type="none" w="sm" len="sm"/>
                    </a:lnT>
                    <a:lnB w="12700"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300" b="1">
                          <a:solidFill>
                            <a:schemeClr val="lt1"/>
                          </a:solidFill>
                        </a:rPr>
                        <a:t>✔</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GB" sz="1300" b="1">
                          <a:solidFill>
                            <a:schemeClr val="lt1"/>
                          </a:solidFill>
                        </a:rPr>
                        <a:t>✔</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Clr>
                          <a:schemeClr val="dk1"/>
                        </a:buClr>
                        <a:buSzPts val="1100"/>
                        <a:buFont typeface="Arial"/>
                        <a:buNone/>
                      </a:pPr>
                      <a:r>
                        <a:rPr lang="en-GB" sz="1300" b="1">
                          <a:solidFill>
                            <a:schemeClr val="lt1"/>
                          </a:solidFill>
                        </a:rPr>
                        <a:t>x</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3"/>
                  </a:ext>
                </a:extLst>
              </a:tr>
              <a:tr h="507867">
                <a:tc>
                  <a:txBody>
                    <a:bodyPr/>
                    <a:lstStyle/>
                    <a:p>
                      <a:pPr marL="990000" marR="196672" lvl="0" indent="0" algn="l" rtl="0">
                        <a:spcBef>
                          <a:spcPts val="0"/>
                        </a:spcBef>
                        <a:spcAft>
                          <a:spcPts val="0"/>
                        </a:spcAft>
                        <a:buClr>
                          <a:schemeClr val="dk1"/>
                        </a:buClr>
                        <a:buSzPts val="1100"/>
                        <a:buFont typeface="Arial"/>
                        <a:buNone/>
                      </a:pPr>
                      <a:r>
                        <a:rPr lang="en-GB" sz="1300" b="1" i="1">
                          <a:solidFill>
                            <a:schemeClr val="dk1"/>
                          </a:solidFill>
                        </a:rPr>
                        <a:t>PwC Professional behaviours</a:t>
                      </a:r>
                      <a:endParaRPr sz="1300" b="1"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12700" cap="flat" cmpd="sng">
                      <a:solidFill>
                        <a:schemeClr val="dk2">
                          <a:alpha val="0"/>
                        </a:schemeClr>
                      </a:solidFill>
                      <a:prstDash val="solid"/>
                      <a:round/>
                      <a:headEnd type="none" w="sm" len="sm"/>
                      <a:tailEnd type="none" w="sm" len="sm"/>
                    </a:lnT>
                    <a:lnB w="12700"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300" b="1">
                          <a:solidFill>
                            <a:schemeClr val="lt1"/>
                          </a:solidFill>
                        </a:rPr>
                        <a:t>✔</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GB" sz="1300" b="1">
                          <a:solidFill>
                            <a:schemeClr val="lt1"/>
                          </a:solidFill>
                        </a:rPr>
                        <a:t>✔</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GB" sz="1300" b="1">
                          <a:solidFill>
                            <a:schemeClr val="lt1"/>
                          </a:solidFill>
                        </a:rPr>
                        <a:t>✔</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extLst>
                  <a:ext uri="{0D108BD9-81ED-4DB2-BD59-A6C34878D82A}">
                    <a16:rowId xmlns:a16="http://schemas.microsoft.com/office/drawing/2014/main" val="10004"/>
                  </a:ext>
                </a:extLst>
              </a:tr>
              <a:tr h="507867">
                <a:tc>
                  <a:txBody>
                    <a:bodyPr/>
                    <a:lstStyle/>
                    <a:p>
                      <a:pPr marL="990000" marR="196672" lvl="0" indent="0" algn="l" rtl="0">
                        <a:spcBef>
                          <a:spcPts val="0"/>
                        </a:spcBef>
                        <a:spcAft>
                          <a:spcPts val="0"/>
                        </a:spcAft>
                        <a:buClr>
                          <a:schemeClr val="dk1"/>
                        </a:buClr>
                        <a:buSzPts val="1100"/>
                        <a:buFont typeface="Arial"/>
                        <a:buNone/>
                      </a:pPr>
                      <a:r>
                        <a:rPr lang="en-GB" sz="1300" b="1" i="1">
                          <a:solidFill>
                            <a:schemeClr val="dk1"/>
                          </a:solidFill>
                        </a:rPr>
                        <a:t>Assurance Quality Dimensions</a:t>
                      </a:r>
                      <a:endParaRPr sz="1300" b="1"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12700" cap="flat" cmpd="sng">
                      <a:solidFill>
                        <a:schemeClr val="dk2">
                          <a:alpha val="0"/>
                        </a:schemeClr>
                      </a:solidFill>
                      <a:prstDash val="solid"/>
                      <a:round/>
                      <a:headEnd type="none" w="sm" len="sm"/>
                      <a:tailEnd type="none" w="sm" len="sm"/>
                    </a:lnT>
                    <a:lnB w="12700"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300" b="1">
                          <a:solidFill>
                            <a:schemeClr val="lt1"/>
                          </a:solidFill>
                        </a:rPr>
                        <a:t>✔ </a:t>
                      </a:r>
                      <a:endParaRPr sz="1300" b="1">
                        <a:solidFill>
                          <a:schemeClr val="lt1"/>
                        </a:solidFill>
                      </a:endParaRPr>
                    </a:p>
                    <a:p>
                      <a:pPr marL="0" lvl="0" indent="0" algn="ctr" rtl="0">
                        <a:spcBef>
                          <a:spcPts val="0"/>
                        </a:spcBef>
                        <a:spcAft>
                          <a:spcPts val="0"/>
                        </a:spcAft>
                        <a:buNone/>
                      </a:pPr>
                      <a:r>
                        <a:rPr lang="en-GB" sz="1100" i="1">
                          <a:solidFill>
                            <a:schemeClr val="lt1"/>
                          </a:solidFill>
                        </a:rPr>
                        <a:t>(Assurance work, opt in only)</a:t>
                      </a:r>
                      <a:endParaRPr sz="1100" i="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Clr>
                          <a:schemeClr val="dk1"/>
                        </a:buClr>
                        <a:buSzPts val="1100"/>
                        <a:buFont typeface="Arial"/>
                        <a:buNone/>
                      </a:pPr>
                      <a:r>
                        <a:rPr lang="en-GB" sz="1300" b="1">
                          <a:solidFill>
                            <a:schemeClr val="lt1"/>
                          </a:solidFill>
                        </a:rPr>
                        <a:t>x</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Clr>
                          <a:schemeClr val="dk1"/>
                        </a:buClr>
                        <a:buSzPts val="1100"/>
                        <a:buFont typeface="Arial"/>
                        <a:buNone/>
                      </a:pPr>
                      <a:r>
                        <a:rPr lang="en-GB" sz="1300" b="1">
                          <a:solidFill>
                            <a:schemeClr val="lt1"/>
                          </a:solidFill>
                        </a:rPr>
                        <a:t>x</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5"/>
                  </a:ext>
                </a:extLst>
              </a:tr>
              <a:tr h="507867">
                <a:tc>
                  <a:txBody>
                    <a:bodyPr/>
                    <a:lstStyle/>
                    <a:p>
                      <a:pPr marL="990000" marR="196672" lvl="0" indent="0" algn="l" rtl="0">
                        <a:spcBef>
                          <a:spcPts val="0"/>
                        </a:spcBef>
                        <a:spcAft>
                          <a:spcPts val="0"/>
                        </a:spcAft>
                        <a:buClr>
                          <a:schemeClr val="dk1"/>
                        </a:buClr>
                        <a:buSzPts val="1100"/>
                        <a:buFont typeface="Arial"/>
                        <a:buNone/>
                      </a:pPr>
                      <a:r>
                        <a:rPr lang="en-GB" sz="1300" b="1" i="1">
                          <a:solidFill>
                            <a:schemeClr val="dk1"/>
                          </a:solidFill>
                        </a:rPr>
                        <a:t>Role expectations</a:t>
                      </a:r>
                      <a:endParaRPr sz="1300" b="1"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12700" cap="flat" cmpd="sng">
                      <a:solidFill>
                        <a:schemeClr val="dk2">
                          <a:alpha val="0"/>
                        </a:schemeClr>
                      </a:solidFill>
                      <a:prstDash val="solid"/>
                      <a:round/>
                      <a:headEnd type="none" w="sm" len="sm"/>
                      <a:tailEnd type="none" w="sm" len="sm"/>
                    </a:lnT>
                    <a:lnB w="12700"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300" b="1">
                          <a:solidFill>
                            <a:schemeClr val="lt1"/>
                          </a:solidFill>
                        </a:rPr>
                        <a:t>✔</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Clr>
                          <a:schemeClr val="dk1"/>
                        </a:buClr>
                        <a:buSzPts val="1100"/>
                        <a:buFont typeface="Arial"/>
                        <a:buNone/>
                      </a:pPr>
                      <a:r>
                        <a:rPr lang="en-GB" sz="1300" b="1">
                          <a:solidFill>
                            <a:schemeClr val="lt1"/>
                          </a:solidFill>
                        </a:rPr>
                        <a:t>x</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Clr>
                          <a:schemeClr val="dk1"/>
                        </a:buClr>
                        <a:buSzPts val="1100"/>
                        <a:buFont typeface="Arial"/>
                        <a:buNone/>
                      </a:pPr>
                      <a:r>
                        <a:rPr lang="en-GB" sz="1300" b="1">
                          <a:solidFill>
                            <a:schemeClr val="lt1"/>
                          </a:solidFill>
                        </a:rPr>
                        <a:t>x</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6"/>
                  </a:ext>
                </a:extLst>
              </a:tr>
              <a:tr h="507867">
                <a:tc>
                  <a:txBody>
                    <a:bodyPr/>
                    <a:lstStyle/>
                    <a:p>
                      <a:pPr marL="990000" marR="196672" lvl="0" indent="0" algn="l" rtl="0">
                        <a:spcBef>
                          <a:spcPts val="0"/>
                        </a:spcBef>
                        <a:spcAft>
                          <a:spcPts val="0"/>
                        </a:spcAft>
                        <a:buClr>
                          <a:schemeClr val="dk1"/>
                        </a:buClr>
                        <a:buSzPts val="1100"/>
                        <a:buFont typeface="Arial"/>
                        <a:buNone/>
                      </a:pPr>
                      <a:r>
                        <a:rPr lang="en-GB" sz="1300" b="1" i="1">
                          <a:solidFill>
                            <a:schemeClr val="dk1"/>
                          </a:solidFill>
                        </a:rPr>
                        <a:t>Additional comments</a:t>
                      </a:r>
                      <a:endParaRPr sz="1300" b="1" i="1">
                        <a:solidFill>
                          <a:schemeClr val="dk1"/>
                        </a:solidFill>
                      </a:endParaRPr>
                    </a:p>
                  </a:txBody>
                  <a:tcPr marL="38100" marR="38100" marT="25400" marB="25400" anchor="ctr">
                    <a:lnL w="9525" cap="flat" cmpd="sng">
                      <a:solidFill>
                        <a:schemeClr val="dk2">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12700" cap="flat" cmpd="sng">
                      <a:solidFill>
                        <a:schemeClr val="dk2">
                          <a:alpha val="0"/>
                        </a:schemeClr>
                      </a:solidFill>
                      <a:prstDash val="solid"/>
                      <a:round/>
                      <a:headEnd type="none" w="sm" len="sm"/>
                      <a:tailEnd type="none" w="sm" len="sm"/>
                    </a:lnT>
                    <a:lnB w="12700" cap="flat" cmpd="sng">
                      <a:solidFill>
                        <a:schemeClr val="dk2">
                          <a:alpha val="0"/>
                        </a:schemeClr>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GB" sz="1300" b="1">
                          <a:solidFill>
                            <a:schemeClr val="lt1"/>
                          </a:solidFill>
                        </a:rPr>
                        <a:t>✔</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GB" sz="1300" b="1">
                          <a:solidFill>
                            <a:schemeClr val="lt1"/>
                          </a:solidFill>
                        </a:rPr>
                        <a:t>✔</a:t>
                      </a:r>
                      <a:endParaRPr sz="1300" b="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GB" sz="1300" b="1">
                          <a:solidFill>
                            <a:schemeClr val="lt1"/>
                          </a:solidFill>
                        </a:rPr>
                        <a:t>✔ </a:t>
                      </a:r>
                      <a:r>
                        <a:rPr lang="en-GB" sz="1100" i="1">
                          <a:solidFill>
                            <a:schemeClr val="lt1"/>
                          </a:solidFill>
                        </a:rPr>
                        <a:t>(optional)</a:t>
                      </a:r>
                      <a:endParaRPr sz="1100" b="1" i="1">
                        <a:solidFill>
                          <a:schemeClr val="lt1"/>
                        </a:solidFill>
                      </a:endParaRPr>
                    </a:p>
                  </a:txBody>
                  <a:tcPr marL="38100" marR="38100" marT="25400" marB="254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7"/>
                  </a:ext>
                </a:extLst>
              </a:tr>
            </a:tbl>
          </a:graphicData>
        </a:graphic>
      </p:graphicFrame>
      <p:pic>
        <p:nvPicPr>
          <p:cNvPr id="524" name="Google Shape;524;p58" descr="A colorful infinity symbol on a black background&#10;&#10;Description automatically generated">
            <a:extLst>
              <a:ext uri="{FF2B5EF4-FFF2-40B4-BE49-F238E27FC236}">
                <a16:creationId xmlns:a16="http://schemas.microsoft.com/office/drawing/2014/main" id="{9DC50103-71E2-6161-A35F-DA7191360903}"/>
              </a:ext>
            </a:extLst>
          </p:cNvPr>
          <p:cNvPicPr preferRelativeResize="0"/>
          <p:nvPr/>
        </p:nvPicPr>
        <p:blipFill rotWithShape="1">
          <a:blip r:embed="rId3">
            <a:alphaModFix/>
          </a:blip>
          <a:srcRect/>
          <a:stretch/>
        </p:blipFill>
        <p:spPr>
          <a:xfrm>
            <a:off x="549133" y="3957922"/>
            <a:ext cx="672768" cy="346292"/>
          </a:xfrm>
          <a:prstGeom prst="rect">
            <a:avLst/>
          </a:prstGeom>
          <a:noFill/>
          <a:ln>
            <a:noFill/>
          </a:ln>
        </p:spPr>
      </p:pic>
      <p:sp>
        <p:nvSpPr>
          <p:cNvPr id="525" name="Google Shape;525;p58" descr="Information&#10;">
            <a:extLst>
              <a:ext uri="{FF2B5EF4-FFF2-40B4-BE49-F238E27FC236}">
                <a16:creationId xmlns:a16="http://schemas.microsoft.com/office/drawing/2014/main" id="{9186D919-2BEC-4A40-3086-5A057DC8C876}"/>
              </a:ext>
            </a:extLst>
          </p:cNvPr>
          <p:cNvSpPr/>
          <p:nvPr/>
        </p:nvSpPr>
        <p:spPr>
          <a:xfrm>
            <a:off x="704314" y="3460661"/>
            <a:ext cx="362405" cy="331951"/>
          </a:xfrm>
          <a:custGeom>
            <a:avLst/>
            <a:gdLst/>
            <a:ahLst/>
            <a:cxnLst/>
            <a:rect l="l" t="t" r="r" b="b"/>
            <a:pathLst>
              <a:path w="200" h="200" extrusionOk="0">
                <a:moveTo>
                  <a:pt x="100" y="200"/>
                </a:moveTo>
                <a:cubicBezTo>
                  <a:pt x="155" y="200"/>
                  <a:pt x="200" y="156"/>
                  <a:pt x="200" y="100"/>
                </a:cubicBezTo>
                <a:cubicBezTo>
                  <a:pt x="200" y="45"/>
                  <a:pt x="155" y="0"/>
                  <a:pt x="100" y="0"/>
                </a:cubicBezTo>
                <a:cubicBezTo>
                  <a:pt x="45" y="0"/>
                  <a:pt x="0" y="45"/>
                  <a:pt x="0" y="100"/>
                </a:cubicBezTo>
                <a:cubicBezTo>
                  <a:pt x="0" y="156"/>
                  <a:pt x="45" y="200"/>
                  <a:pt x="100" y="200"/>
                </a:cubicBezTo>
                <a:close/>
                <a:moveTo>
                  <a:pt x="100" y="13"/>
                </a:moveTo>
                <a:cubicBezTo>
                  <a:pt x="148" y="13"/>
                  <a:pt x="188" y="52"/>
                  <a:pt x="188" y="100"/>
                </a:cubicBezTo>
                <a:cubicBezTo>
                  <a:pt x="188" y="149"/>
                  <a:pt x="148" y="188"/>
                  <a:pt x="100" y="188"/>
                </a:cubicBezTo>
                <a:cubicBezTo>
                  <a:pt x="52" y="188"/>
                  <a:pt x="13" y="149"/>
                  <a:pt x="13" y="100"/>
                </a:cubicBezTo>
                <a:cubicBezTo>
                  <a:pt x="13" y="52"/>
                  <a:pt x="52" y="13"/>
                  <a:pt x="100" y="13"/>
                </a:cubicBezTo>
                <a:close/>
                <a:moveTo>
                  <a:pt x="94" y="149"/>
                </a:moveTo>
                <a:cubicBezTo>
                  <a:pt x="106" y="149"/>
                  <a:pt x="106" y="149"/>
                  <a:pt x="106" y="149"/>
                </a:cubicBezTo>
                <a:cubicBezTo>
                  <a:pt x="106" y="89"/>
                  <a:pt x="106" y="89"/>
                  <a:pt x="106" y="89"/>
                </a:cubicBezTo>
                <a:cubicBezTo>
                  <a:pt x="94" y="89"/>
                  <a:pt x="94" y="89"/>
                  <a:pt x="94" y="89"/>
                </a:cubicBezTo>
                <a:lnTo>
                  <a:pt x="94" y="149"/>
                </a:lnTo>
                <a:close/>
                <a:moveTo>
                  <a:pt x="100" y="67"/>
                </a:moveTo>
                <a:cubicBezTo>
                  <a:pt x="105" y="67"/>
                  <a:pt x="110" y="63"/>
                  <a:pt x="110" y="58"/>
                </a:cubicBezTo>
                <a:cubicBezTo>
                  <a:pt x="110" y="53"/>
                  <a:pt x="105" y="49"/>
                  <a:pt x="100" y="49"/>
                </a:cubicBezTo>
                <a:cubicBezTo>
                  <a:pt x="95" y="49"/>
                  <a:pt x="91" y="53"/>
                  <a:pt x="91" y="58"/>
                </a:cubicBezTo>
                <a:cubicBezTo>
                  <a:pt x="91" y="63"/>
                  <a:pt x="95" y="67"/>
                  <a:pt x="100" y="67"/>
                </a:cubicBezTo>
                <a:close/>
              </a:path>
            </a:pathLst>
          </a:custGeom>
          <a:solidFill>
            <a:schemeClr val="accent5"/>
          </a:solidFill>
          <a:ln>
            <a:noFill/>
          </a:ln>
          <a:effectLst>
            <a:outerShdw blurRad="57150" dist="19050" dir="5400000" algn="bl" rotWithShape="0">
              <a:schemeClr val="lt1">
                <a:alpha val="50000"/>
              </a:schemeClr>
            </a:outerShdw>
          </a:effectLst>
        </p:spPr>
        <p:txBody>
          <a:bodyPr spcFirstLastPara="1" wrap="square" lIns="121900" tIns="60933" rIns="121900" bIns="60933" anchor="t" anchorCtr="0">
            <a:noAutofit/>
          </a:bodyPr>
          <a:lstStyle/>
          <a:p>
            <a:pPr>
              <a:buSzPts val="1800"/>
            </a:pPr>
            <a:endParaRPr sz="2400"/>
          </a:p>
        </p:txBody>
      </p:sp>
      <p:sp>
        <p:nvSpPr>
          <p:cNvPr id="526" name="Google Shape;526;p58" descr="Circle Checkmark&#10;">
            <a:extLst>
              <a:ext uri="{FF2B5EF4-FFF2-40B4-BE49-F238E27FC236}">
                <a16:creationId xmlns:a16="http://schemas.microsoft.com/office/drawing/2014/main" id="{0DBCB161-A736-D995-0442-636240CC1280}"/>
              </a:ext>
            </a:extLst>
          </p:cNvPr>
          <p:cNvSpPr/>
          <p:nvPr/>
        </p:nvSpPr>
        <p:spPr>
          <a:xfrm>
            <a:off x="704318" y="4489177"/>
            <a:ext cx="362405" cy="331951"/>
          </a:xfrm>
          <a:custGeom>
            <a:avLst/>
            <a:gdLst/>
            <a:ahLst/>
            <a:cxnLst/>
            <a:rect l="l" t="t" r="r" b="b"/>
            <a:pathLst>
              <a:path w="200" h="200" extrusionOk="0">
                <a:moveTo>
                  <a:pt x="100" y="0"/>
                </a:moveTo>
                <a:cubicBezTo>
                  <a:pt x="45" y="0"/>
                  <a:pt x="0" y="45"/>
                  <a:pt x="0" y="100"/>
                </a:cubicBezTo>
                <a:cubicBezTo>
                  <a:pt x="0" y="155"/>
                  <a:pt x="45" y="200"/>
                  <a:pt x="100" y="200"/>
                </a:cubicBezTo>
                <a:cubicBezTo>
                  <a:pt x="155" y="200"/>
                  <a:pt x="200" y="155"/>
                  <a:pt x="200" y="100"/>
                </a:cubicBezTo>
                <a:cubicBezTo>
                  <a:pt x="200" y="45"/>
                  <a:pt x="155" y="0"/>
                  <a:pt x="100" y="0"/>
                </a:cubicBezTo>
                <a:close/>
                <a:moveTo>
                  <a:pt x="100" y="188"/>
                </a:moveTo>
                <a:cubicBezTo>
                  <a:pt x="52" y="188"/>
                  <a:pt x="13" y="149"/>
                  <a:pt x="13" y="100"/>
                </a:cubicBezTo>
                <a:cubicBezTo>
                  <a:pt x="13" y="52"/>
                  <a:pt x="52" y="13"/>
                  <a:pt x="100" y="13"/>
                </a:cubicBezTo>
                <a:cubicBezTo>
                  <a:pt x="148" y="13"/>
                  <a:pt x="188" y="52"/>
                  <a:pt x="188" y="100"/>
                </a:cubicBezTo>
                <a:cubicBezTo>
                  <a:pt x="188" y="149"/>
                  <a:pt x="148" y="188"/>
                  <a:pt x="100" y="188"/>
                </a:cubicBezTo>
                <a:close/>
                <a:moveTo>
                  <a:pt x="88" y="116"/>
                </a:moveTo>
                <a:cubicBezTo>
                  <a:pt x="68" y="96"/>
                  <a:pt x="68" y="96"/>
                  <a:pt x="68" y="96"/>
                </a:cubicBezTo>
                <a:cubicBezTo>
                  <a:pt x="59" y="105"/>
                  <a:pt x="59" y="105"/>
                  <a:pt x="59" y="105"/>
                </a:cubicBezTo>
                <a:cubicBezTo>
                  <a:pt x="88" y="134"/>
                  <a:pt x="88" y="134"/>
                  <a:pt x="88" y="134"/>
                </a:cubicBezTo>
                <a:cubicBezTo>
                  <a:pt x="146" y="75"/>
                  <a:pt x="146" y="75"/>
                  <a:pt x="146" y="75"/>
                </a:cubicBezTo>
                <a:cubicBezTo>
                  <a:pt x="138" y="66"/>
                  <a:pt x="138" y="66"/>
                  <a:pt x="138" y="66"/>
                </a:cubicBezTo>
                <a:lnTo>
                  <a:pt x="88" y="116"/>
                </a:lnTo>
                <a:close/>
              </a:path>
            </a:pathLst>
          </a:custGeom>
          <a:solidFill>
            <a:schemeClr val="accent5"/>
          </a:solidFill>
          <a:ln>
            <a:noFill/>
          </a:ln>
        </p:spPr>
        <p:txBody>
          <a:bodyPr spcFirstLastPara="1" wrap="square" lIns="121900" tIns="60933" rIns="121900" bIns="60933" anchor="t" anchorCtr="0">
            <a:noAutofit/>
          </a:bodyPr>
          <a:lstStyle/>
          <a:p>
            <a:pPr>
              <a:buSzPts val="1800"/>
            </a:pPr>
            <a:endParaRPr sz="2400"/>
          </a:p>
        </p:txBody>
      </p:sp>
      <p:sp>
        <p:nvSpPr>
          <p:cNvPr id="527" name="Google Shape;527;p58" descr="Person&#10;">
            <a:extLst>
              <a:ext uri="{FF2B5EF4-FFF2-40B4-BE49-F238E27FC236}">
                <a16:creationId xmlns:a16="http://schemas.microsoft.com/office/drawing/2014/main" id="{A5B15A6E-29EC-FB95-F8FA-3EE29D135080}"/>
              </a:ext>
            </a:extLst>
          </p:cNvPr>
          <p:cNvSpPr/>
          <p:nvPr/>
        </p:nvSpPr>
        <p:spPr>
          <a:xfrm>
            <a:off x="704316" y="4986899"/>
            <a:ext cx="362405" cy="331951"/>
          </a:xfrm>
          <a:custGeom>
            <a:avLst/>
            <a:gdLst/>
            <a:ahLst/>
            <a:cxnLst/>
            <a:rect l="l" t="t" r="r" b="b"/>
            <a:pathLst>
              <a:path w="210" h="179" extrusionOk="0">
                <a:moveTo>
                  <a:pt x="105" y="81"/>
                </a:moveTo>
                <a:cubicBezTo>
                  <a:pt x="127" y="81"/>
                  <a:pt x="146" y="63"/>
                  <a:pt x="146" y="41"/>
                </a:cubicBezTo>
                <a:cubicBezTo>
                  <a:pt x="146" y="18"/>
                  <a:pt x="127" y="0"/>
                  <a:pt x="105" y="0"/>
                </a:cubicBezTo>
                <a:cubicBezTo>
                  <a:pt x="83" y="0"/>
                  <a:pt x="64" y="18"/>
                  <a:pt x="64" y="41"/>
                </a:cubicBezTo>
                <a:cubicBezTo>
                  <a:pt x="64" y="63"/>
                  <a:pt x="83" y="81"/>
                  <a:pt x="105" y="81"/>
                </a:cubicBezTo>
                <a:close/>
                <a:moveTo>
                  <a:pt x="105" y="13"/>
                </a:moveTo>
                <a:cubicBezTo>
                  <a:pt x="121" y="13"/>
                  <a:pt x="133" y="25"/>
                  <a:pt x="133" y="41"/>
                </a:cubicBezTo>
                <a:cubicBezTo>
                  <a:pt x="133" y="56"/>
                  <a:pt x="121" y="69"/>
                  <a:pt x="105" y="69"/>
                </a:cubicBezTo>
                <a:cubicBezTo>
                  <a:pt x="90" y="69"/>
                  <a:pt x="77" y="56"/>
                  <a:pt x="77" y="41"/>
                </a:cubicBezTo>
                <a:cubicBezTo>
                  <a:pt x="77" y="25"/>
                  <a:pt x="90" y="13"/>
                  <a:pt x="105" y="13"/>
                </a:cubicBezTo>
                <a:close/>
                <a:moveTo>
                  <a:pt x="23" y="179"/>
                </a:moveTo>
                <a:cubicBezTo>
                  <a:pt x="187" y="179"/>
                  <a:pt x="187" y="179"/>
                  <a:pt x="187" y="179"/>
                </a:cubicBezTo>
                <a:cubicBezTo>
                  <a:pt x="202" y="179"/>
                  <a:pt x="210" y="162"/>
                  <a:pt x="201" y="150"/>
                </a:cubicBezTo>
                <a:cubicBezTo>
                  <a:pt x="184" y="128"/>
                  <a:pt x="148" y="113"/>
                  <a:pt x="105" y="113"/>
                </a:cubicBezTo>
                <a:cubicBezTo>
                  <a:pt x="62" y="113"/>
                  <a:pt x="26" y="128"/>
                  <a:pt x="9" y="150"/>
                </a:cubicBezTo>
                <a:cubicBezTo>
                  <a:pt x="0" y="162"/>
                  <a:pt x="8" y="179"/>
                  <a:pt x="23" y="179"/>
                </a:cubicBezTo>
                <a:close/>
                <a:moveTo>
                  <a:pt x="19" y="158"/>
                </a:moveTo>
                <a:cubicBezTo>
                  <a:pt x="34" y="138"/>
                  <a:pt x="68" y="125"/>
                  <a:pt x="105" y="125"/>
                </a:cubicBezTo>
                <a:cubicBezTo>
                  <a:pt x="142" y="125"/>
                  <a:pt x="176" y="138"/>
                  <a:pt x="191" y="158"/>
                </a:cubicBezTo>
                <a:cubicBezTo>
                  <a:pt x="193" y="160"/>
                  <a:pt x="192" y="162"/>
                  <a:pt x="192" y="163"/>
                </a:cubicBezTo>
                <a:cubicBezTo>
                  <a:pt x="192" y="164"/>
                  <a:pt x="190" y="166"/>
                  <a:pt x="187" y="166"/>
                </a:cubicBezTo>
                <a:cubicBezTo>
                  <a:pt x="23" y="166"/>
                  <a:pt x="23" y="166"/>
                  <a:pt x="23" y="166"/>
                </a:cubicBezTo>
                <a:cubicBezTo>
                  <a:pt x="20" y="166"/>
                  <a:pt x="19" y="164"/>
                  <a:pt x="18" y="163"/>
                </a:cubicBezTo>
                <a:cubicBezTo>
                  <a:pt x="18" y="162"/>
                  <a:pt x="17" y="160"/>
                  <a:pt x="19" y="158"/>
                </a:cubicBezTo>
                <a:close/>
              </a:path>
            </a:pathLst>
          </a:custGeom>
          <a:solidFill>
            <a:schemeClr val="accent5"/>
          </a:solidFill>
          <a:ln>
            <a:noFill/>
          </a:ln>
        </p:spPr>
        <p:txBody>
          <a:bodyPr spcFirstLastPara="1" wrap="square" lIns="121900" tIns="60933" rIns="121900" bIns="60933" anchor="t" anchorCtr="0">
            <a:noAutofit/>
          </a:bodyPr>
          <a:lstStyle/>
          <a:p>
            <a:pPr>
              <a:buSzPts val="1800"/>
            </a:pPr>
            <a:endParaRPr sz="2400"/>
          </a:p>
        </p:txBody>
      </p:sp>
      <p:sp>
        <p:nvSpPr>
          <p:cNvPr id="528" name="Google Shape;528;p58" descr="Comment&#10;">
            <a:extLst>
              <a:ext uri="{FF2B5EF4-FFF2-40B4-BE49-F238E27FC236}">
                <a16:creationId xmlns:a16="http://schemas.microsoft.com/office/drawing/2014/main" id="{4E38E0F5-5C29-D9E2-8442-AC2B51DE77DA}"/>
              </a:ext>
            </a:extLst>
          </p:cNvPr>
          <p:cNvSpPr/>
          <p:nvPr/>
        </p:nvSpPr>
        <p:spPr>
          <a:xfrm>
            <a:off x="704317" y="5490402"/>
            <a:ext cx="362407" cy="346292"/>
          </a:xfrm>
          <a:custGeom>
            <a:avLst/>
            <a:gdLst/>
            <a:ahLst/>
            <a:cxnLst/>
            <a:rect l="l" t="t" r="r" b="b"/>
            <a:pathLst>
              <a:path w="202" h="200" extrusionOk="0">
                <a:moveTo>
                  <a:pt x="25" y="200"/>
                </a:moveTo>
                <a:cubicBezTo>
                  <a:pt x="66" y="174"/>
                  <a:pt x="66" y="174"/>
                  <a:pt x="66" y="174"/>
                </a:cubicBezTo>
                <a:cubicBezTo>
                  <a:pt x="73" y="176"/>
                  <a:pt x="81" y="177"/>
                  <a:pt x="89" y="177"/>
                </a:cubicBezTo>
                <a:cubicBezTo>
                  <a:pt x="114" y="177"/>
                  <a:pt x="114" y="177"/>
                  <a:pt x="114" y="177"/>
                </a:cubicBezTo>
                <a:cubicBezTo>
                  <a:pt x="163" y="177"/>
                  <a:pt x="202" y="138"/>
                  <a:pt x="202" y="89"/>
                </a:cubicBezTo>
                <a:cubicBezTo>
                  <a:pt x="202" y="40"/>
                  <a:pt x="163" y="0"/>
                  <a:pt x="114" y="0"/>
                </a:cubicBezTo>
                <a:cubicBezTo>
                  <a:pt x="89" y="0"/>
                  <a:pt x="89" y="0"/>
                  <a:pt x="89" y="0"/>
                </a:cubicBezTo>
                <a:cubicBezTo>
                  <a:pt x="40" y="0"/>
                  <a:pt x="0" y="40"/>
                  <a:pt x="0" y="89"/>
                </a:cubicBezTo>
                <a:cubicBezTo>
                  <a:pt x="0" y="113"/>
                  <a:pt x="10" y="134"/>
                  <a:pt x="25" y="150"/>
                </a:cubicBezTo>
                <a:lnTo>
                  <a:pt x="25" y="200"/>
                </a:lnTo>
                <a:close/>
                <a:moveTo>
                  <a:pt x="13" y="89"/>
                </a:moveTo>
                <a:cubicBezTo>
                  <a:pt x="13" y="47"/>
                  <a:pt x="47" y="13"/>
                  <a:pt x="89" y="13"/>
                </a:cubicBezTo>
                <a:cubicBezTo>
                  <a:pt x="114" y="13"/>
                  <a:pt x="114" y="13"/>
                  <a:pt x="114" y="13"/>
                </a:cubicBezTo>
                <a:cubicBezTo>
                  <a:pt x="156" y="13"/>
                  <a:pt x="190" y="47"/>
                  <a:pt x="190" y="89"/>
                </a:cubicBezTo>
                <a:cubicBezTo>
                  <a:pt x="190" y="131"/>
                  <a:pt x="156" y="165"/>
                  <a:pt x="114" y="165"/>
                </a:cubicBezTo>
                <a:cubicBezTo>
                  <a:pt x="89" y="165"/>
                  <a:pt x="89" y="165"/>
                  <a:pt x="89" y="165"/>
                </a:cubicBezTo>
                <a:cubicBezTo>
                  <a:pt x="82" y="165"/>
                  <a:pt x="76" y="164"/>
                  <a:pt x="69" y="162"/>
                </a:cubicBezTo>
                <a:cubicBezTo>
                  <a:pt x="63" y="160"/>
                  <a:pt x="63" y="160"/>
                  <a:pt x="63" y="160"/>
                </a:cubicBezTo>
                <a:cubicBezTo>
                  <a:pt x="59" y="163"/>
                  <a:pt x="59" y="163"/>
                  <a:pt x="59" y="163"/>
                </a:cubicBezTo>
                <a:cubicBezTo>
                  <a:pt x="37" y="177"/>
                  <a:pt x="37" y="177"/>
                  <a:pt x="37" y="177"/>
                </a:cubicBezTo>
                <a:cubicBezTo>
                  <a:pt x="38" y="150"/>
                  <a:pt x="38" y="150"/>
                  <a:pt x="38" y="150"/>
                </a:cubicBezTo>
                <a:cubicBezTo>
                  <a:pt x="38" y="145"/>
                  <a:pt x="38" y="145"/>
                  <a:pt x="38" y="145"/>
                </a:cubicBezTo>
                <a:cubicBezTo>
                  <a:pt x="34" y="141"/>
                  <a:pt x="34" y="141"/>
                  <a:pt x="34" y="141"/>
                </a:cubicBezTo>
                <a:cubicBezTo>
                  <a:pt x="20" y="127"/>
                  <a:pt x="13" y="108"/>
                  <a:pt x="13" y="89"/>
                </a:cubicBezTo>
                <a:close/>
              </a:path>
            </a:pathLst>
          </a:custGeom>
          <a:solidFill>
            <a:schemeClr val="accent5"/>
          </a:solidFill>
          <a:ln>
            <a:noFill/>
          </a:ln>
        </p:spPr>
        <p:txBody>
          <a:bodyPr spcFirstLastPara="1" wrap="square" lIns="121900" tIns="60933" rIns="121900" bIns="60933" anchor="t" anchorCtr="0">
            <a:noAutofit/>
          </a:bodyPr>
          <a:lstStyle/>
          <a:p>
            <a:pPr>
              <a:buSzPts val="1800"/>
            </a:pPr>
            <a:endParaRPr sz="2400"/>
          </a:p>
        </p:txBody>
      </p:sp>
    </p:spTree>
    <p:extLst>
      <p:ext uri="{BB962C8B-B14F-4D97-AF65-F5344CB8AC3E}">
        <p14:creationId xmlns:p14="http://schemas.microsoft.com/office/powerpoint/2010/main" val="2467789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8">
          <a:extLst>
            <a:ext uri="{FF2B5EF4-FFF2-40B4-BE49-F238E27FC236}">
              <a16:creationId xmlns:a16="http://schemas.microsoft.com/office/drawing/2014/main" id="{100CFDCC-FBCD-C54B-00F0-B5B9CDC6D80D}"/>
            </a:ext>
          </a:extLst>
        </p:cNvPr>
        <p:cNvGrpSpPr/>
        <p:nvPr/>
      </p:nvGrpSpPr>
      <p:grpSpPr>
        <a:xfrm>
          <a:off x="0" y="0"/>
          <a:ext cx="0" cy="0"/>
          <a:chOff x="0" y="0"/>
          <a:chExt cx="0" cy="0"/>
        </a:xfrm>
      </p:grpSpPr>
      <p:pic>
        <p:nvPicPr>
          <p:cNvPr id="419" name="Google Shape;419;p53">
            <a:extLst>
              <a:ext uri="{FF2B5EF4-FFF2-40B4-BE49-F238E27FC236}">
                <a16:creationId xmlns:a16="http://schemas.microsoft.com/office/drawing/2014/main" id="{4C52E97E-648A-5F10-C013-059E6B3803FF}"/>
              </a:ext>
            </a:extLst>
          </p:cNvPr>
          <p:cNvPicPr preferRelativeResize="0"/>
          <p:nvPr/>
        </p:nvPicPr>
        <p:blipFill>
          <a:blip r:embed="rId3">
            <a:alphaModFix/>
          </a:blip>
          <a:stretch>
            <a:fillRect/>
          </a:stretch>
        </p:blipFill>
        <p:spPr>
          <a:xfrm>
            <a:off x="7023499" y="447641"/>
            <a:ext cx="2498203" cy="3354200"/>
          </a:xfrm>
          <a:prstGeom prst="rect">
            <a:avLst/>
          </a:prstGeom>
          <a:noFill/>
          <a:ln w="19050" cap="flat" cmpd="sng">
            <a:solidFill>
              <a:schemeClr val="accent4"/>
            </a:solidFill>
            <a:prstDash val="solid"/>
            <a:round/>
            <a:headEnd type="none" w="sm" len="sm"/>
            <a:tailEnd type="none" w="sm" len="sm"/>
          </a:ln>
        </p:spPr>
      </p:pic>
      <p:sp>
        <p:nvSpPr>
          <p:cNvPr id="422" name="Google Shape;422;p53">
            <a:extLst>
              <a:ext uri="{FF2B5EF4-FFF2-40B4-BE49-F238E27FC236}">
                <a16:creationId xmlns:a16="http://schemas.microsoft.com/office/drawing/2014/main" id="{A43EF3EC-6EA0-DE68-8A21-1A3DED8EF179}"/>
              </a:ext>
            </a:extLst>
          </p:cNvPr>
          <p:cNvSpPr/>
          <p:nvPr/>
        </p:nvSpPr>
        <p:spPr>
          <a:xfrm>
            <a:off x="445707" y="1660567"/>
            <a:ext cx="5650400" cy="919200"/>
          </a:xfrm>
          <a:prstGeom prst="wedgeRectCallout">
            <a:avLst>
              <a:gd name="adj1" fmla="val 66857"/>
              <a:gd name="adj2" fmla="val -11342"/>
            </a:avLst>
          </a:prstGeom>
          <a:solidFill>
            <a:schemeClr val="lt1"/>
          </a:solidFill>
          <a:ln w="19050" cap="flat" cmpd="sng">
            <a:solidFill>
              <a:schemeClr val="accent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a:buClr>
                <a:schemeClr val="dk1"/>
              </a:buClr>
              <a:buSzPts val="1100"/>
            </a:pPr>
            <a:r>
              <a:rPr lang="en-GB" sz="1067" b="1">
                <a:solidFill>
                  <a:schemeClr val="dk1"/>
                </a:solidFill>
              </a:rPr>
              <a:t>Selecting a feedback direction:</a:t>
            </a:r>
            <a:r>
              <a:rPr lang="en-GB" sz="1067">
                <a:solidFill>
                  <a:schemeClr val="dk1"/>
                </a:solidFill>
              </a:rPr>
              <a:t> The system determines the feedback direction (peer, upward, or downward) by default based on grade level. However, you can easily override the default direction, if there is a more appropriate direction based on your working relationship. </a:t>
            </a:r>
            <a:endParaRPr sz="1067" b="1">
              <a:solidFill>
                <a:schemeClr val="dk1"/>
              </a:solidFill>
            </a:endParaRPr>
          </a:p>
        </p:txBody>
      </p:sp>
      <p:pic>
        <p:nvPicPr>
          <p:cNvPr id="423" name="Google Shape;423;p53">
            <a:extLst>
              <a:ext uri="{FF2B5EF4-FFF2-40B4-BE49-F238E27FC236}">
                <a16:creationId xmlns:a16="http://schemas.microsoft.com/office/drawing/2014/main" id="{90EC6963-8B80-D6A8-4866-9ED376C4A0AF}"/>
              </a:ext>
            </a:extLst>
          </p:cNvPr>
          <p:cNvPicPr preferRelativeResize="0"/>
          <p:nvPr/>
        </p:nvPicPr>
        <p:blipFill>
          <a:blip r:embed="rId4">
            <a:alphaModFix/>
          </a:blip>
          <a:stretch>
            <a:fillRect/>
          </a:stretch>
        </p:blipFill>
        <p:spPr>
          <a:xfrm>
            <a:off x="7371434" y="4474108"/>
            <a:ext cx="3133333" cy="1703352"/>
          </a:xfrm>
          <a:prstGeom prst="rect">
            <a:avLst/>
          </a:prstGeom>
          <a:noFill/>
          <a:ln w="19050" cap="flat" cmpd="sng">
            <a:solidFill>
              <a:schemeClr val="accent5"/>
            </a:solidFill>
            <a:prstDash val="solid"/>
            <a:round/>
            <a:headEnd type="none" w="sm" len="sm"/>
            <a:tailEnd type="none" w="sm" len="sm"/>
          </a:ln>
        </p:spPr>
      </p:pic>
      <p:sp>
        <p:nvSpPr>
          <p:cNvPr id="424" name="Google Shape;424;p53">
            <a:extLst>
              <a:ext uri="{FF2B5EF4-FFF2-40B4-BE49-F238E27FC236}">
                <a16:creationId xmlns:a16="http://schemas.microsoft.com/office/drawing/2014/main" id="{20BDE278-81C6-C15E-E3D8-98AE904A5DF4}"/>
              </a:ext>
            </a:extLst>
          </p:cNvPr>
          <p:cNvSpPr/>
          <p:nvPr/>
        </p:nvSpPr>
        <p:spPr>
          <a:xfrm>
            <a:off x="445713" y="5294067"/>
            <a:ext cx="5650400" cy="835600"/>
          </a:xfrm>
          <a:prstGeom prst="wedgeRectCallout">
            <a:avLst>
              <a:gd name="adj1" fmla="val 73820"/>
              <a:gd name="adj2" fmla="val -56647"/>
            </a:avLst>
          </a:prstGeom>
          <a:solidFill>
            <a:schemeClr val="lt1"/>
          </a:solidFill>
          <a:ln w="19050"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a:buClr>
                <a:schemeClr val="dk1"/>
              </a:buClr>
              <a:buSzPts val="1100"/>
            </a:pPr>
            <a:r>
              <a:rPr lang="en-GB" sz="1067" b="1">
                <a:solidFill>
                  <a:schemeClr val="dk1"/>
                </a:solidFill>
              </a:rPr>
              <a:t>Identifying Assurance work: </a:t>
            </a:r>
            <a:r>
              <a:rPr lang="en-GB" sz="1067">
                <a:solidFill>
                  <a:schemeClr val="dk1"/>
                </a:solidFill>
              </a:rPr>
              <a:t>For </a:t>
            </a:r>
            <a:r>
              <a:rPr lang="en-GB" sz="1067" b="1">
                <a:solidFill>
                  <a:schemeClr val="dk1"/>
                </a:solidFill>
              </a:rPr>
              <a:t>downward </a:t>
            </a:r>
            <a:r>
              <a:rPr lang="en-GB" sz="1067">
                <a:solidFill>
                  <a:schemeClr val="dk1"/>
                </a:solidFill>
              </a:rPr>
              <a:t>feedback, selecting “I performed assurance work” will prompt the feedback provider to respond to the series of questions related to the </a:t>
            </a:r>
            <a:r>
              <a:rPr lang="en-GB" sz="1067" u="sng">
                <a:solidFill>
                  <a:schemeClr val="dk1"/>
                </a:solidFill>
                <a:hlinkClick r:id="rId5">
                  <a:extLst>
                    <a:ext uri="{A12FA001-AC4F-418D-AE19-62706E023703}">
                      <ahyp:hlinkClr xmlns:ahyp="http://schemas.microsoft.com/office/drawing/2018/hyperlinkcolor" val="tx"/>
                    </a:ext>
                  </a:extLst>
                </a:hlinkClick>
              </a:rPr>
              <a:t>Assurance Quality Dimensions (AQDs) Framework</a:t>
            </a:r>
            <a:r>
              <a:rPr lang="en-GB" sz="1067">
                <a:solidFill>
                  <a:schemeClr val="dk1"/>
                </a:solidFill>
              </a:rPr>
              <a:t>. </a:t>
            </a:r>
            <a:endParaRPr sz="1067" b="1">
              <a:solidFill>
                <a:schemeClr val="dk1"/>
              </a:solidFill>
            </a:endParaRPr>
          </a:p>
        </p:txBody>
      </p:sp>
      <p:sp>
        <p:nvSpPr>
          <p:cNvPr id="425" name="Google Shape;425;p53">
            <a:extLst>
              <a:ext uri="{FF2B5EF4-FFF2-40B4-BE49-F238E27FC236}">
                <a16:creationId xmlns:a16="http://schemas.microsoft.com/office/drawing/2014/main" id="{81FD97DA-A1E0-58BE-BA21-76729EDD89EB}"/>
              </a:ext>
            </a:extLst>
          </p:cNvPr>
          <p:cNvSpPr txBox="1">
            <a:spLocks noGrp="1"/>
          </p:cNvSpPr>
          <p:nvPr>
            <p:ph type="title"/>
          </p:nvPr>
        </p:nvSpPr>
        <p:spPr>
          <a:xfrm>
            <a:off x="442900" y="430500"/>
            <a:ext cx="6473600" cy="835600"/>
          </a:xfrm>
          <a:prstGeom prst="rect">
            <a:avLst/>
          </a:prstGeom>
        </p:spPr>
        <p:txBody>
          <a:bodyPr spcFirstLastPara="1" wrap="square" lIns="0" tIns="0" rIns="0" bIns="0" anchor="t" anchorCtr="0">
            <a:noAutofit/>
          </a:bodyPr>
          <a:lstStyle/>
          <a:p>
            <a:r>
              <a:rPr lang="en-GB" sz="2400"/>
              <a:t>Key things to know about </a:t>
            </a:r>
            <a:r>
              <a:rPr lang="en-GB" sz="2400" b="1"/>
              <a:t>requesting</a:t>
            </a:r>
            <a:r>
              <a:rPr lang="en-GB" sz="2400"/>
              <a:t> feedback </a:t>
            </a:r>
            <a:endParaRPr sz="2400"/>
          </a:p>
          <a:p>
            <a:pPr>
              <a:lnSpc>
                <a:spcPct val="100000"/>
              </a:lnSpc>
              <a:buSzPts val="1100"/>
            </a:pPr>
            <a:r>
              <a:rPr lang="en-GB" sz="1333">
                <a:solidFill>
                  <a:srgbClr val="252525"/>
                </a:solidFill>
              </a:rPr>
              <a:t>Feedback Exchange has been designed to be user-friendly, so users shouldn’t require detailed guidance. However, here are a few key tips to keep in mind:</a:t>
            </a:r>
            <a:endParaRPr sz="2400"/>
          </a:p>
        </p:txBody>
      </p:sp>
      <p:sp>
        <p:nvSpPr>
          <p:cNvPr id="426" name="Google Shape;426;p53">
            <a:extLst>
              <a:ext uri="{FF2B5EF4-FFF2-40B4-BE49-F238E27FC236}">
                <a16:creationId xmlns:a16="http://schemas.microsoft.com/office/drawing/2014/main" id="{F1F4DE7F-DE03-8114-FA15-55BCCF3F695C}"/>
              </a:ext>
            </a:extLst>
          </p:cNvPr>
          <p:cNvSpPr txBox="1"/>
          <p:nvPr/>
        </p:nvSpPr>
        <p:spPr>
          <a:xfrm>
            <a:off x="2323400" y="6504833"/>
            <a:ext cx="9607200" cy="257600"/>
          </a:xfrm>
          <a:prstGeom prst="rect">
            <a:avLst/>
          </a:prstGeom>
          <a:solidFill>
            <a:srgbClr val="DEDEDE">
              <a:alpha val="0"/>
            </a:srgbClr>
          </a:solidFill>
          <a:ln>
            <a:noFill/>
          </a:ln>
        </p:spPr>
        <p:txBody>
          <a:bodyPr spcFirstLastPara="1" wrap="square" lIns="72000" tIns="72000" rIns="72000" bIns="72000" anchor="t" anchorCtr="0">
            <a:noAutofit/>
          </a:bodyPr>
          <a:lstStyle/>
          <a:p>
            <a:pPr algn="r"/>
            <a:r>
              <a:rPr lang="en-GB" sz="867" i="1"/>
              <a:t>For more detailed step-by-step instructions and a demo on creating a feedback request, refer to the </a:t>
            </a:r>
            <a:r>
              <a:rPr lang="en-GB" sz="867" i="1" u="sng">
                <a:solidFill>
                  <a:schemeClr val="hlink"/>
                </a:solidFill>
                <a:hlinkClick r:id="rId6"/>
              </a:rPr>
              <a:t>Requesting Multi-Directional Feedback QRC</a:t>
            </a:r>
            <a:r>
              <a:rPr lang="en-GB" sz="867" i="1">
                <a:solidFill>
                  <a:schemeClr val="dk1"/>
                </a:solidFill>
              </a:rPr>
              <a:t>.</a:t>
            </a:r>
            <a:endParaRPr sz="867" i="1">
              <a:solidFill>
                <a:schemeClr val="dk1"/>
              </a:solidFill>
            </a:endParaRPr>
          </a:p>
        </p:txBody>
      </p:sp>
      <p:sp>
        <p:nvSpPr>
          <p:cNvPr id="427" name="Google Shape;427;p53">
            <a:extLst>
              <a:ext uri="{FF2B5EF4-FFF2-40B4-BE49-F238E27FC236}">
                <a16:creationId xmlns:a16="http://schemas.microsoft.com/office/drawing/2014/main" id="{44EF1E4F-8160-AEDF-92AB-8BCBFA9D5C0D}"/>
              </a:ext>
            </a:extLst>
          </p:cNvPr>
          <p:cNvSpPr/>
          <p:nvPr/>
        </p:nvSpPr>
        <p:spPr>
          <a:xfrm>
            <a:off x="12009733" y="307100"/>
            <a:ext cx="1423200" cy="1294800"/>
          </a:xfrm>
          <a:prstGeom prst="wedgeRectCallout">
            <a:avLst>
              <a:gd name="adj1" fmla="val -84155"/>
              <a:gd name="adj2" fmla="val 29928"/>
            </a:avLst>
          </a:prstGeom>
          <a:solidFill>
            <a:schemeClr val="accent6"/>
          </a:solidFill>
          <a:ln>
            <a:noFill/>
          </a:ln>
        </p:spPr>
        <p:txBody>
          <a:bodyPr spcFirstLastPara="1" wrap="square" lIns="121900" tIns="121900" rIns="121900" bIns="121900" anchor="ctr" anchorCtr="0">
            <a:noAutofit/>
          </a:bodyPr>
          <a:lstStyle/>
          <a:p>
            <a:r>
              <a:rPr lang="en-GB" sz="933">
                <a:solidFill>
                  <a:schemeClr val="lt1"/>
                </a:solidFill>
              </a:rPr>
              <a:t>This page is designed for territories who have </a:t>
            </a:r>
            <a:r>
              <a:rPr lang="en-GB" sz="933" b="1">
                <a:solidFill>
                  <a:schemeClr val="accent2"/>
                </a:solidFill>
              </a:rPr>
              <a:t>opted in</a:t>
            </a:r>
            <a:r>
              <a:rPr lang="en-GB" sz="933">
                <a:solidFill>
                  <a:schemeClr val="accent2"/>
                </a:solidFill>
              </a:rPr>
              <a:t> </a:t>
            </a:r>
            <a:r>
              <a:rPr lang="en-GB" sz="933">
                <a:solidFill>
                  <a:schemeClr val="lt1"/>
                </a:solidFill>
              </a:rPr>
              <a:t>to having a finance feed of project data.</a:t>
            </a:r>
            <a:endParaRPr sz="933">
              <a:solidFill>
                <a:schemeClr val="lt1"/>
              </a:solidFill>
            </a:endParaRPr>
          </a:p>
          <a:p>
            <a:endParaRPr sz="933">
              <a:solidFill>
                <a:schemeClr val="lt1"/>
              </a:solidFill>
            </a:endParaRPr>
          </a:p>
          <a:p>
            <a:r>
              <a:rPr lang="en-GB" sz="933">
                <a:solidFill>
                  <a:schemeClr val="lt1"/>
                </a:solidFill>
              </a:rPr>
              <a:t>Note: if your territory has opted out, delete this slide.</a:t>
            </a:r>
            <a:endParaRPr sz="933">
              <a:solidFill>
                <a:schemeClr val="lt1"/>
              </a:solidFill>
            </a:endParaRPr>
          </a:p>
        </p:txBody>
      </p:sp>
      <p:sp>
        <p:nvSpPr>
          <p:cNvPr id="428" name="Google Shape;428;p53">
            <a:extLst>
              <a:ext uri="{FF2B5EF4-FFF2-40B4-BE49-F238E27FC236}">
                <a16:creationId xmlns:a16="http://schemas.microsoft.com/office/drawing/2014/main" id="{E4B43F75-157F-0A3C-A7AD-A9AB10B876DF}"/>
              </a:ext>
            </a:extLst>
          </p:cNvPr>
          <p:cNvSpPr txBox="1"/>
          <p:nvPr/>
        </p:nvSpPr>
        <p:spPr>
          <a:xfrm>
            <a:off x="8473367" y="140400"/>
            <a:ext cx="3615600" cy="186800"/>
          </a:xfrm>
          <a:prstGeom prst="rect">
            <a:avLst/>
          </a:prstGeom>
          <a:noFill/>
          <a:ln>
            <a:noFill/>
          </a:ln>
        </p:spPr>
        <p:txBody>
          <a:bodyPr spcFirstLastPara="1" wrap="square" lIns="48000" tIns="24000" rIns="24000" bIns="24000" anchor="t" anchorCtr="0">
            <a:noAutofit/>
          </a:bodyPr>
          <a:lstStyle/>
          <a:p>
            <a:r>
              <a:rPr lang="en-GB" sz="800" u="sng">
                <a:solidFill>
                  <a:schemeClr val="dk2"/>
                </a:solidFill>
                <a:hlinkClick r:id="" action="ppaction://noaction">
                  <a:extLst>
                    <a:ext uri="{A12FA001-AC4F-418D-AE19-62706E023703}">
                      <ahyp:hlinkClr xmlns:ahyp="http://schemas.microsoft.com/office/drawing/2018/hyperlinkcolor" val="tx"/>
                    </a:ext>
                  </a:extLst>
                </a:hlinkClick>
              </a:rPr>
              <a:t>Introduction</a:t>
            </a:r>
            <a:r>
              <a:rPr lang="en-GB" sz="800">
                <a:solidFill>
                  <a:schemeClr val="dk2"/>
                </a:solidFill>
              </a:rPr>
              <a:t> | </a:t>
            </a:r>
            <a:r>
              <a:rPr lang="en-GB" sz="800" u="sng">
                <a:solidFill>
                  <a:schemeClr val="accent1"/>
                </a:solidFill>
                <a:hlinkClick r:id="" action="ppaction://noaction">
                  <a:extLst>
                    <a:ext uri="{A12FA001-AC4F-418D-AE19-62706E023703}">
                      <ahyp:hlinkClr xmlns:ahyp="http://schemas.microsoft.com/office/drawing/2018/hyperlinkcolor" val="tx"/>
                    </a:ext>
                  </a:extLst>
                </a:hlinkClick>
              </a:rPr>
              <a:t>Key things to know</a:t>
            </a:r>
            <a:r>
              <a:rPr lang="en-GB" sz="800">
                <a:solidFill>
                  <a:schemeClr val="dk2"/>
                </a:solidFill>
              </a:rPr>
              <a:t> | </a:t>
            </a:r>
            <a:r>
              <a:rPr lang="en-GB" sz="800" u="sng">
                <a:solidFill>
                  <a:schemeClr val="dk2"/>
                </a:solidFill>
                <a:hlinkClick r:id="" action="ppaction://noaction">
                  <a:extLst>
                    <a:ext uri="{A12FA001-AC4F-418D-AE19-62706E023703}">
                      <ahyp:hlinkClr xmlns:ahyp="http://schemas.microsoft.com/office/drawing/2018/hyperlinkcolor" val="tx"/>
                    </a:ext>
                  </a:extLst>
                </a:hlinkClick>
              </a:rPr>
              <a:t>Question overview</a:t>
            </a:r>
            <a:r>
              <a:rPr lang="en-GB" sz="800">
                <a:solidFill>
                  <a:schemeClr val="dk2"/>
                </a:solidFill>
              </a:rPr>
              <a:t> | </a:t>
            </a:r>
            <a:r>
              <a:rPr lang="en-GB" sz="800" u="sng">
                <a:solidFill>
                  <a:schemeClr val="dk2"/>
                </a:solidFill>
                <a:hlinkClick r:id="" action="ppaction://noaction">
                  <a:extLst>
                    <a:ext uri="{A12FA001-AC4F-418D-AE19-62706E023703}">
                      <ahyp:hlinkClr xmlns:ahyp="http://schemas.microsoft.com/office/drawing/2018/hyperlinkcolor" val="tx"/>
                    </a:ext>
                  </a:extLst>
                </a:hlinkClick>
              </a:rPr>
              <a:t>Response overview</a:t>
            </a:r>
            <a:endParaRPr sz="800">
              <a:solidFill>
                <a:schemeClr val="dk2"/>
              </a:solidFill>
            </a:endParaRPr>
          </a:p>
        </p:txBody>
      </p:sp>
    </p:spTree>
    <p:extLst>
      <p:ext uri="{BB962C8B-B14F-4D97-AF65-F5344CB8AC3E}">
        <p14:creationId xmlns:p14="http://schemas.microsoft.com/office/powerpoint/2010/main" val="1103300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2">
          <a:extLst>
            <a:ext uri="{FF2B5EF4-FFF2-40B4-BE49-F238E27FC236}">
              <a16:creationId xmlns:a16="http://schemas.microsoft.com/office/drawing/2014/main" id="{BBE8B222-358D-3E5B-97E6-9B6E7335ADAB}"/>
            </a:ext>
          </a:extLst>
        </p:cNvPr>
        <p:cNvGrpSpPr/>
        <p:nvPr/>
      </p:nvGrpSpPr>
      <p:grpSpPr>
        <a:xfrm>
          <a:off x="0" y="0"/>
          <a:ext cx="0" cy="0"/>
          <a:chOff x="0" y="0"/>
          <a:chExt cx="0" cy="0"/>
        </a:xfrm>
      </p:grpSpPr>
      <p:sp>
        <p:nvSpPr>
          <p:cNvPr id="437" name="Google Shape;437;p54">
            <a:extLst>
              <a:ext uri="{FF2B5EF4-FFF2-40B4-BE49-F238E27FC236}">
                <a16:creationId xmlns:a16="http://schemas.microsoft.com/office/drawing/2014/main" id="{88B0584F-1068-AA56-9533-EC1B0558DF4D}"/>
              </a:ext>
            </a:extLst>
          </p:cNvPr>
          <p:cNvSpPr txBox="1">
            <a:spLocks noGrp="1"/>
          </p:cNvSpPr>
          <p:nvPr>
            <p:ph type="title"/>
          </p:nvPr>
        </p:nvSpPr>
        <p:spPr>
          <a:xfrm>
            <a:off x="442900" y="430500"/>
            <a:ext cx="6473600" cy="835600"/>
          </a:xfrm>
          <a:prstGeom prst="rect">
            <a:avLst/>
          </a:prstGeom>
        </p:spPr>
        <p:txBody>
          <a:bodyPr spcFirstLastPara="1" wrap="square" lIns="0" tIns="0" rIns="0" bIns="0" anchor="t" anchorCtr="0">
            <a:noAutofit/>
          </a:bodyPr>
          <a:lstStyle/>
          <a:p>
            <a:r>
              <a:rPr lang="en-GB" sz="2400"/>
              <a:t>Key things to know about </a:t>
            </a:r>
            <a:r>
              <a:rPr lang="en-GB" sz="2400" b="1"/>
              <a:t>requesting</a:t>
            </a:r>
            <a:r>
              <a:rPr lang="en-GB" sz="2400"/>
              <a:t> feedback </a:t>
            </a:r>
            <a:endParaRPr sz="2400"/>
          </a:p>
          <a:p>
            <a:pPr>
              <a:lnSpc>
                <a:spcPct val="100000"/>
              </a:lnSpc>
            </a:pPr>
            <a:r>
              <a:rPr lang="en-GB" sz="1333">
                <a:solidFill>
                  <a:srgbClr val="252525"/>
                </a:solidFill>
              </a:rPr>
              <a:t>Feedback Exchange has been designed to be user-friendly, so users shouldn’t require detailed guidance. However, here are a few key tips to keep in mind:</a:t>
            </a:r>
            <a:endParaRPr sz="2400"/>
          </a:p>
        </p:txBody>
      </p:sp>
      <p:pic>
        <p:nvPicPr>
          <p:cNvPr id="438" name="Google Shape;438;p54">
            <a:extLst>
              <a:ext uri="{FF2B5EF4-FFF2-40B4-BE49-F238E27FC236}">
                <a16:creationId xmlns:a16="http://schemas.microsoft.com/office/drawing/2014/main" id="{53D7D9F3-FFA8-7E4D-016D-E3A7C484CF5A}"/>
              </a:ext>
            </a:extLst>
          </p:cNvPr>
          <p:cNvPicPr preferRelativeResize="0"/>
          <p:nvPr/>
        </p:nvPicPr>
        <p:blipFill>
          <a:blip r:embed="rId3">
            <a:alphaModFix/>
          </a:blip>
          <a:stretch>
            <a:fillRect/>
          </a:stretch>
        </p:blipFill>
        <p:spPr>
          <a:xfrm>
            <a:off x="9300900" y="3972090"/>
            <a:ext cx="2745200" cy="2173284"/>
          </a:xfrm>
          <a:prstGeom prst="rect">
            <a:avLst/>
          </a:prstGeom>
          <a:noFill/>
          <a:ln w="19050" cap="flat" cmpd="sng">
            <a:solidFill>
              <a:schemeClr val="accent6"/>
            </a:solidFill>
            <a:prstDash val="solid"/>
            <a:round/>
            <a:headEnd type="none" w="sm" len="sm"/>
            <a:tailEnd type="none" w="sm" len="sm"/>
          </a:ln>
        </p:spPr>
      </p:pic>
      <p:pic>
        <p:nvPicPr>
          <p:cNvPr id="439" name="Google Shape;439;p54">
            <a:extLst>
              <a:ext uri="{FF2B5EF4-FFF2-40B4-BE49-F238E27FC236}">
                <a16:creationId xmlns:a16="http://schemas.microsoft.com/office/drawing/2014/main" id="{B2A24789-D0D4-4C59-F158-FB52D0D94CC5}"/>
              </a:ext>
            </a:extLst>
          </p:cNvPr>
          <p:cNvPicPr preferRelativeResize="0"/>
          <p:nvPr/>
        </p:nvPicPr>
        <p:blipFill>
          <a:blip r:embed="rId4">
            <a:alphaModFix/>
          </a:blip>
          <a:stretch>
            <a:fillRect/>
          </a:stretch>
        </p:blipFill>
        <p:spPr>
          <a:xfrm>
            <a:off x="9300900" y="3380445"/>
            <a:ext cx="2745200" cy="564227"/>
          </a:xfrm>
          <a:prstGeom prst="rect">
            <a:avLst/>
          </a:prstGeom>
          <a:noFill/>
          <a:ln w="19050" cap="flat" cmpd="sng">
            <a:solidFill>
              <a:schemeClr val="accent6"/>
            </a:solidFill>
            <a:prstDash val="solid"/>
            <a:round/>
            <a:headEnd type="none" w="sm" len="sm"/>
            <a:tailEnd type="none" w="sm" len="sm"/>
          </a:ln>
        </p:spPr>
      </p:pic>
      <p:sp>
        <p:nvSpPr>
          <p:cNvPr id="441" name="Google Shape;441;p54">
            <a:extLst>
              <a:ext uri="{FF2B5EF4-FFF2-40B4-BE49-F238E27FC236}">
                <a16:creationId xmlns:a16="http://schemas.microsoft.com/office/drawing/2014/main" id="{9F6C5495-D992-6D4E-A377-6EF7939423FB}"/>
              </a:ext>
            </a:extLst>
          </p:cNvPr>
          <p:cNvSpPr/>
          <p:nvPr/>
        </p:nvSpPr>
        <p:spPr>
          <a:xfrm>
            <a:off x="444300" y="3757191"/>
            <a:ext cx="5650400" cy="2381600"/>
          </a:xfrm>
          <a:prstGeom prst="wedgeRectCallout">
            <a:avLst>
              <a:gd name="adj1" fmla="val 101719"/>
              <a:gd name="adj2" fmla="val 10397"/>
            </a:avLst>
          </a:prstGeom>
          <a:solidFill>
            <a:schemeClr val="lt1"/>
          </a:solidFill>
          <a:ln w="19050"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a:buClr>
                <a:schemeClr val="dk1"/>
              </a:buClr>
              <a:buSzPts val="1100"/>
            </a:pPr>
            <a:r>
              <a:rPr lang="en-GB" sz="1067" b="1" dirty="0">
                <a:solidFill>
                  <a:schemeClr val="dk1"/>
                </a:solidFill>
              </a:rPr>
              <a:t>Selecting a project: </a:t>
            </a:r>
            <a:r>
              <a:rPr lang="en-GB" sz="1067" dirty="0">
                <a:solidFill>
                  <a:schemeClr val="dk1"/>
                </a:solidFill>
              </a:rPr>
              <a:t>For </a:t>
            </a:r>
            <a:r>
              <a:rPr lang="en-GB" sz="1067" b="1" dirty="0">
                <a:solidFill>
                  <a:schemeClr val="dk1"/>
                </a:solidFill>
              </a:rPr>
              <a:t>downward </a:t>
            </a:r>
            <a:r>
              <a:rPr lang="en-GB" sz="1067" dirty="0">
                <a:solidFill>
                  <a:schemeClr val="dk1"/>
                </a:solidFill>
              </a:rPr>
              <a:t>feedback, you will need to manually </a:t>
            </a:r>
            <a:r>
              <a:rPr lang="en-GB" sz="1067" b="1" dirty="0">
                <a:solidFill>
                  <a:schemeClr val="dk1"/>
                </a:solidFill>
              </a:rPr>
              <a:t>Add a Project </a:t>
            </a:r>
            <a:r>
              <a:rPr lang="en-GB" sz="1067" dirty="0">
                <a:solidFill>
                  <a:schemeClr val="dk1"/>
                </a:solidFill>
              </a:rPr>
              <a:t>to capture project or role details as context for the request.</a:t>
            </a:r>
            <a:endParaRPr sz="1067" dirty="0">
              <a:solidFill>
                <a:schemeClr val="dk1"/>
              </a:solidFill>
            </a:endParaRPr>
          </a:p>
          <a:p>
            <a:pPr>
              <a:buClr>
                <a:schemeClr val="dk1"/>
              </a:buClr>
              <a:buSzPts val="1100"/>
            </a:pPr>
            <a:endParaRPr sz="1067" dirty="0">
              <a:solidFill>
                <a:schemeClr val="dk1"/>
              </a:solidFill>
            </a:endParaRPr>
          </a:p>
          <a:p>
            <a:pPr>
              <a:buClr>
                <a:schemeClr val="dk1"/>
              </a:buClr>
              <a:buSzPts val="1100"/>
            </a:pPr>
            <a:r>
              <a:rPr lang="en-GB" sz="1067" dirty="0">
                <a:solidFill>
                  <a:schemeClr val="dk1"/>
                </a:solidFill>
              </a:rPr>
              <a:t>Although you will also see the option to "Select" a project from a list, </a:t>
            </a:r>
            <a:r>
              <a:rPr lang="en-GB" sz="1067" b="1" dirty="0">
                <a:solidFill>
                  <a:schemeClr val="dk1"/>
                </a:solidFill>
              </a:rPr>
              <a:t>please note that this feature is not active in our territory</a:t>
            </a:r>
            <a:r>
              <a:rPr lang="en-GB" sz="1067" dirty="0">
                <a:solidFill>
                  <a:schemeClr val="dk1"/>
                </a:solidFill>
              </a:rPr>
              <a:t>. It is a system functionality used in other parts of the network.</a:t>
            </a:r>
            <a:endParaRPr sz="1600" dirty="0">
              <a:solidFill>
                <a:schemeClr val="dk1"/>
              </a:solidFill>
              <a:highlight>
                <a:schemeClr val="lt1"/>
              </a:highlight>
            </a:endParaRPr>
          </a:p>
          <a:p>
            <a:pPr>
              <a:buClr>
                <a:schemeClr val="dk1"/>
              </a:buClr>
              <a:buSzPts val="1100"/>
            </a:pPr>
            <a:endParaRPr sz="1067" dirty="0">
              <a:solidFill>
                <a:schemeClr val="dk1"/>
              </a:solidFill>
            </a:endParaRPr>
          </a:p>
          <a:p>
            <a:pPr>
              <a:buClr>
                <a:schemeClr val="dk1"/>
              </a:buClr>
              <a:buSzPts val="1100"/>
            </a:pPr>
            <a:r>
              <a:rPr lang="en-GB" sz="1067" dirty="0">
                <a:solidFill>
                  <a:schemeClr val="dk1"/>
                </a:solidFill>
              </a:rPr>
              <a:t>When manually creating your project, </a:t>
            </a:r>
            <a:r>
              <a:rPr lang="en-GB" sz="1067" b="1" dirty="0">
                <a:solidFill>
                  <a:schemeClr val="dk1"/>
                </a:solidFill>
              </a:rPr>
              <a:t>Project name</a:t>
            </a:r>
            <a:r>
              <a:rPr lang="en-GB" sz="1067" dirty="0">
                <a:solidFill>
                  <a:schemeClr val="dk1"/>
                </a:solidFill>
              </a:rPr>
              <a:t> is the only mandatory field. The other details are optional to complete if you believe they would be helpful for the feedback provider.</a:t>
            </a:r>
            <a:endParaRPr sz="1067" dirty="0">
              <a:solidFill>
                <a:schemeClr val="dk1"/>
              </a:solidFill>
            </a:endParaRPr>
          </a:p>
          <a:p>
            <a:pPr>
              <a:buClr>
                <a:schemeClr val="dk1"/>
              </a:buClr>
              <a:buSzPts val="1100"/>
            </a:pPr>
            <a:endParaRPr sz="1067" dirty="0">
              <a:solidFill>
                <a:schemeClr val="dk1"/>
              </a:solidFill>
            </a:endParaRPr>
          </a:p>
          <a:p>
            <a:pPr>
              <a:buClr>
                <a:schemeClr val="dk1"/>
              </a:buClr>
              <a:buSzPts val="1100"/>
            </a:pPr>
            <a:r>
              <a:rPr lang="en-GB" sz="1067" dirty="0">
                <a:solidFill>
                  <a:schemeClr val="dk1"/>
                </a:solidFill>
              </a:rPr>
              <a:t>You can request multiple pieces of feedback against the same project.</a:t>
            </a:r>
            <a:endParaRPr sz="1067" b="1" dirty="0">
              <a:solidFill>
                <a:schemeClr val="dk1"/>
              </a:solidFill>
            </a:endParaRPr>
          </a:p>
        </p:txBody>
      </p:sp>
      <p:sp>
        <p:nvSpPr>
          <p:cNvPr id="442" name="Google Shape;442;p54">
            <a:extLst>
              <a:ext uri="{FF2B5EF4-FFF2-40B4-BE49-F238E27FC236}">
                <a16:creationId xmlns:a16="http://schemas.microsoft.com/office/drawing/2014/main" id="{F6BD7BA9-E5A4-7EE3-2433-841961EBB4D2}"/>
              </a:ext>
            </a:extLst>
          </p:cNvPr>
          <p:cNvSpPr txBox="1"/>
          <p:nvPr/>
        </p:nvSpPr>
        <p:spPr>
          <a:xfrm>
            <a:off x="8473367" y="140400"/>
            <a:ext cx="3615600" cy="186800"/>
          </a:xfrm>
          <a:prstGeom prst="rect">
            <a:avLst/>
          </a:prstGeom>
          <a:noFill/>
          <a:ln>
            <a:noFill/>
          </a:ln>
        </p:spPr>
        <p:txBody>
          <a:bodyPr spcFirstLastPara="1" wrap="square" lIns="48000" tIns="24000" rIns="24000" bIns="24000" anchor="t" anchorCtr="0">
            <a:noAutofit/>
          </a:bodyPr>
          <a:lstStyle/>
          <a:p>
            <a:r>
              <a:rPr lang="en-GB" sz="800" u="sng">
                <a:solidFill>
                  <a:schemeClr val="dk2"/>
                </a:solidFill>
                <a:hlinkClick r:id="" action="ppaction://noaction">
                  <a:extLst>
                    <a:ext uri="{A12FA001-AC4F-418D-AE19-62706E023703}">
                      <ahyp:hlinkClr xmlns:ahyp="http://schemas.microsoft.com/office/drawing/2018/hyperlinkcolor" val="tx"/>
                    </a:ext>
                  </a:extLst>
                </a:hlinkClick>
              </a:rPr>
              <a:t>Introduction</a:t>
            </a:r>
            <a:r>
              <a:rPr lang="en-GB" sz="800">
                <a:solidFill>
                  <a:schemeClr val="dk2"/>
                </a:solidFill>
              </a:rPr>
              <a:t> | </a:t>
            </a:r>
            <a:r>
              <a:rPr lang="en-GB" sz="800" u="sng">
                <a:solidFill>
                  <a:schemeClr val="hlink"/>
                </a:solidFill>
                <a:hlinkClick r:id="" action="ppaction://noaction"/>
              </a:rPr>
              <a:t>Key things to know</a:t>
            </a:r>
            <a:r>
              <a:rPr lang="en-GB" sz="800">
                <a:solidFill>
                  <a:schemeClr val="dk2"/>
                </a:solidFill>
              </a:rPr>
              <a:t> | </a:t>
            </a:r>
            <a:r>
              <a:rPr lang="en-GB" sz="800" u="sng">
                <a:solidFill>
                  <a:schemeClr val="dk2"/>
                </a:solidFill>
                <a:hlinkClick r:id="" action="ppaction://noaction">
                  <a:extLst>
                    <a:ext uri="{A12FA001-AC4F-418D-AE19-62706E023703}">
                      <ahyp:hlinkClr xmlns:ahyp="http://schemas.microsoft.com/office/drawing/2018/hyperlinkcolor" val="tx"/>
                    </a:ext>
                  </a:extLst>
                </a:hlinkClick>
              </a:rPr>
              <a:t>Question overview</a:t>
            </a:r>
            <a:r>
              <a:rPr lang="en-GB" sz="800">
                <a:solidFill>
                  <a:schemeClr val="dk2"/>
                </a:solidFill>
              </a:rPr>
              <a:t> | </a:t>
            </a:r>
            <a:r>
              <a:rPr lang="en-GB" sz="800" u="sng">
                <a:solidFill>
                  <a:schemeClr val="dk2"/>
                </a:solidFill>
                <a:hlinkClick r:id="" action="ppaction://noaction">
                  <a:extLst>
                    <a:ext uri="{A12FA001-AC4F-418D-AE19-62706E023703}">
                      <ahyp:hlinkClr xmlns:ahyp="http://schemas.microsoft.com/office/drawing/2018/hyperlinkcolor" val="tx"/>
                    </a:ext>
                  </a:extLst>
                </a:hlinkClick>
              </a:rPr>
              <a:t>Response overview</a:t>
            </a:r>
            <a:endParaRPr sz="800">
              <a:solidFill>
                <a:schemeClr val="dk2"/>
              </a:solidFill>
            </a:endParaRPr>
          </a:p>
        </p:txBody>
      </p:sp>
      <p:sp>
        <p:nvSpPr>
          <p:cNvPr id="443" name="Google Shape;443;p54">
            <a:extLst>
              <a:ext uri="{FF2B5EF4-FFF2-40B4-BE49-F238E27FC236}">
                <a16:creationId xmlns:a16="http://schemas.microsoft.com/office/drawing/2014/main" id="{0D1293E4-DB4C-B8B3-FCD5-0DF24D94D72A}"/>
              </a:ext>
            </a:extLst>
          </p:cNvPr>
          <p:cNvSpPr txBox="1"/>
          <p:nvPr/>
        </p:nvSpPr>
        <p:spPr>
          <a:xfrm>
            <a:off x="2323400" y="6504833"/>
            <a:ext cx="9607200" cy="257600"/>
          </a:xfrm>
          <a:prstGeom prst="rect">
            <a:avLst/>
          </a:prstGeom>
          <a:solidFill>
            <a:srgbClr val="DEDEDE">
              <a:alpha val="0"/>
            </a:srgbClr>
          </a:solidFill>
          <a:ln>
            <a:noFill/>
          </a:ln>
        </p:spPr>
        <p:txBody>
          <a:bodyPr spcFirstLastPara="1" wrap="square" lIns="72000" tIns="72000" rIns="72000" bIns="72000" anchor="t" anchorCtr="0">
            <a:noAutofit/>
          </a:bodyPr>
          <a:lstStyle/>
          <a:p>
            <a:pPr algn="r"/>
            <a:r>
              <a:rPr lang="en-GB" sz="867" i="1"/>
              <a:t>For more detailed step-by-step instructions and a demo on creating a feedback request, refer to the </a:t>
            </a:r>
            <a:r>
              <a:rPr lang="en-GB" sz="867" i="1" u="sng">
                <a:solidFill>
                  <a:schemeClr val="hlink"/>
                </a:solidFill>
                <a:hlinkClick r:id="rId5"/>
              </a:rPr>
              <a:t>Requesting Multi-Directional Feedback QRC</a:t>
            </a:r>
            <a:r>
              <a:rPr lang="en-GB" sz="867" i="1">
                <a:solidFill>
                  <a:schemeClr val="dk1"/>
                </a:solidFill>
              </a:rPr>
              <a:t>.</a:t>
            </a:r>
            <a:endParaRPr sz="867" i="1">
              <a:solidFill>
                <a:schemeClr val="dk1"/>
              </a:solidFill>
            </a:endParaRPr>
          </a:p>
        </p:txBody>
      </p:sp>
      <p:pic>
        <p:nvPicPr>
          <p:cNvPr id="3" name="Google Shape;420;p53">
            <a:extLst>
              <a:ext uri="{FF2B5EF4-FFF2-40B4-BE49-F238E27FC236}">
                <a16:creationId xmlns:a16="http://schemas.microsoft.com/office/drawing/2014/main" id="{BE784C6A-AD22-53C4-EF7A-CE7C4038B182}"/>
              </a:ext>
            </a:extLst>
          </p:cNvPr>
          <p:cNvPicPr preferRelativeResize="0"/>
          <p:nvPr/>
        </p:nvPicPr>
        <p:blipFill>
          <a:blip r:embed="rId6">
            <a:alphaModFix/>
          </a:blip>
          <a:stretch>
            <a:fillRect/>
          </a:stretch>
        </p:blipFill>
        <p:spPr>
          <a:xfrm>
            <a:off x="9132171" y="645659"/>
            <a:ext cx="2913929" cy="2632928"/>
          </a:xfrm>
          <a:prstGeom prst="rect">
            <a:avLst/>
          </a:prstGeom>
          <a:noFill/>
          <a:ln w="19050" cap="flat" cmpd="sng">
            <a:solidFill>
              <a:schemeClr val="accent6"/>
            </a:solidFill>
            <a:prstDash val="solid"/>
            <a:round/>
            <a:headEnd type="none" w="sm" len="sm"/>
            <a:tailEnd type="none" w="sm" len="sm"/>
          </a:ln>
        </p:spPr>
      </p:pic>
      <p:sp>
        <p:nvSpPr>
          <p:cNvPr id="5" name="Google Shape;421;p53">
            <a:extLst>
              <a:ext uri="{FF2B5EF4-FFF2-40B4-BE49-F238E27FC236}">
                <a16:creationId xmlns:a16="http://schemas.microsoft.com/office/drawing/2014/main" id="{D32300B8-D3A9-4EFB-57A4-4E14F9D5F18A}"/>
              </a:ext>
            </a:extLst>
          </p:cNvPr>
          <p:cNvSpPr/>
          <p:nvPr/>
        </p:nvSpPr>
        <p:spPr>
          <a:xfrm>
            <a:off x="442900" y="1640698"/>
            <a:ext cx="5650400" cy="1767600"/>
          </a:xfrm>
          <a:prstGeom prst="wedgeRectCallout">
            <a:avLst>
              <a:gd name="adj1" fmla="val 101719"/>
              <a:gd name="adj2" fmla="val 10397"/>
            </a:avLst>
          </a:prstGeom>
          <a:solidFill>
            <a:schemeClr val="lt1"/>
          </a:solidFill>
          <a:ln w="19050"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a:buClr>
                <a:schemeClr val="dk1"/>
              </a:buClr>
              <a:buSzPts val="1100"/>
            </a:pPr>
            <a:r>
              <a:rPr lang="en-GB" sz="1067" b="1" dirty="0">
                <a:solidFill>
                  <a:schemeClr val="dk1"/>
                </a:solidFill>
              </a:rPr>
              <a:t>Selecting a project: </a:t>
            </a:r>
            <a:r>
              <a:rPr lang="en-GB" sz="1067" dirty="0">
                <a:solidFill>
                  <a:schemeClr val="dk1"/>
                </a:solidFill>
              </a:rPr>
              <a:t>For </a:t>
            </a:r>
            <a:r>
              <a:rPr lang="en-GB" sz="1067" b="1" dirty="0">
                <a:solidFill>
                  <a:schemeClr val="dk1"/>
                </a:solidFill>
              </a:rPr>
              <a:t>downward </a:t>
            </a:r>
            <a:r>
              <a:rPr lang="en-GB" sz="1067" dirty="0">
                <a:solidFill>
                  <a:schemeClr val="dk1"/>
                </a:solidFill>
              </a:rPr>
              <a:t>feedback, projects where you have charged time will auto-populate. Select the project you want to receive feedback against.</a:t>
            </a:r>
            <a:endParaRPr sz="1067" dirty="0">
              <a:solidFill>
                <a:schemeClr val="dk1"/>
              </a:solidFill>
            </a:endParaRPr>
          </a:p>
          <a:p>
            <a:pPr>
              <a:buClr>
                <a:schemeClr val="dk1"/>
              </a:buClr>
              <a:buSzPts val="1100"/>
            </a:pPr>
            <a:endParaRPr sz="1067" dirty="0">
              <a:solidFill>
                <a:schemeClr val="dk1"/>
              </a:solidFill>
            </a:endParaRPr>
          </a:p>
          <a:p>
            <a:pPr>
              <a:buClr>
                <a:schemeClr val="dk1"/>
              </a:buClr>
              <a:buSzPts val="1100"/>
            </a:pPr>
            <a:r>
              <a:rPr lang="en-GB" sz="1067" dirty="0">
                <a:solidFill>
                  <a:schemeClr val="dk1"/>
                </a:solidFill>
              </a:rPr>
              <a:t>You will also have the option to manually </a:t>
            </a:r>
            <a:r>
              <a:rPr lang="en-GB" sz="1067" b="1" dirty="0">
                <a:solidFill>
                  <a:schemeClr val="dk1"/>
                </a:solidFill>
              </a:rPr>
              <a:t>Add a Project </a:t>
            </a:r>
            <a:r>
              <a:rPr lang="en-GB" sz="1067" dirty="0">
                <a:solidFill>
                  <a:schemeClr val="dk1"/>
                </a:solidFill>
              </a:rPr>
              <a:t>(e.g. if you want to receive feedback for an internal project not distinctly captured in your project data).</a:t>
            </a:r>
            <a:endParaRPr sz="1067" dirty="0">
              <a:solidFill>
                <a:schemeClr val="dk1"/>
              </a:solidFill>
            </a:endParaRPr>
          </a:p>
          <a:p>
            <a:pPr>
              <a:buClr>
                <a:schemeClr val="dk1"/>
              </a:buClr>
              <a:buSzPts val="1100"/>
            </a:pPr>
            <a:endParaRPr sz="1067" dirty="0">
              <a:solidFill>
                <a:schemeClr val="dk1"/>
              </a:solidFill>
            </a:endParaRPr>
          </a:p>
          <a:p>
            <a:pPr>
              <a:buClr>
                <a:schemeClr val="dk1"/>
              </a:buClr>
              <a:buSzPts val="1100"/>
            </a:pPr>
            <a:r>
              <a:rPr lang="en-GB" sz="1067" b="1" dirty="0">
                <a:solidFill>
                  <a:schemeClr val="dk1"/>
                </a:solidFill>
              </a:rPr>
              <a:t>Hours </a:t>
            </a:r>
            <a:r>
              <a:rPr lang="en-GB" sz="1067" dirty="0">
                <a:solidFill>
                  <a:schemeClr val="dk1"/>
                </a:solidFill>
              </a:rPr>
              <a:t>charged to a project will show as a reference point but do not need to be allocated to individual feedback requests. You can request multiple pieces of feedback against the same project.</a:t>
            </a:r>
            <a:endParaRPr sz="1067" dirty="0">
              <a:solidFill>
                <a:schemeClr val="dk1"/>
              </a:solidFill>
            </a:endParaRPr>
          </a:p>
        </p:txBody>
      </p:sp>
    </p:spTree>
    <p:extLst>
      <p:ext uri="{BB962C8B-B14F-4D97-AF65-F5344CB8AC3E}">
        <p14:creationId xmlns:p14="http://schemas.microsoft.com/office/powerpoint/2010/main" val="1999521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7">
          <a:extLst>
            <a:ext uri="{FF2B5EF4-FFF2-40B4-BE49-F238E27FC236}">
              <a16:creationId xmlns:a16="http://schemas.microsoft.com/office/drawing/2014/main" id="{E134AA74-CB8E-E2EA-1786-4485337A20D5}"/>
            </a:ext>
          </a:extLst>
        </p:cNvPr>
        <p:cNvGrpSpPr/>
        <p:nvPr/>
      </p:nvGrpSpPr>
      <p:grpSpPr>
        <a:xfrm>
          <a:off x="0" y="0"/>
          <a:ext cx="0" cy="0"/>
          <a:chOff x="0" y="0"/>
          <a:chExt cx="0" cy="0"/>
        </a:xfrm>
      </p:grpSpPr>
      <p:sp>
        <p:nvSpPr>
          <p:cNvPr id="448" name="Google Shape;448;p55">
            <a:extLst>
              <a:ext uri="{FF2B5EF4-FFF2-40B4-BE49-F238E27FC236}">
                <a16:creationId xmlns:a16="http://schemas.microsoft.com/office/drawing/2014/main" id="{0A3B6593-B94A-541F-2694-F0C631D5F3A0}"/>
              </a:ext>
            </a:extLst>
          </p:cNvPr>
          <p:cNvSpPr txBox="1">
            <a:spLocks noGrp="1"/>
          </p:cNvSpPr>
          <p:nvPr>
            <p:ph type="title"/>
          </p:nvPr>
        </p:nvSpPr>
        <p:spPr>
          <a:xfrm>
            <a:off x="442913" y="430513"/>
            <a:ext cx="11306000" cy="502800"/>
          </a:xfrm>
          <a:prstGeom prst="rect">
            <a:avLst/>
          </a:prstGeom>
        </p:spPr>
        <p:txBody>
          <a:bodyPr spcFirstLastPara="1" wrap="square" lIns="0" tIns="0" rIns="0" bIns="0" anchor="t" anchorCtr="0">
            <a:noAutofit/>
          </a:bodyPr>
          <a:lstStyle/>
          <a:p>
            <a:r>
              <a:rPr lang="en-GB" sz="2400"/>
              <a:t>Key things to know about </a:t>
            </a:r>
            <a:r>
              <a:rPr lang="en-GB" sz="2400" b="1"/>
              <a:t>giving</a:t>
            </a:r>
            <a:r>
              <a:rPr lang="en-GB" sz="2400"/>
              <a:t> feedback</a:t>
            </a:r>
            <a:endParaRPr sz="2400"/>
          </a:p>
          <a:p>
            <a:pPr>
              <a:lnSpc>
                <a:spcPct val="100000"/>
              </a:lnSpc>
            </a:pPr>
            <a:r>
              <a:rPr lang="en-GB" sz="1333">
                <a:solidFill>
                  <a:srgbClr val="252525"/>
                </a:solidFill>
              </a:rPr>
              <a:t>Feedback Exchange has been designed to be user-friendly, so users shouldn’t require detailed guidance. However, here are a few key tips to keep in mind:</a:t>
            </a:r>
            <a:endParaRPr sz="2400"/>
          </a:p>
        </p:txBody>
      </p:sp>
      <p:pic>
        <p:nvPicPr>
          <p:cNvPr id="449" name="Google Shape;449;p55">
            <a:extLst>
              <a:ext uri="{FF2B5EF4-FFF2-40B4-BE49-F238E27FC236}">
                <a16:creationId xmlns:a16="http://schemas.microsoft.com/office/drawing/2014/main" id="{735BC4C3-10F9-21CD-7D63-43C820A4A5CE}"/>
              </a:ext>
            </a:extLst>
          </p:cNvPr>
          <p:cNvPicPr preferRelativeResize="0"/>
          <p:nvPr/>
        </p:nvPicPr>
        <p:blipFill rotWithShape="1">
          <a:blip r:embed="rId3">
            <a:alphaModFix/>
          </a:blip>
          <a:srcRect l="11010" t="11114" r="10955" b="5189"/>
          <a:stretch/>
        </p:blipFill>
        <p:spPr>
          <a:xfrm>
            <a:off x="239200" y="2852567"/>
            <a:ext cx="2935835" cy="3522336"/>
          </a:xfrm>
          <a:prstGeom prst="rect">
            <a:avLst/>
          </a:prstGeom>
          <a:noFill/>
          <a:ln w="19050" cap="flat" cmpd="sng">
            <a:solidFill>
              <a:schemeClr val="accent5"/>
            </a:solidFill>
            <a:prstDash val="solid"/>
            <a:round/>
            <a:headEnd type="none" w="sm" len="sm"/>
            <a:tailEnd type="none" w="sm" len="sm"/>
          </a:ln>
        </p:spPr>
      </p:pic>
      <p:pic>
        <p:nvPicPr>
          <p:cNvPr id="450" name="Google Shape;450;p55">
            <a:extLst>
              <a:ext uri="{FF2B5EF4-FFF2-40B4-BE49-F238E27FC236}">
                <a16:creationId xmlns:a16="http://schemas.microsoft.com/office/drawing/2014/main" id="{EB78C0E9-46D0-5023-E14A-DC6FDE97063D}"/>
              </a:ext>
            </a:extLst>
          </p:cNvPr>
          <p:cNvPicPr preferRelativeResize="0"/>
          <p:nvPr/>
        </p:nvPicPr>
        <p:blipFill rotWithShape="1">
          <a:blip r:embed="rId4">
            <a:alphaModFix/>
          </a:blip>
          <a:srcRect l="11399" t="12040" r="12555" b="18879"/>
          <a:stretch/>
        </p:blipFill>
        <p:spPr>
          <a:xfrm>
            <a:off x="2535916" y="1081865"/>
            <a:ext cx="3255275" cy="3029668"/>
          </a:xfrm>
          <a:prstGeom prst="rect">
            <a:avLst/>
          </a:prstGeom>
          <a:noFill/>
          <a:ln w="19050" cap="flat" cmpd="sng">
            <a:solidFill>
              <a:schemeClr val="accent4"/>
            </a:solidFill>
            <a:prstDash val="solid"/>
            <a:round/>
            <a:headEnd type="none" w="sm" len="sm"/>
            <a:tailEnd type="none" w="sm" len="sm"/>
          </a:ln>
        </p:spPr>
      </p:pic>
      <p:sp>
        <p:nvSpPr>
          <p:cNvPr id="456" name="Google Shape;456;p55">
            <a:extLst>
              <a:ext uri="{FF2B5EF4-FFF2-40B4-BE49-F238E27FC236}">
                <a16:creationId xmlns:a16="http://schemas.microsoft.com/office/drawing/2014/main" id="{0CD5BEE4-7EF5-C22F-5A05-B6735B1C735A}"/>
              </a:ext>
            </a:extLst>
          </p:cNvPr>
          <p:cNvSpPr/>
          <p:nvPr/>
        </p:nvSpPr>
        <p:spPr>
          <a:xfrm>
            <a:off x="6271659" y="1480717"/>
            <a:ext cx="5494000" cy="1028400"/>
          </a:xfrm>
          <a:prstGeom prst="wedgeRectCallout">
            <a:avLst>
              <a:gd name="adj1" fmla="val -92518"/>
              <a:gd name="adj2" fmla="val 11333"/>
            </a:avLst>
          </a:prstGeom>
          <a:solidFill>
            <a:schemeClr val="lt1"/>
          </a:solidFill>
          <a:ln w="19050" cap="flat" cmpd="sng">
            <a:solidFill>
              <a:schemeClr val="accent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a:buClr>
                <a:schemeClr val="dk1"/>
              </a:buClr>
              <a:buSzPts val="1100"/>
            </a:pPr>
            <a:r>
              <a:rPr lang="en-GB" sz="1067" b="1">
                <a:solidFill>
                  <a:schemeClr val="dk1"/>
                </a:solidFill>
              </a:rPr>
              <a:t>Writing additional comments for anonymous feedback:</a:t>
            </a:r>
            <a:r>
              <a:rPr lang="en-GB" sz="1067">
                <a:solidFill>
                  <a:schemeClr val="dk1"/>
                </a:solidFill>
              </a:rPr>
              <a:t> To maintain anonymity for yourself and your colleagues, please avoid using identifiable language in any free text fields. Your feedback will not be shared individually, instead, it will be consolidated, anonymised and released in a batch with other anonymous feedback.</a:t>
            </a:r>
            <a:endParaRPr sz="1067" b="1">
              <a:solidFill>
                <a:schemeClr val="dk1"/>
              </a:solidFill>
            </a:endParaRPr>
          </a:p>
        </p:txBody>
      </p:sp>
      <p:sp>
        <p:nvSpPr>
          <p:cNvPr id="457" name="Google Shape;457;p55">
            <a:extLst>
              <a:ext uri="{FF2B5EF4-FFF2-40B4-BE49-F238E27FC236}">
                <a16:creationId xmlns:a16="http://schemas.microsoft.com/office/drawing/2014/main" id="{E59A5179-AC24-3641-B92F-A4122C206AA9}"/>
              </a:ext>
            </a:extLst>
          </p:cNvPr>
          <p:cNvSpPr/>
          <p:nvPr/>
        </p:nvSpPr>
        <p:spPr>
          <a:xfrm>
            <a:off x="6220983" y="2853967"/>
            <a:ext cx="5561600" cy="900400"/>
          </a:xfrm>
          <a:prstGeom prst="wedgeRectCallout">
            <a:avLst>
              <a:gd name="adj1" fmla="val -88963"/>
              <a:gd name="adj2" fmla="val -34910"/>
            </a:avLst>
          </a:prstGeom>
          <a:solidFill>
            <a:schemeClr val="lt1"/>
          </a:solidFill>
          <a:ln w="19050"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a:buClr>
                <a:schemeClr val="dk1"/>
              </a:buClr>
              <a:buSzPts val="1100"/>
            </a:pPr>
            <a:r>
              <a:rPr lang="en-GB" sz="1050" b="1" dirty="0">
                <a:solidFill>
                  <a:schemeClr val="dk1"/>
                </a:solidFill>
              </a:rPr>
              <a:t>Ask AI:</a:t>
            </a:r>
            <a:r>
              <a:rPr lang="en-GB" sz="1050" dirty="0">
                <a:solidFill>
                  <a:schemeClr val="dk1"/>
                </a:solidFill>
              </a:rPr>
              <a:t> The Ask AI feature is a supporting GenAI resource available on the Additional comments page. It provides you with optional guidance and sample text on how to improve your written feedback.</a:t>
            </a:r>
            <a:endParaRPr sz="1050" dirty="0">
              <a:solidFill>
                <a:schemeClr val="dk1"/>
              </a:solidFill>
            </a:endParaRPr>
          </a:p>
        </p:txBody>
      </p:sp>
      <p:sp>
        <p:nvSpPr>
          <p:cNvPr id="458" name="Google Shape;458;p55">
            <a:extLst>
              <a:ext uri="{FF2B5EF4-FFF2-40B4-BE49-F238E27FC236}">
                <a16:creationId xmlns:a16="http://schemas.microsoft.com/office/drawing/2014/main" id="{8274E3E1-AB25-1A72-64C5-7D1CD208A3D5}"/>
              </a:ext>
            </a:extLst>
          </p:cNvPr>
          <p:cNvSpPr/>
          <p:nvPr/>
        </p:nvSpPr>
        <p:spPr>
          <a:xfrm>
            <a:off x="3837468" y="4249241"/>
            <a:ext cx="5536400" cy="900400"/>
          </a:xfrm>
          <a:prstGeom prst="wedgeRectCallout">
            <a:avLst>
              <a:gd name="adj1" fmla="val -86057"/>
              <a:gd name="adj2" fmla="val 27742"/>
            </a:avLst>
          </a:prstGeom>
          <a:solidFill>
            <a:schemeClr val="lt1"/>
          </a:solidFill>
          <a:ln w="9525"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a:buClr>
                <a:schemeClr val="dk1"/>
              </a:buClr>
              <a:buSzPts val="1100"/>
            </a:pPr>
            <a:r>
              <a:rPr lang="en-GB" sz="1067" b="1">
                <a:solidFill>
                  <a:schemeClr val="dk1"/>
                </a:solidFill>
              </a:rPr>
              <a:t>Responding to Assurance Quality Dimensions: </a:t>
            </a:r>
            <a:r>
              <a:rPr lang="en-GB" sz="1067">
                <a:solidFill>
                  <a:schemeClr val="dk1"/>
                </a:solidFill>
              </a:rPr>
              <a:t>For downward feedback only, if a requester indicated they performed Assurance work, the feedback giver will be prompted to respond to 5 questions based on the </a:t>
            </a:r>
            <a:r>
              <a:rPr lang="en-GB" sz="1067" u="sng">
                <a:solidFill>
                  <a:schemeClr val="dk1"/>
                </a:solidFill>
                <a:hlinkClick r:id="rId5">
                  <a:extLst>
                    <a:ext uri="{A12FA001-AC4F-418D-AE19-62706E023703}">
                      <ahyp:hlinkClr xmlns:ahyp="http://schemas.microsoft.com/office/drawing/2018/hyperlinkcolor" val="tx"/>
                    </a:ext>
                  </a:extLst>
                </a:hlinkClick>
              </a:rPr>
              <a:t>Assurance Quality Dimensions (AQDs) Framework</a:t>
            </a:r>
            <a:r>
              <a:rPr lang="en-GB" sz="1067">
                <a:solidFill>
                  <a:schemeClr val="dk1"/>
                </a:solidFill>
              </a:rPr>
              <a:t>.</a:t>
            </a:r>
            <a:endParaRPr sz="1067" b="1">
              <a:solidFill>
                <a:schemeClr val="dk1"/>
              </a:solidFill>
            </a:endParaRPr>
          </a:p>
        </p:txBody>
      </p:sp>
      <p:sp>
        <p:nvSpPr>
          <p:cNvPr id="459" name="Google Shape;459;p55">
            <a:extLst>
              <a:ext uri="{FF2B5EF4-FFF2-40B4-BE49-F238E27FC236}">
                <a16:creationId xmlns:a16="http://schemas.microsoft.com/office/drawing/2014/main" id="{A3ABD5F5-914B-08E1-EB34-BDAAFAA31E52}"/>
              </a:ext>
            </a:extLst>
          </p:cNvPr>
          <p:cNvSpPr txBox="1"/>
          <p:nvPr/>
        </p:nvSpPr>
        <p:spPr>
          <a:xfrm>
            <a:off x="8473367" y="140400"/>
            <a:ext cx="3615600" cy="186800"/>
          </a:xfrm>
          <a:prstGeom prst="rect">
            <a:avLst/>
          </a:prstGeom>
          <a:noFill/>
          <a:ln>
            <a:noFill/>
          </a:ln>
        </p:spPr>
        <p:txBody>
          <a:bodyPr spcFirstLastPara="1" wrap="square" lIns="48000" tIns="24000" rIns="24000" bIns="24000" anchor="t" anchorCtr="0">
            <a:noAutofit/>
          </a:bodyPr>
          <a:lstStyle/>
          <a:p>
            <a:r>
              <a:rPr lang="en-GB" sz="800" u="sng">
                <a:solidFill>
                  <a:schemeClr val="dk2"/>
                </a:solidFill>
                <a:hlinkClick r:id="" action="ppaction://noaction">
                  <a:extLst>
                    <a:ext uri="{A12FA001-AC4F-418D-AE19-62706E023703}">
                      <ahyp:hlinkClr xmlns:ahyp="http://schemas.microsoft.com/office/drawing/2018/hyperlinkcolor" val="tx"/>
                    </a:ext>
                  </a:extLst>
                </a:hlinkClick>
              </a:rPr>
              <a:t>Introduction</a:t>
            </a:r>
            <a:r>
              <a:rPr lang="en-GB" sz="800">
                <a:solidFill>
                  <a:schemeClr val="dk2"/>
                </a:solidFill>
              </a:rPr>
              <a:t> | </a:t>
            </a:r>
            <a:r>
              <a:rPr lang="en-GB" sz="800" u="sng">
                <a:solidFill>
                  <a:schemeClr val="hlink"/>
                </a:solidFill>
                <a:hlinkClick r:id="" action="ppaction://noaction"/>
              </a:rPr>
              <a:t>Key things to know</a:t>
            </a:r>
            <a:r>
              <a:rPr lang="en-GB" sz="800">
                <a:solidFill>
                  <a:schemeClr val="dk2"/>
                </a:solidFill>
              </a:rPr>
              <a:t> | </a:t>
            </a:r>
            <a:r>
              <a:rPr lang="en-GB" sz="800" u="sng">
                <a:solidFill>
                  <a:schemeClr val="dk2"/>
                </a:solidFill>
                <a:hlinkClick r:id="" action="ppaction://noaction">
                  <a:extLst>
                    <a:ext uri="{A12FA001-AC4F-418D-AE19-62706E023703}">
                      <ahyp:hlinkClr xmlns:ahyp="http://schemas.microsoft.com/office/drawing/2018/hyperlinkcolor" val="tx"/>
                    </a:ext>
                  </a:extLst>
                </a:hlinkClick>
              </a:rPr>
              <a:t>Question overview</a:t>
            </a:r>
            <a:r>
              <a:rPr lang="en-GB" sz="800">
                <a:solidFill>
                  <a:schemeClr val="dk2"/>
                </a:solidFill>
              </a:rPr>
              <a:t> | </a:t>
            </a:r>
            <a:r>
              <a:rPr lang="en-GB" sz="800" u="sng">
                <a:solidFill>
                  <a:schemeClr val="dk2"/>
                </a:solidFill>
                <a:hlinkClick r:id="" action="ppaction://noaction">
                  <a:extLst>
                    <a:ext uri="{A12FA001-AC4F-418D-AE19-62706E023703}">
                      <ahyp:hlinkClr xmlns:ahyp="http://schemas.microsoft.com/office/drawing/2018/hyperlinkcolor" val="tx"/>
                    </a:ext>
                  </a:extLst>
                </a:hlinkClick>
              </a:rPr>
              <a:t>Response overview</a:t>
            </a:r>
            <a:endParaRPr sz="800">
              <a:solidFill>
                <a:schemeClr val="dk2"/>
              </a:solidFill>
            </a:endParaRPr>
          </a:p>
        </p:txBody>
      </p:sp>
      <p:sp>
        <p:nvSpPr>
          <p:cNvPr id="460" name="Google Shape;460;p55">
            <a:extLst>
              <a:ext uri="{FF2B5EF4-FFF2-40B4-BE49-F238E27FC236}">
                <a16:creationId xmlns:a16="http://schemas.microsoft.com/office/drawing/2014/main" id="{2F710BA6-C83C-544A-1990-EDD32008CD45}"/>
              </a:ext>
            </a:extLst>
          </p:cNvPr>
          <p:cNvSpPr txBox="1"/>
          <p:nvPr/>
        </p:nvSpPr>
        <p:spPr>
          <a:xfrm>
            <a:off x="2323400" y="6504833"/>
            <a:ext cx="9607200" cy="257600"/>
          </a:xfrm>
          <a:prstGeom prst="rect">
            <a:avLst/>
          </a:prstGeom>
          <a:solidFill>
            <a:srgbClr val="DEDEDE">
              <a:alpha val="0"/>
            </a:srgbClr>
          </a:solidFill>
          <a:ln>
            <a:noFill/>
          </a:ln>
        </p:spPr>
        <p:txBody>
          <a:bodyPr spcFirstLastPara="1" wrap="square" lIns="72000" tIns="72000" rIns="72000" bIns="72000" anchor="t" anchorCtr="0">
            <a:noAutofit/>
          </a:bodyPr>
          <a:lstStyle/>
          <a:p>
            <a:pPr algn="r"/>
            <a:r>
              <a:rPr lang="en-GB" sz="867" i="1"/>
              <a:t>For more detailed step-by-step instructions and a demo on giving feedback, refer to the </a:t>
            </a:r>
            <a:r>
              <a:rPr lang="en-GB" sz="867" i="1" u="sng">
                <a:solidFill>
                  <a:schemeClr val="hlink"/>
                </a:solidFill>
                <a:hlinkClick r:id="rId6"/>
              </a:rPr>
              <a:t>Giving Multi-Directional Feedback QRC</a:t>
            </a:r>
            <a:r>
              <a:rPr lang="en-GB" sz="867" i="1">
                <a:solidFill>
                  <a:schemeClr val="dk1"/>
                </a:solidFill>
              </a:rPr>
              <a:t>.</a:t>
            </a:r>
            <a:endParaRPr sz="867" i="1">
              <a:solidFill>
                <a:schemeClr val="dk1"/>
              </a:solidFill>
            </a:endParaRPr>
          </a:p>
        </p:txBody>
      </p:sp>
    </p:spTree>
    <p:extLst>
      <p:ext uri="{BB962C8B-B14F-4D97-AF65-F5344CB8AC3E}">
        <p14:creationId xmlns:p14="http://schemas.microsoft.com/office/powerpoint/2010/main" val="2950437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4">
          <a:extLst>
            <a:ext uri="{FF2B5EF4-FFF2-40B4-BE49-F238E27FC236}">
              <a16:creationId xmlns:a16="http://schemas.microsoft.com/office/drawing/2014/main" id="{1AF7D82D-4A73-1CA7-7E55-E37B11E44BF4}"/>
            </a:ext>
          </a:extLst>
        </p:cNvPr>
        <p:cNvGrpSpPr/>
        <p:nvPr/>
      </p:nvGrpSpPr>
      <p:grpSpPr>
        <a:xfrm>
          <a:off x="0" y="0"/>
          <a:ext cx="0" cy="0"/>
          <a:chOff x="0" y="0"/>
          <a:chExt cx="0" cy="0"/>
        </a:xfrm>
      </p:grpSpPr>
      <p:pic>
        <p:nvPicPr>
          <p:cNvPr id="465" name="Google Shape;465;p56">
            <a:extLst>
              <a:ext uri="{FF2B5EF4-FFF2-40B4-BE49-F238E27FC236}">
                <a16:creationId xmlns:a16="http://schemas.microsoft.com/office/drawing/2014/main" id="{ED392D7F-514C-1EB4-B09E-6CBAFB00DC49}"/>
              </a:ext>
            </a:extLst>
          </p:cNvPr>
          <p:cNvPicPr preferRelativeResize="0"/>
          <p:nvPr/>
        </p:nvPicPr>
        <p:blipFill rotWithShape="1">
          <a:blip r:embed="rId3">
            <a:alphaModFix/>
          </a:blip>
          <a:srcRect l="24494"/>
          <a:stretch/>
        </p:blipFill>
        <p:spPr>
          <a:xfrm>
            <a:off x="442901" y="1396001"/>
            <a:ext cx="4309585" cy="4908665"/>
          </a:xfrm>
          <a:prstGeom prst="rect">
            <a:avLst/>
          </a:prstGeom>
          <a:noFill/>
          <a:ln w="19050" cap="flat" cmpd="sng">
            <a:solidFill>
              <a:schemeClr val="accent5"/>
            </a:solidFill>
            <a:prstDash val="solid"/>
            <a:round/>
            <a:headEnd type="none" w="sm" len="sm"/>
            <a:tailEnd type="none" w="sm" len="sm"/>
          </a:ln>
        </p:spPr>
      </p:pic>
      <p:sp>
        <p:nvSpPr>
          <p:cNvPr id="466" name="Google Shape;466;p56">
            <a:extLst>
              <a:ext uri="{FF2B5EF4-FFF2-40B4-BE49-F238E27FC236}">
                <a16:creationId xmlns:a16="http://schemas.microsoft.com/office/drawing/2014/main" id="{C2DB991F-0D60-DAB6-9D1B-0E2D0A478A1C}"/>
              </a:ext>
            </a:extLst>
          </p:cNvPr>
          <p:cNvSpPr txBox="1">
            <a:spLocks noGrp="1"/>
          </p:cNvSpPr>
          <p:nvPr>
            <p:ph type="title"/>
          </p:nvPr>
        </p:nvSpPr>
        <p:spPr>
          <a:xfrm>
            <a:off x="442913" y="430513"/>
            <a:ext cx="11306000" cy="502800"/>
          </a:xfrm>
          <a:prstGeom prst="rect">
            <a:avLst/>
          </a:prstGeom>
        </p:spPr>
        <p:txBody>
          <a:bodyPr spcFirstLastPara="1" wrap="square" lIns="0" tIns="0" rIns="0" bIns="0" anchor="t" anchorCtr="0">
            <a:noAutofit/>
          </a:bodyPr>
          <a:lstStyle/>
          <a:p>
            <a:r>
              <a:rPr lang="en-GB" sz="2400"/>
              <a:t>Key things to know about </a:t>
            </a:r>
            <a:r>
              <a:rPr lang="en-GB" sz="2400" b="1"/>
              <a:t>managing &amp; viewing</a:t>
            </a:r>
            <a:r>
              <a:rPr lang="en-GB" sz="2400"/>
              <a:t> feedback</a:t>
            </a:r>
            <a:endParaRPr sz="2400"/>
          </a:p>
          <a:p>
            <a:pPr>
              <a:lnSpc>
                <a:spcPct val="100000"/>
              </a:lnSpc>
              <a:buSzPts val="1100"/>
            </a:pPr>
            <a:r>
              <a:rPr lang="en-GB" sz="1333">
                <a:solidFill>
                  <a:srgbClr val="252525"/>
                </a:solidFill>
              </a:rPr>
              <a:t>Feedback Exchange has been designed to be user-friendly, so users shouldn’t require detailed guidance. However, here are a few key tips to keep in mind:</a:t>
            </a:r>
            <a:endParaRPr sz="2400"/>
          </a:p>
        </p:txBody>
      </p:sp>
      <p:sp>
        <p:nvSpPr>
          <p:cNvPr id="467" name="Google Shape;467;p56">
            <a:extLst>
              <a:ext uri="{FF2B5EF4-FFF2-40B4-BE49-F238E27FC236}">
                <a16:creationId xmlns:a16="http://schemas.microsoft.com/office/drawing/2014/main" id="{AAC3E8FB-329F-AF3E-3977-B656D800E5CF}"/>
              </a:ext>
            </a:extLst>
          </p:cNvPr>
          <p:cNvSpPr txBox="1"/>
          <p:nvPr/>
        </p:nvSpPr>
        <p:spPr>
          <a:xfrm>
            <a:off x="1268633" y="6491300"/>
            <a:ext cx="10550800" cy="257600"/>
          </a:xfrm>
          <a:prstGeom prst="rect">
            <a:avLst/>
          </a:prstGeom>
          <a:solidFill>
            <a:srgbClr val="DEDEDE">
              <a:alpha val="0"/>
            </a:srgbClr>
          </a:solidFill>
          <a:ln>
            <a:noFill/>
          </a:ln>
        </p:spPr>
        <p:txBody>
          <a:bodyPr spcFirstLastPara="1" wrap="square" lIns="72000" tIns="72000" rIns="72000" bIns="72000" anchor="t" anchorCtr="0">
            <a:noAutofit/>
          </a:bodyPr>
          <a:lstStyle/>
          <a:p>
            <a:pPr algn="r"/>
            <a:r>
              <a:rPr lang="en-GB" sz="867" i="1"/>
              <a:t>For more detailed step-by-step instructions and a demo on managing and viewing feedback requests, </a:t>
            </a:r>
            <a:r>
              <a:rPr lang="en-GB" sz="867" i="1">
                <a:solidFill>
                  <a:schemeClr val="dk1"/>
                </a:solidFill>
              </a:rPr>
              <a:t>refer to the </a:t>
            </a:r>
            <a:r>
              <a:rPr lang="en-GB" sz="867" i="1" u="sng">
                <a:solidFill>
                  <a:schemeClr val="hlink"/>
                </a:solidFill>
                <a:hlinkClick r:id="rId4"/>
              </a:rPr>
              <a:t>Viewing Multi-Directional Feedback QRC</a:t>
            </a:r>
            <a:r>
              <a:rPr lang="en-GB" sz="867" i="1">
                <a:solidFill>
                  <a:schemeClr val="dk1"/>
                </a:solidFill>
              </a:rPr>
              <a:t>.</a:t>
            </a:r>
            <a:endParaRPr sz="867" i="1">
              <a:solidFill>
                <a:schemeClr val="dk1"/>
              </a:solidFill>
            </a:endParaRPr>
          </a:p>
          <a:p>
            <a:pPr algn="r"/>
            <a:endParaRPr sz="867" i="1"/>
          </a:p>
          <a:p>
            <a:pPr algn="r"/>
            <a:endParaRPr sz="867" i="1"/>
          </a:p>
        </p:txBody>
      </p:sp>
      <p:sp>
        <p:nvSpPr>
          <p:cNvPr id="468" name="Google Shape;468;p56">
            <a:extLst>
              <a:ext uri="{FF2B5EF4-FFF2-40B4-BE49-F238E27FC236}">
                <a16:creationId xmlns:a16="http://schemas.microsoft.com/office/drawing/2014/main" id="{28AF64E4-04DE-12D5-8329-979A2B3163D7}"/>
              </a:ext>
            </a:extLst>
          </p:cNvPr>
          <p:cNvSpPr/>
          <p:nvPr/>
        </p:nvSpPr>
        <p:spPr>
          <a:xfrm flipH="1">
            <a:off x="5678967" y="1362217"/>
            <a:ext cx="6297200" cy="846400"/>
          </a:xfrm>
          <a:prstGeom prst="wedgeRectCallout">
            <a:avLst>
              <a:gd name="adj1" fmla="val 73180"/>
              <a:gd name="adj2" fmla="val 53906"/>
            </a:avLst>
          </a:prstGeom>
          <a:solidFill>
            <a:schemeClr val="lt1"/>
          </a:solidFill>
          <a:ln w="19050" cap="flat" cmpd="sng">
            <a:solidFill>
              <a:schemeClr val="accent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a:buClr>
                <a:schemeClr val="dk1"/>
              </a:buClr>
              <a:buSzPts val="1100"/>
            </a:pPr>
            <a:r>
              <a:rPr lang="en-GB" sz="1050" b="1" dirty="0">
                <a:solidFill>
                  <a:schemeClr val="dk1"/>
                </a:solidFill>
              </a:rPr>
              <a:t>Viewing upward feedback: </a:t>
            </a:r>
            <a:r>
              <a:rPr lang="en-GB" sz="1050" dirty="0">
                <a:solidFill>
                  <a:schemeClr val="dk1"/>
                </a:solidFill>
              </a:rPr>
              <a:t>Upward (anonymous) feedback is not immediately available to view unless a minimum threshold has been met. It is made visible to the requester (and their Team Leader / Career Coach) in batches of three completed requests. Once a batch is visible, the threshold resets (i.e. another three must be completed to be visible).</a:t>
            </a:r>
            <a:endParaRPr sz="1050" dirty="0">
              <a:solidFill>
                <a:schemeClr val="dk1"/>
              </a:solidFill>
            </a:endParaRPr>
          </a:p>
        </p:txBody>
      </p:sp>
      <p:sp>
        <p:nvSpPr>
          <p:cNvPr id="469" name="Google Shape;469;p56">
            <a:extLst>
              <a:ext uri="{FF2B5EF4-FFF2-40B4-BE49-F238E27FC236}">
                <a16:creationId xmlns:a16="http://schemas.microsoft.com/office/drawing/2014/main" id="{12F6B184-60F6-D675-B9CA-A167B912C6B6}"/>
              </a:ext>
            </a:extLst>
          </p:cNvPr>
          <p:cNvSpPr/>
          <p:nvPr/>
        </p:nvSpPr>
        <p:spPr>
          <a:xfrm flipH="1">
            <a:off x="5678967" y="2337267"/>
            <a:ext cx="6297200" cy="4154000"/>
          </a:xfrm>
          <a:prstGeom prst="wedgeRectCallout">
            <a:avLst>
              <a:gd name="adj1" fmla="val 74195"/>
              <a:gd name="adj2" fmla="val -1709"/>
            </a:avLst>
          </a:prstGeom>
          <a:solidFill>
            <a:schemeClr val="lt1"/>
          </a:solidFill>
          <a:ln w="19050" cap="flat" cmpd="sng">
            <a:solidFill>
              <a:schemeClr val="accent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t" anchorCtr="0">
            <a:noAutofit/>
          </a:bodyPr>
          <a:lstStyle/>
          <a:p>
            <a:pPr>
              <a:buClr>
                <a:schemeClr val="dk1"/>
              </a:buClr>
              <a:buSzPts val="1100"/>
            </a:pPr>
            <a:r>
              <a:rPr lang="en-GB" sz="1067" b="1">
                <a:solidFill>
                  <a:schemeClr val="dk1"/>
                </a:solidFill>
              </a:rPr>
              <a:t>Understanding feedback status</a:t>
            </a: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endParaRPr sz="1067" b="1">
              <a:solidFill>
                <a:schemeClr val="dk1"/>
              </a:solidFill>
            </a:endParaRPr>
          </a:p>
          <a:p>
            <a:pPr>
              <a:buClr>
                <a:schemeClr val="dk1"/>
              </a:buClr>
              <a:buSzPts val="1100"/>
            </a:pPr>
            <a:r>
              <a:rPr lang="en-GB" sz="1067" b="1">
                <a:solidFill>
                  <a:schemeClr val="dk1"/>
                </a:solidFill>
              </a:rPr>
              <a:t>Editing feedback: </a:t>
            </a:r>
            <a:r>
              <a:rPr lang="en-GB" sz="1067">
                <a:solidFill>
                  <a:schemeClr val="dk1"/>
                </a:solidFill>
              </a:rPr>
              <a:t>Once feedback is “Completed”, no edits can be made. If feedback is “Requested” or “In progress”, work with the provider to have the request sent back for edits.</a:t>
            </a:r>
            <a:endParaRPr sz="1067" b="1">
              <a:solidFill>
                <a:schemeClr val="dk1"/>
              </a:solidFill>
            </a:endParaRPr>
          </a:p>
        </p:txBody>
      </p:sp>
      <p:graphicFrame>
        <p:nvGraphicFramePr>
          <p:cNvPr id="470" name="Google Shape;470;p56">
            <a:extLst>
              <a:ext uri="{FF2B5EF4-FFF2-40B4-BE49-F238E27FC236}">
                <a16:creationId xmlns:a16="http://schemas.microsoft.com/office/drawing/2014/main" id="{DA10E1B6-9987-86D8-6179-A0C819A28B63}"/>
              </a:ext>
            </a:extLst>
          </p:cNvPr>
          <p:cNvGraphicFramePr/>
          <p:nvPr/>
        </p:nvGraphicFramePr>
        <p:xfrm>
          <a:off x="5804125" y="2765320"/>
          <a:ext cx="6029466" cy="3401693"/>
        </p:xfrm>
        <a:graphic>
          <a:graphicData uri="http://schemas.openxmlformats.org/drawingml/2006/table">
            <a:tbl>
              <a:tblPr>
                <a:noFill/>
              </a:tblPr>
              <a:tblGrid>
                <a:gridCol w="954333">
                  <a:extLst>
                    <a:ext uri="{9D8B030D-6E8A-4147-A177-3AD203B41FA5}">
                      <a16:colId xmlns:a16="http://schemas.microsoft.com/office/drawing/2014/main" val="20000"/>
                    </a:ext>
                  </a:extLst>
                </a:gridCol>
                <a:gridCol w="5075133">
                  <a:extLst>
                    <a:ext uri="{9D8B030D-6E8A-4147-A177-3AD203B41FA5}">
                      <a16:colId xmlns:a16="http://schemas.microsoft.com/office/drawing/2014/main" val="20001"/>
                    </a:ext>
                  </a:extLst>
                </a:gridCol>
              </a:tblGrid>
              <a:tr h="334733">
                <a:tc>
                  <a:txBody>
                    <a:bodyPr/>
                    <a:lstStyle/>
                    <a:p>
                      <a:pPr marL="0" lvl="0" indent="0" algn="l" rtl="0">
                        <a:spcBef>
                          <a:spcPts val="0"/>
                        </a:spcBef>
                        <a:spcAft>
                          <a:spcPts val="0"/>
                        </a:spcAft>
                        <a:buNone/>
                      </a:pPr>
                      <a:r>
                        <a:rPr lang="en-GB" sz="1100" b="1">
                          <a:solidFill>
                            <a:schemeClr val="dk1"/>
                          </a:solidFill>
                        </a:rPr>
                        <a:t>Status</a:t>
                      </a:r>
                      <a:endParaRPr sz="1100" b="1">
                        <a:solidFill>
                          <a:schemeClr val="dk1"/>
                        </a:solidFill>
                      </a:endParaRPr>
                    </a:p>
                  </a:txBody>
                  <a:tcPr marL="121900" marR="121900" marT="72000" marB="72000" anchor="ctr">
                    <a:lnL w="9525" cap="flat" cmpd="sng">
                      <a:solidFill>
                        <a:schemeClr val="dk2">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4"/>
                    </a:solidFill>
                  </a:tcPr>
                </a:tc>
                <a:tc>
                  <a:txBody>
                    <a:bodyPr/>
                    <a:lstStyle/>
                    <a:p>
                      <a:pPr marL="0" lvl="0" indent="0" algn="l" rtl="0">
                        <a:spcBef>
                          <a:spcPts val="0"/>
                        </a:spcBef>
                        <a:spcAft>
                          <a:spcPts val="0"/>
                        </a:spcAft>
                        <a:buNone/>
                      </a:pPr>
                      <a:r>
                        <a:rPr lang="en-GB" sz="1100" b="1">
                          <a:solidFill>
                            <a:schemeClr val="dk1"/>
                          </a:solidFill>
                        </a:rPr>
                        <a:t>Definition</a:t>
                      </a:r>
                      <a:endParaRPr sz="1100" b="1">
                        <a:solidFill>
                          <a:schemeClr val="dk1"/>
                        </a:solidFill>
                      </a:endParaRPr>
                    </a:p>
                  </a:txBody>
                  <a:tcPr marL="121900" marR="121900" marT="72000" marB="72000" anchor="ctr">
                    <a:lnL w="9525" cap="flat" cmpd="sng">
                      <a:solidFill>
                        <a:srgbClr val="9E9E9E">
                          <a:alpha val="0"/>
                        </a:srgb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306560">
                <a:tc>
                  <a:txBody>
                    <a:bodyPr/>
                    <a:lstStyle/>
                    <a:p>
                      <a:pPr marL="0" lvl="0" indent="0" algn="l" rtl="0">
                        <a:spcBef>
                          <a:spcPts val="0"/>
                        </a:spcBef>
                        <a:spcAft>
                          <a:spcPts val="0"/>
                        </a:spcAft>
                        <a:buNone/>
                      </a:pPr>
                      <a:r>
                        <a:rPr lang="en-GB" sz="1100"/>
                        <a:t>Draft</a:t>
                      </a:r>
                      <a:endParaRPr sz="1100"/>
                    </a:p>
                  </a:txBody>
                  <a:tcPr marL="121900" marR="121900" marT="72000" marB="72000">
                    <a:lnL w="9525" cap="flat" cmpd="sng">
                      <a:solidFill>
                        <a:schemeClr val="dk2">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GB" sz="1100"/>
                        <a:t>Editing mode until requester saves draft and requests feedback</a:t>
                      </a:r>
                      <a:endParaRPr sz="1100"/>
                    </a:p>
                  </a:txBody>
                  <a:tcPr marL="121900" marR="121900" marT="72000" marB="72000">
                    <a:lnL w="9525" cap="flat" cmpd="sng">
                      <a:solidFill>
                        <a:srgbClr val="9E9E9E">
                          <a:alpha val="0"/>
                        </a:srgb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69120">
                <a:tc>
                  <a:txBody>
                    <a:bodyPr/>
                    <a:lstStyle/>
                    <a:p>
                      <a:pPr marL="0" lvl="0" indent="0" algn="l" rtl="0">
                        <a:spcBef>
                          <a:spcPts val="0"/>
                        </a:spcBef>
                        <a:spcAft>
                          <a:spcPts val="0"/>
                        </a:spcAft>
                        <a:buNone/>
                      </a:pPr>
                      <a:r>
                        <a:rPr lang="en-GB" sz="1100"/>
                        <a:t>Requested</a:t>
                      </a:r>
                      <a:endParaRPr sz="1100"/>
                    </a:p>
                  </a:txBody>
                  <a:tcPr marL="121900" marR="121900" marT="72000" marB="72000">
                    <a:lnL w="9525" cap="flat" cmpd="sng">
                      <a:solidFill>
                        <a:schemeClr val="dk2">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GB" sz="1100"/>
                        <a:t>Requester has submitted a feedback request, changing it from Draft to Requested</a:t>
                      </a:r>
                      <a:endParaRPr sz="1100"/>
                    </a:p>
                  </a:txBody>
                  <a:tcPr marL="121900" marR="121900" marT="72000" marB="72000">
                    <a:lnL w="9525" cap="flat" cmpd="sng">
                      <a:solidFill>
                        <a:srgbClr val="9E9E9E">
                          <a:alpha val="0"/>
                        </a:srgb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31680">
                <a:tc>
                  <a:txBody>
                    <a:bodyPr/>
                    <a:lstStyle/>
                    <a:p>
                      <a:pPr marL="0" lvl="0" indent="0" algn="l" rtl="0">
                        <a:spcBef>
                          <a:spcPts val="0"/>
                        </a:spcBef>
                        <a:spcAft>
                          <a:spcPts val="0"/>
                        </a:spcAft>
                        <a:buNone/>
                      </a:pPr>
                      <a:r>
                        <a:rPr lang="en-GB" sz="1100"/>
                        <a:t>Returned</a:t>
                      </a:r>
                      <a:endParaRPr sz="1100"/>
                    </a:p>
                  </a:txBody>
                  <a:tcPr marL="121900" marR="121900" marT="72000" marB="72000">
                    <a:lnL w="9525" cap="flat" cmpd="sng">
                      <a:solidFill>
                        <a:schemeClr val="dk2">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GB" sz="1100"/>
                        <a:t>Provider has returned the request for editing by the requester (e.g. if the wrong project was selected or the individual does not believe they are in a position to complete the feedback)</a:t>
                      </a:r>
                      <a:endParaRPr sz="1100"/>
                    </a:p>
                  </a:txBody>
                  <a:tcPr marL="121900" marR="121900" marT="72000" marB="72000">
                    <a:lnL w="9525" cap="flat" cmpd="sng">
                      <a:solidFill>
                        <a:srgbClr val="9E9E9E">
                          <a:alpha val="0"/>
                        </a:srgb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06560">
                <a:tc>
                  <a:txBody>
                    <a:bodyPr/>
                    <a:lstStyle/>
                    <a:p>
                      <a:pPr marL="0" lvl="0" indent="0" algn="l" rtl="0">
                        <a:spcBef>
                          <a:spcPts val="0"/>
                        </a:spcBef>
                        <a:spcAft>
                          <a:spcPts val="0"/>
                        </a:spcAft>
                        <a:buNone/>
                      </a:pPr>
                      <a:r>
                        <a:rPr lang="en-GB" sz="1100"/>
                        <a:t>In Progress</a:t>
                      </a:r>
                      <a:endParaRPr sz="1100"/>
                    </a:p>
                  </a:txBody>
                  <a:tcPr marL="121900" marR="121900" marT="72000" marB="72000">
                    <a:lnL w="9525" cap="flat" cmpd="sng">
                      <a:solidFill>
                        <a:schemeClr val="dk2">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GB" sz="1100"/>
                        <a:t>Provider has viewed the request and may be editing their responses</a:t>
                      </a:r>
                      <a:endParaRPr sz="1100"/>
                    </a:p>
                  </a:txBody>
                  <a:tcPr marL="121900" marR="121900" marT="72000" marB="72000">
                    <a:lnL w="9525" cap="flat" cmpd="sng">
                      <a:solidFill>
                        <a:srgbClr val="9E9E9E">
                          <a:alpha val="0"/>
                        </a:srgb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956800">
                <a:tc>
                  <a:txBody>
                    <a:bodyPr/>
                    <a:lstStyle/>
                    <a:p>
                      <a:pPr marL="0" lvl="0" indent="0" algn="l" rtl="0">
                        <a:spcBef>
                          <a:spcPts val="0"/>
                        </a:spcBef>
                        <a:spcAft>
                          <a:spcPts val="0"/>
                        </a:spcAft>
                        <a:buNone/>
                      </a:pPr>
                      <a:r>
                        <a:rPr lang="en-GB" sz="1100"/>
                        <a:t>Completed</a:t>
                      </a:r>
                      <a:endParaRPr sz="1100"/>
                    </a:p>
                  </a:txBody>
                  <a:tcPr marL="121900" marR="121900" marT="72000" marB="72000">
                    <a:lnL w="9525" cap="flat" cmpd="sng">
                      <a:solidFill>
                        <a:schemeClr val="dk2">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2">
                          <a:alpha val="0"/>
                        </a:schemeClr>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GB" sz="1100"/>
                        <a:t>Provider has submitted their response and the feedback is complete.</a:t>
                      </a:r>
                      <a:endParaRPr sz="1100"/>
                    </a:p>
                    <a:p>
                      <a:pPr marL="179999" lvl="0" indent="-140799" algn="l" rtl="0">
                        <a:spcBef>
                          <a:spcPts val="0"/>
                        </a:spcBef>
                        <a:spcAft>
                          <a:spcPts val="0"/>
                        </a:spcAft>
                        <a:buSzPts val="800"/>
                        <a:buChar char="●"/>
                      </a:pPr>
                      <a:r>
                        <a:rPr lang="en-GB" sz="1100"/>
                        <a:t>For </a:t>
                      </a:r>
                      <a:r>
                        <a:rPr lang="en-GB" sz="1100" b="1"/>
                        <a:t>attributable </a:t>
                      </a:r>
                      <a:r>
                        <a:rPr lang="en-GB" sz="1100"/>
                        <a:t>feedback, Completed responses are immediately viewable.</a:t>
                      </a:r>
                      <a:endParaRPr sz="1100"/>
                    </a:p>
                    <a:p>
                      <a:pPr marL="179999" lvl="0" indent="-140799" algn="l" rtl="0">
                        <a:spcBef>
                          <a:spcPts val="0"/>
                        </a:spcBef>
                        <a:spcAft>
                          <a:spcPts val="0"/>
                        </a:spcAft>
                        <a:buSzPts val="800"/>
                        <a:buChar char="●"/>
                      </a:pPr>
                      <a:r>
                        <a:rPr lang="en-GB" sz="1100"/>
                        <a:t>For </a:t>
                      </a:r>
                      <a:r>
                        <a:rPr lang="en-GB" sz="1100" b="1"/>
                        <a:t>anonymous </a:t>
                      </a:r>
                      <a:r>
                        <a:rPr lang="en-GB" sz="1100"/>
                        <a:t>feedback, Completed responses are released in increments of 3 (only when a batch threshold of ‘3’ individual pieces of feedback have been completed).</a:t>
                      </a:r>
                      <a:endParaRPr sz="1100"/>
                    </a:p>
                  </a:txBody>
                  <a:tcPr marL="121900" marR="121900" marT="72000" marB="72000">
                    <a:lnL w="9525" cap="flat" cmpd="sng">
                      <a:solidFill>
                        <a:srgbClr val="9E9E9E">
                          <a:alpha val="0"/>
                        </a:srgb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dk2">
                          <a:alpha val="0"/>
                        </a:schemeClr>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471" name="Google Shape;471;p56">
            <a:extLst>
              <a:ext uri="{FF2B5EF4-FFF2-40B4-BE49-F238E27FC236}">
                <a16:creationId xmlns:a16="http://schemas.microsoft.com/office/drawing/2014/main" id="{5A27951D-58BF-A880-0E28-7242BAF3C901}"/>
              </a:ext>
            </a:extLst>
          </p:cNvPr>
          <p:cNvSpPr txBox="1"/>
          <p:nvPr/>
        </p:nvSpPr>
        <p:spPr>
          <a:xfrm>
            <a:off x="8473367" y="140400"/>
            <a:ext cx="3615600" cy="186800"/>
          </a:xfrm>
          <a:prstGeom prst="rect">
            <a:avLst/>
          </a:prstGeom>
          <a:noFill/>
          <a:ln>
            <a:noFill/>
          </a:ln>
        </p:spPr>
        <p:txBody>
          <a:bodyPr spcFirstLastPara="1" wrap="square" lIns="48000" tIns="24000" rIns="24000" bIns="24000" anchor="t" anchorCtr="0">
            <a:noAutofit/>
          </a:bodyPr>
          <a:lstStyle/>
          <a:p>
            <a:r>
              <a:rPr lang="en-GB" sz="800" u="sng">
                <a:solidFill>
                  <a:schemeClr val="dk2"/>
                </a:solidFill>
                <a:hlinkClick r:id="" action="ppaction://noaction">
                  <a:extLst>
                    <a:ext uri="{A12FA001-AC4F-418D-AE19-62706E023703}">
                      <ahyp:hlinkClr xmlns:ahyp="http://schemas.microsoft.com/office/drawing/2018/hyperlinkcolor" val="tx"/>
                    </a:ext>
                  </a:extLst>
                </a:hlinkClick>
              </a:rPr>
              <a:t>Introduction</a:t>
            </a:r>
            <a:r>
              <a:rPr lang="en-GB" sz="800">
                <a:solidFill>
                  <a:schemeClr val="dk2"/>
                </a:solidFill>
              </a:rPr>
              <a:t> | </a:t>
            </a:r>
            <a:r>
              <a:rPr lang="en-GB" sz="800" u="sng">
                <a:solidFill>
                  <a:schemeClr val="hlink"/>
                </a:solidFill>
                <a:hlinkClick r:id="" action="ppaction://noaction"/>
              </a:rPr>
              <a:t>Key things to know</a:t>
            </a:r>
            <a:r>
              <a:rPr lang="en-GB" sz="800">
                <a:solidFill>
                  <a:schemeClr val="dk2"/>
                </a:solidFill>
              </a:rPr>
              <a:t> | </a:t>
            </a:r>
            <a:r>
              <a:rPr lang="en-GB" sz="800" u="sng">
                <a:solidFill>
                  <a:schemeClr val="dk2"/>
                </a:solidFill>
                <a:hlinkClick r:id="" action="ppaction://noaction">
                  <a:extLst>
                    <a:ext uri="{A12FA001-AC4F-418D-AE19-62706E023703}">
                      <ahyp:hlinkClr xmlns:ahyp="http://schemas.microsoft.com/office/drawing/2018/hyperlinkcolor" val="tx"/>
                    </a:ext>
                  </a:extLst>
                </a:hlinkClick>
              </a:rPr>
              <a:t>Question overview</a:t>
            </a:r>
            <a:r>
              <a:rPr lang="en-GB" sz="800">
                <a:solidFill>
                  <a:schemeClr val="dk2"/>
                </a:solidFill>
              </a:rPr>
              <a:t> | </a:t>
            </a:r>
            <a:r>
              <a:rPr lang="en-GB" sz="800" u="sng">
                <a:solidFill>
                  <a:schemeClr val="dk2"/>
                </a:solidFill>
                <a:hlinkClick r:id="" action="ppaction://noaction">
                  <a:extLst>
                    <a:ext uri="{A12FA001-AC4F-418D-AE19-62706E023703}">
                      <ahyp:hlinkClr xmlns:ahyp="http://schemas.microsoft.com/office/drawing/2018/hyperlinkcolor" val="tx"/>
                    </a:ext>
                  </a:extLst>
                </a:hlinkClick>
              </a:rPr>
              <a:t>Response overview</a:t>
            </a:r>
            <a:endParaRPr sz="800">
              <a:solidFill>
                <a:schemeClr val="dk2"/>
              </a:solidFill>
            </a:endParaRPr>
          </a:p>
        </p:txBody>
      </p:sp>
    </p:spTree>
    <p:extLst>
      <p:ext uri="{BB962C8B-B14F-4D97-AF65-F5344CB8AC3E}">
        <p14:creationId xmlns:p14="http://schemas.microsoft.com/office/powerpoint/2010/main" val="2520256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92403-175D-153A-3633-66F77EE6F3F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CEDD935-7B56-89AC-3ADF-FB2F8071E1B4}"/>
              </a:ext>
            </a:extLst>
          </p:cNvPr>
          <p:cNvSpPr>
            <a:spLocks noGrp="1"/>
          </p:cNvSpPr>
          <p:nvPr>
            <p:ph type="title"/>
          </p:nvPr>
        </p:nvSpPr>
        <p:spPr/>
        <p:txBody>
          <a:bodyPr/>
          <a:lstStyle/>
          <a:p>
            <a:r>
              <a:rPr lang="en-US" noProof="0"/>
              <a:t>Understanding Likert scale for assessing PwC Professional </a:t>
            </a:r>
            <a:r>
              <a:rPr lang="en-US" noProof="0" err="1"/>
              <a:t>behaviours</a:t>
            </a:r>
            <a:r>
              <a:rPr lang="en-US" noProof="0"/>
              <a:t> </a:t>
            </a:r>
          </a:p>
        </p:txBody>
      </p:sp>
      <p:sp>
        <p:nvSpPr>
          <p:cNvPr id="2" name="Footer Placeholder 1">
            <a:extLst>
              <a:ext uri="{FF2B5EF4-FFF2-40B4-BE49-F238E27FC236}">
                <a16:creationId xmlns:a16="http://schemas.microsoft.com/office/drawing/2014/main" id="{9EA010AA-CED6-15BF-8B89-845F3B24FA10}"/>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Leadership Development Experience (LDE) </a:t>
            </a:r>
          </a:p>
        </p:txBody>
      </p:sp>
      <p:sp>
        <p:nvSpPr>
          <p:cNvPr id="3" name="Slide Number Placeholder 2">
            <a:extLst>
              <a:ext uri="{FF2B5EF4-FFF2-40B4-BE49-F238E27FC236}">
                <a16:creationId xmlns:a16="http://schemas.microsoft.com/office/drawing/2014/main" id="{1B452826-0CF2-9405-7FA3-D401863472DD}"/>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2" name="Rectangle 11">
            <a:extLst>
              <a:ext uri="{FF2B5EF4-FFF2-40B4-BE49-F238E27FC236}">
                <a16:creationId xmlns:a16="http://schemas.microsoft.com/office/drawing/2014/main" id="{35B15F59-E80B-0BDD-8480-C8CC764C77C9}"/>
              </a:ext>
            </a:extLst>
          </p:cNvPr>
          <p:cNvSpPr/>
          <p:nvPr/>
        </p:nvSpPr>
        <p:spPr>
          <a:xfrm>
            <a:off x="2266950" y="897731"/>
            <a:ext cx="1223963" cy="2071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Google Shape;1302;p160">
            <a:extLst>
              <a:ext uri="{FF2B5EF4-FFF2-40B4-BE49-F238E27FC236}">
                <a16:creationId xmlns:a16="http://schemas.microsoft.com/office/drawing/2014/main" id="{093E4CA5-9CA5-5725-A02C-7CA2CEAA37D2}"/>
              </a:ext>
            </a:extLst>
          </p:cNvPr>
          <p:cNvSpPr txBox="1"/>
          <p:nvPr/>
        </p:nvSpPr>
        <p:spPr>
          <a:xfrm>
            <a:off x="404798" y="868418"/>
            <a:ext cx="11306100" cy="668700"/>
          </a:xfrm>
          <a:prstGeom prst="rect">
            <a:avLst/>
          </a:prstGeom>
          <a:noFill/>
          <a:ln>
            <a:noFill/>
          </a:ln>
        </p:spPr>
        <p:txBody>
          <a:bodyPr spcFirstLastPara="1" wrap="square" lIns="24000" tIns="216000" rIns="24000" bIns="216000" anchor="ctr" anchorCtr="0">
            <a:noAutofit/>
          </a:bodyPr>
          <a:lstStyle/>
          <a:p>
            <a:pPr marL="0" lvl="0" indent="0" algn="l" rtl="0">
              <a:lnSpc>
                <a:spcPct val="114000"/>
              </a:lnSpc>
              <a:spcBef>
                <a:spcPts val="0"/>
              </a:spcBef>
              <a:buNone/>
            </a:pPr>
            <a:r>
              <a:rPr lang="en-US" sz="1200">
                <a:solidFill>
                  <a:schemeClr val="dk1"/>
                </a:solidFill>
                <a:latin typeface="+mj-lt"/>
              </a:rPr>
              <a:t>When you give </a:t>
            </a:r>
            <a:r>
              <a:rPr lang="en-US" sz="1200">
                <a:solidFill>
                  <a:schemeClr val="tx1"/>
                </a:solidFill>
                <a:latin typeface="+mj-lt"/>
              </a:rPr>
              <a:t>feedback on </a:t>
            </a:r>
            <a:r>
              <a:rPr lang="en-US" sz="1200" u="sng">
                <a:solidFill>
                  <a:schemeClr val="tx1"/>
                </a:solidFill>
                <a:latin typeface="+mj-lt"/>
                <a:hlinkClick r:id="rId3">
                  <a:extLst>
                    <a:ext uri="{A12FA001-AC4F-418D-AE19-62706E023703}">
                      <ahyp:hlinkClr xmlns:ahyp="http://schemas.microsoft.com/office/drawing/2018/hyperlinkcolor" val="tx"/>
                    </a:ext>
                  </a:extLst>
                </a:hlinkClick>
              </a:rPr>
              <a:t>PwC Professional</a:t>
            </a:r>
            <a:r>
              <a:rPr lang="en-US" sz="1200">
                <a:solidFill>
                  <a:schemeClr val="tx1"/>
                </a:solidFill>
                <a:latin typeface="+mj-lt"/>
              </a:rPr>
              <a:t> </a:t>
            </a:r>
            <a:r>
              <a:rPr lang="en-US" sz="1200" err="1">
                <a:solidFill>
                  <a:schemeClr val="tx1"/>
                </a:solidFill>
                <a:latin typeface="+mj-lt"/>
              </a:rPr>
              <a:t>behaviours</a:t>
            </a:r>
            <a:r>
              <a:rPr lang="en-US" sz="1200">
                <a:solidFill>
                  <a:schemeClr val="dk1"/>
                </a:solidFill>
                <a:latin typeface="+mj-lt"/>
              </a:rPr>
              <a:t>, consider the following guidance on how often you should select each response. We can only grow as an </a:t>
            </a:r>
            <a:r>
              <a:rPr lang="en-US" sz="1200" err="1">
                <a:solidFill>
                  <a:schemeClr val="dk1"/>
                </a:solidFill>
                <a:latin typeface="+mj-lt"/>
              </a:rPr>
              <a:t>organisation</a:t>
            </a:r>
            <a:r>
              <a:rPr lang="en-US" sz="1200">
                <a:solidFill>
                  <a:schemeClr val="dk1"/>
                </a:solidFill>
                <a:latin typeface="+mj-lt"/>
              </a:rPr>
              <a:t> by providing and discussing regular, real-time honest feedback with one another. It is important to be specific when providing feedback, acknowledging context and the environment in which work was completed.</a:t>
            </a:r>
            <a:endParaRPr sz="1200">
              <a:solidFill>
                <a:schemeClr val="dk1"/>
              </a:solidFill>
              <a:latin typeface="+mj-lt"/>
            </a:endParaRPr>
          </a:p>
        </p:txBody>
      </p:sp>
      <p:sp>
        <p:nvSpPr>
          <p:cNvPr id="13" name="Google Shape;1300;p160">
            <a:extLst>
              <a:ext uri="{FF2B5EF4-FFF2-40B4-BE49-F238E27FC236}">
                <a16:creationId xmlns:a16="http://schemas.microsoft.com/office/drawing/2014/main" id="{FA19FA13-04CC-E823-E889-A43AE96B3C28}"/>
              </a:ext>
            </a:extLst>
          </p:cNvPr>
          <p:cNvSpPr/>
          <p:nvPr/>
        </p:nvSpPr>
        <p:spPr>
          <a:xfrm>
            <a:off x="797171" y="6053604"/>
            <a:ext cx="2327700" cy="184506"/>
          </a:xfrm>
          <a:prstGeom prst="rect">
            <a:avLst/>
          </a:prstGeom>
          <a:solidFill>
            <a:schemeClr val="l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p>
        </p:txBody>
      </p:sp>
      <p:sp>
        <p:nvSpPr>
          <p:cNvPr id="14" name="Google Shape;1303;p160">
            <a:extLst>
              <a:ext uri="{FF2B5EF4-FFF2-40B4-BE49-F238E27FC236}">
                <a16:creationId xmlns:a16="http://schemas.microsoft.com/office/drawing/2014/main" id="{1F1A02C1-DF8D-D0C2-BF30-54377DFB8CE2}"/>
              </a:ext>
            </a:extLst>
          </p:cNvPr>
          <p:cNvSpPr/>
          <p:nvPr/>
        </p:nvSpPr>
        <p:spPr>
          <a:xfrm>
            <a:off x="4152971" y="2757989"/>
            <a:ext cx="7648504" cy="634780"/>
          </a:xfrm>
          <a:prstGeom prst="roundRect">
            <a:avLst>
              <a:gd name="adj" fmla="val 0"/>
            </a:avLst>
          </a:prstGeom>
          <a:solidFill>
            <a:srgbClr val="FFCDA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lvl="0" indent="0" rtl="0">
              <a:spcBef>
                <a:spcPts val="0"/>
              </a:spcBef>
              <a:spcAft>
                <a:spcPts val="0"/>
              </a:spcAft>
              <a:buNone/>
            </a:pPr>
            <a:r>
              <a:rPr lang="en-US" sz="1100">
                <a:solidFill>
                  <a:schemeClr val="dk1"/>
                </a:solidFill>
                <a:latin typeface="+mj-lt"/>
              </a:rPr>
              <a:t>During a difficult phase of the work, the individual </a:t>
            </a:r>
            <a:r>
              <a:rPr lang="en-US" sz="1100" b="1">
                <a:solidFill>
                  <a:schemeClr val="dk1"/>
                </a:solidFill>
                <a:latin typeface="+mj-lt"/>
              </a:rPr>
              <a:t>consistently</a:t>
            </a:r>
            <a:r>
              <a:rPr lang="en-US" sz="1100">
                <a:solidFill>
                  <a:schemeClr val="dk1"/>
                </a:solidFill>
                <a:latin typeface="+mj-lt"/>
              </a:rPr>
              <a:t> remained resilient, flexible, and efficient when adjusting to moving priorities. This </a:t>
            </a:r>
            <a:r>
              <a:rPr lang="en-US" sz="1100" b="1">
                <a:solidFill>
                  <a:schemeClr val="dk1"/>
                </a:solidFill>
                <a:latin typeface="+mj-lt"/>
              </a:rPr>
              <a:t>helped the team</a:t>
            </a:r>
            <a:r>
              <a:rPr lang="en-US" sz="1100">
                <a:solidFill>
                  <a:schemeClr val="dk1"/>
                </a:solidFill>
                <a:latin typeface="+mj-lt"/>
              </a:rPr>
              <a:t> meet deadlines, address challenges, and inspire confidence in all.</a:t>
            </a:r>
            <a:endParaRPr sz="1100">
              <a:solidFill>
                <a:schemeClr val="dk1"/>
              </a:solidFill>
              <a:latin typeface="+mj-lt"/>
            </a:endParaRPr>
          </a:p>
        </p:txBody>
      </p:sp>
      <p:sp>
        <p:nvSpPr>
          <p:cNvPr id="15" name="Google Shape;1304;p160">
            <a:extLst>
              <a:ext uri="{FF2B5EF4-FFF2-40B4-BE49-F238E27FC236}">
                <a16:creationId xmlns:a16="http://schemas.microsoft.com/office/drawing/2014/main" id="{898D224C-1BAC-356E-4ADC-17333736C8F5}"/>
              </a:ext>
            </a:extLst>
          </p:cNvPr>
          <p:cNvSpPr/>
          <p:nvPr/>
        </p:nvSpPr>
        <p:spPr>
          <a:xfrm>
            <a:off x="4152971" y="4224491"/>
            <a:ext cx="7648504" cy="634780"/>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lvl="0" indent="0" rtl="0">
              <a:spcBef>
                <a:spcPts val="0"/>
              </a:spcBef>
              <a:spcAft>
                <a:spcPts val="0"/>
              </a:spcAft>
              <a:buNone/>
            </a:pPr>
            <a:r>
              <a:rPr lang="en-US" sz="1100">
                <a:solidFill>
                  <a:schemeClr val="dk1"/>
                </a:solidFill>
                <a:latin typeface="+mj-lt"/>
              </a:rPr>
              <a:t>During a difficult phase of the work, the individual </a:t>
            </a:r>
            <a:r>
              <a:rPr lang="en-US" sz="1100" b="1">
                <a:solidFill>
                  <a:schemeClr val="dk1"/>
                </a:solidFill>
                <a:latin typeface="+mj-lt"/>
              </a:rPr>
              <a:t>struggled</a:t>
            </a:r>
            <a:r>
              <a:rPr lang="en-US" sz="1100">
                <a:solidFill>
                  <a:schemeClr val="dk1"/>
                </a:solidFill>
                <a:latin typeface="+mj-lt"/>
              </a:rPr>
              <a:t> to be agile and role model flexible </a:t>
            </a:r>
            <a:r>
              <a:rPr lang="en-US" sz="1100" err="1">
                <a:solidFill>
                  <a:schemeClr val="dk1"/>
                </a:solidFill>
                <a:latin typeface="+mj-lt"/>
              </a:rPr>
              <a:t>behaviours</a:t>
            </a:r>
            <a:r>
              <a:rPr lang="en-US" sz="1100">
                <a:solidFill>
                  <a:schemeClr val="dk1"/>
                </a:solidFill>
                <a:latin typeface="+mj-lt"/>
              </a:rPr>
              <a:t> to the team, which sometimes </a:t>
            </a:r>
            <a:r>
              <a:rPr lang="en-US" sz="1100" b="1">
                <a:solidFill>
                  <a:schemeClr val="dk1"/>
                </a:solidFill>
                <a:latin typeface="+mj-lt"/>
              </a:rPr>
              <a:t>impacted everyone</a:t>
            </a:r>
            <a:r>
              <a:rPr lang="en-US" sz="1100">
                <a:solidFill>
                  <a:schemeClr val="dk1"/>
                </a:solidFill>
                <a:latin typeface="+mj-lt"/>
              </a:rPr>
              <a:t> around them. </a:t>
            </a:r>
            <a:endParaRPr sz="1100">
              <a:solidFill>
                <a:schemeClr val="dk1"/>
              </a:solidFill>
              <a:latin typeface="+mj-lt"/>
            </a:endParaRPr>
          </a:p>
        </p:txBody>
      </p:sp>
      <p:sp>
        <p:nvSpPr>
          <p:cNvPr id="17" name="Google Shape;1305;p160">
            <a:extLst>
              <a:ext uri="{FF2B5EF4-FFF2-40B4-BE49-F238E27FC236}">
                <a16:creationId xmlns:a16="http://schemas.microsoft.com/office/drawing/2014/main" id="{3D045417-A12F-5D61-81D2-2F1B43965ECA}"/>
              </a:ext>
            </a:extLst>
          </p:cNvPr>
          <p:cNvSpPr/>
          <p:nvPr/>
        </p:nvSpPr>
        <p:spPr>
          <a:xfrm>
            <a:off x="4152971" y="4957742"/>
            <a:ext cx="7648504" cy="634780"/>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lvl="0" indent="0" rtl="0">
              <a:spcBef>
                <a:spcPts val="0"/>
              </a:spcBef>
              <a:spcAft>
                <a:spcPts val="0"/>
              </a:spcAft>
              <a:buNone/>
            </a:pPr>
            <a:r>
              <a:rPr lang="en-US" sz="1100">
                <a:solidFill>
                  <a:schemeClr val="dk1"/>
                </a:solidFill>
                <a:latin typeface="+mj-lt"/>
              </a:rPr>
              <a:t>During a difficult phase of the work, the individual was </a:t>
            </a:r>
            <a:r>
              <a:rPr lang="en-US" sz="1100" b="1">
                <a:solidFill>
                  <a:schemeClr val="dk1"/>
                </a:solidFill>
                <a:latin typeface="+mj-lt"/>
              </a:rPr>
              <a:t>not supportive to the team</a:t>
            </a:r>
            <a:r>
              <a:rPr lang="en-US" sz="1100">
                <a:solidFill>
                  <a:schemeClr val="dk1"/>
                </a:solidFill>
                <a:latin typeface="+mj-lt"/>
              </a:rPr>
              <a:t>, seemed absent, and </a:t>
            </a:r>
            <a:r>
              <a:rPr lang="en-US" sz="1100" b="1">
                <a:solidFill>
                  <a:schemeClr val="dk1"/>
                </a:solidFill>
                <a:latin typeface="+mj-lt"/>
              </a:rPr>
              <a:t>struggled to adapt to changing demands</a:t>
            </a:r>
            <a:r>
              <a:rPr lang="en-US" sz="1100">
                <a:solidFill>
                  <a:schemeClr val="dk1"/>
                </a:solidFill>
                <a:latin typeface="+mj-lt"/>
              </a:rPr>
              <a:t>.</a:t>
            </a:r>
            <a:endParaRPr sz="1100">
              <a:solidFill>
                <a:schemeClr val="dk1"/>
              </a:solidFill>
              <a:latin typeface="+mj-lt"/>
            </a:endParaRPr>
          </a:p>
        </p:txBody>
      </p:sp>
      <p:sp>
        <p:nvSpPr>
          <p:cNvPr id="18" name="Google Shape;1306;p160">
            <a:extLst>
              <a:ext uri="{FF2B5EF4-FFF2-40B4-BE49-F238E27FC236}">
                <a16:creationId xmlns:a16="http://schemas.microsoft.com/office/drawing/2014/main" id="{BB729FE7-DB49-FABA-8184-3D22D99E57CB}"/>
              </a:ext>
            </a:extLst>
          </p:cNvPr>
          <p:cNvSpPr/>
          <p:nvPr/>
        </p:nvSpPr>
        <p:spPr>
          <a:xfrm>
            <a:off x="4152971" y="5690992"/>
            <a:ext cx="7648504" cy="634780"/>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lvl="0" indent="0" rtl="0">
              <a:spcBef>
                <a:spcPts val="0"/>
              </a:spcBef>
              <a:spcAft>
                <a:spcPts val="0"/>
              </a:spcAft>
              <a:buNone/>
            </a:pPr>
            <a:r>
              <a:rPr lang="en-US" sz="1100">
                <a:solidFill>
                  <a:schemeClr val="dk1"/>
                </a:solidFill>
                <a:latin typeface="+mj-lt"/>
              </a:rPr>
              <a:t>You are working on a 3-month body of work with this individual. They request feedback after the first month, and </a:t>
            </a:r>
            <a:r>
              <a:rPr lang="en-US" sz="1100" b="1">
                <a:solidFill>
                  <a:schemeClr val="dk1"/>
                </a:solidFill>
                <a:latin typeface="+mj-lt"/>
              </a:rPr>
              <a:t>you feel you need to wait</a:t>
            </a:r>
            <a:r>
              <a:rPr lang="en-US" sz="1100">
                <a:solidFill>
                  <a:schemeClr val="dk1"/>
                </a:solidFill>
                <a:latin typeface="+mj-lt"/>
              </a:rPr>
              <a:t> another month to better observe and evaluate </a:t>
            </a:r>
            <a:r>
              <a:rPr lang="en-US" sz="1100" err="1">
                <a:solidFill>
                  <a:schemeClr val="dk1"/>
                </a:solidFill>
                <a:latin typeface="+mj-lt"/>
              </a:rPr>
              <a:t>behaviours</a:t>
            </a:r>
            <a:r>
              <a:rPr lang="en-US" sz="1100">
                <a:solidFill>
                  <a:schemeClr val="dk1"/>
                </a:solidFill>
                <a:latin typeface="+mj-lt"/>
              </a:rPr>
              <a:t>.</a:t>
            </a:r>
            <a:endParaRPr sz="1100">
              <a:solidFill>
                <a:schemeClr val="dk1"/>
              </a:solidFill>
              <a:latin typeface="+mj-lt"/>
            </a:endParaRPr>
          </a:p>
        </p:txBody>
      </p:sp>
      <p:sp>
        <p:nvSpPr>
          <p:cNvPr id="19" name="Google Shape;1307;p160">
            <a:extLst>
              <a:ext uri="{FF2B5EF4-FFF2-40B4-BE49-F238E27FC236}">
                <a16:creationId xmlns:a16="http://schemas.microsoft.com/office/drawing/2014/main" id="{6ECA6421-97F1-124B-9C52-6344BC979595}"/>
              </a:ext>
            </a:extLst>
          </p:cNvPr>
          <p:cNvSpPr/>
          <p:nvPr/>
        </p:nvSpPr>
        <p:spPr>
          <a:xfrm>
            <a:off x="4152971" y="3491240"/>
            <a:ext cx="7648504" cy="634780"/>
          </a:xfrm>
          <a:prstGeom prst="roundRect">
            <a:avLst>
              <a:gd name="adj" fmla="val 0"/>
            </a:avLst>
          </a:prstGeom>
          <a:solidFill>
            <a:srgbClr val="FFCDA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rtl="0">
              <a:lnSpc>
                <a:spcPct val="100000"/>
              </a:lnSpc>
              <a:spcBef>
                <a:spcPts val="0"/>
              </a:spcBef>
              <a:spcAft>
                <a:spcPts val="0"/>
              </a:spcAft>
              <a:buNone/>
            </a:pPr>
            <a:r>
              <a:rPr lang="en-US" sz="1100">
                <a:solidFill>
                  <a:schemeClr val="dk1"/>
                </a:solidFill>
                <a:latin typeface="+mj-lt"/>
              </a:rPr>
              <a:t>During a difficult phase of the work the individual was flexible and agile when managing conflicting priorities </a:t>
            </a:r>
            <a:br>
              <a:rPr lang="en-US" sz="1100">
                <a:solidFill>
                  <a:schemeClr val="dk1"/>
                </a:solidFill>
                <a:latin typeface="+mj-lt"/>
              </a:rPr>
            </a:br>
            <a:r>
              <a:rPr lang="en-US" sz="1100" b="1">
                <a:solidFill>
                  <a:schemeClr val="dk1"/>
                </a:solidFill>
                <a:latin typeface="+mj-lt"/>
              </a:rPr>
              <a:t>most of the time, as expected of their role </a:t>
            </a:r>
            <a:r>
              <a:rPr lang="en-US" sz="1100">
                <a:solidFill>
                  <a:schemeClr val="dk1"/>
                </a:solidFill>
                <a:latin typeface="+mj-lt"/>
              </a:rPr>
              <a:t>on the team.</a:t>
            </a:r>
            <a:endParaRPr sz="1100" b="1">
              <a:solidFill>
                <a:schemeClr val="dk1"/>
              </a:solidFill>
              <a:latin typeface="+mj-lt"/>
            </a:endParaRPr>
          </a:p>
        </p:txBody>
      </p:sp>
      <p:sp>
        <p:nvSpPr>
          <p:cNvPr id="20" name="Google Shape;1308;p160">
            <a:extLst>
              <a:ext uri="{FF2B5EF4-FFF2-40B4-BE49-F238E27FC236}">
                <a16:creationId xmlns:a16="http://schemas.microsoft.com/office/drawing/2014/main" id="{CF6EBD54-4688-BF94-CBF7-0048856D754E}"/>
              </a:ext>
            </a:extLst>
          </p:cNvPr>
          <p:cNvSpPr/>
          <p:nvPr/>
        </p:nvSpPr>
        <p:spPr>
          <a:xfrm>
            <a:off x="1221504" y="1617785"/>
            <a:ext cx="2807700" cy="306954"/>
          </a:xfrm>
          <a:prstGeom prst="rect">
            <a:avLst/>
          </a:prstGeom>
          <a:solidFill>
            <a:srgbClr val="A1A8B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200" b="1">
                <a:solidFill>
                  <a:schemeClr val="tx1"/>
                </a:solidFill>
              </a:rPr>
              <a:t>Likert scale options</a:t>
            </a:r>
            <a:endParaRPr sz="1200" b="1">
              <a:solidFill>
                <a:schemeClr val="tx1"/>
              </a:solidFill>
            </a:endParaRPr>
          </a:p>
        </p:txBody>
      </p:sp>
      <p:sp>
        <p:nvSpPr>
          <p:cNvPr id="21" name="Google Shape;1309;p160">
            <a:extLst>
              <a:ext uri="{FF2B5EF4-FFF2-40B4-BE49-F238E27FC236}">
                <a16:creationId xmlns:a16="http://schemas.microsoft.com/office/drawing/2014/main" id="{3DCA24A9-E687-EC91-C1BA-1E5A0E9AB150}"/>
              </a:ext>
            </a:extLst>
          </p:cNvPr>
          <p:cNvSpPr/>
          <p:nvPr/>
        </p:nvSpPr>
        <p:spPr>
          <a:xfrm>
            <a:off x="4152971" y="1617785"/>
            <a:ext cx="7648504" cy="306954"/>
          </a:xfrm>
          <a:prstGeom prst="rect">
            <a:avLst/>
          </a:prstGeom>
          <a:solidFill>
            <a:srgbClr val="A1A8B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200" b="1">
                <a:solidFill>
                  <a:schemeClr val="tx1"/>
                </a:solidFill>
              </a:rPr>
              <a:t>Example scenario for response selection</a:t>
            </a:r>
            <a:endParaRPr sz="1200" b="1">
              <a:solidFill>
                <a:schemeClr val="tx1"/>
              </a:solidFill>
            </a:endParaRPr>
          </a:p>
        </p:txBody>
      </p:sp>
      <p:sp>
        <p:nvSpPr>
          <p:cNvPr id="22" name="Google Shape;1310;p160">
            <a:extLst>
              <a:ext uri="{FF2B5EF4-FFF2-40B4-BE49-F238E27FC236}">
                <a16:creationId xmlns:a16="http://schemas.microsoft.com/office/drawing/2014/main" id="{B64E25A8-5545-1369-783E-F8CD927CCB5E}"/>
              </a:ext>
            </a:extLst>
          </p:cNvPr>
          <p:cNvSpPr/>
          <p:nvPr/>
        </p:nvSpPr>
        <p:spPr>
          <a:xfrm rot="16200000">
            <a:off x="-1527608" y="3974029"/>
            <a:ext cx="4384458" cy="330900"/>
          </a:xfrm>
          <a:prstGeom prst="rect">
            <a:avLst/>
          </a:prstGeom>
          <a:solidFill>
            <a:srgbClr val="A1A8B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200" b="1">
                <a:solidFill>
                  <a:schemeClr val="tx1"/>
                </a:solidFill>
              </a:rPr>
              <a:t>When to select</a:t>
            </a:r>
            <a:endParaRPr sz="1200" b="1">
              <a:solidFill>
                <a:schemeClr val="tx1"/>
              </a:solidFill>
            </a:endParaRPr>
          </a:p>
        </p:txBody>
      </p:sp>
      <p:graphicFrame>
        <p:nvGraphicFramePr>
          <p:cNvPr id="23" name="Google Shape;1311;p160">
            <a:extLst>
              <a:ext uri="{FF2B5EF4-FFF2-40B4-BE49-F238E27FC236}">
                <a16:creationId xmlns:a16="http://schemas.microsoft.com/office/drawing/2014/main" id="{B666A317-3643-2A63-5E28-00F3376F7046}"/>
              </a:ext>
            </a:extLst>
          </p:cNvPr>
          <p:cNvGraphicFramePr/>
          <p:nvPr/>
        </p:nvGraphicFramePr>
        <p:xfrm>
          <a:off x="1221519" y="1941314"/>
          <a:ext cx="2807775" cy="4384458"/>
        </p:xfrm>
        <a:graphic>
          <a:graphicData uri="http://schemas.openxmlformats.org/drawingml/2006/table">
            <a:tbl>
              <a:tblPr>
                <a:noFill/>
              </a:tblPr>
              <a:tblGrid>
                <a:gridCol w="2807775">
                  <a:extLst>
                    <a:ext uri="{9D8B030D-6E8A-4147-A177-3AD203B41FA5}">
                      <a16:colId xmlns:a16="http://schemas.microsoft.com/office/drawing/2014/main" val="20000"/>
                    </a:ext>
                  </a:extLst>
                </a:gridCol>
              </a:tblGrid>
              <a:tr h="730743">
                <a:tc>
                  <a:txBody>
                    <a:bodyPr/>
                    <a:lstStyle/>
                    <a:p>
                      <a:pPr marL="0" lvl="0" indent="0" algn="ctr" rtl="0">
                        <a:spcBef>
                          <a:spcPts val="0"/>
                        </a:spcBef>
                        <a:spcAft>
                          <a:spcPts val="0"/>
                        </a:spcAft>
                        <a:buClr>
                          <a:srgbClr val="000000"/>
                        </a:buClr>
                        <a:buSzPts val="1500"/>
                        <a:buFont typeface="Arial"/>
                        <a:buNone/>
                      </a:pPr>
                      <a:r>
                        <a:rPr lang="en-US" sz="1100" b="1">
                          <a:latin typeface="+mj-lt"/>
                        </a:rPr>
                        <a:t>E</a:t>
                      </a:r>
                      <a:r>
                        <a:rPr lang="en-US" sz="1100" b="1">
                          <a:solidFill>
                            <a:srgbClr val="000000"/>
                          </a:solidFill>
                          <a:latin typeface="+mj-lt"/>
                        </a:rPr>
                        <a:t>xemplified and motivated others to demonstrate these </a:t>
                      </a:r>
                      <a:r>
                        <a:rPr lang="en-US" sz="1100" b="1" err="1">
                          <a:solidFill>
                            <a:srgbClr val="000000"/>
                          </a:solidFill>
                          <a:latin typeface="+mj-lt"/>
                        </a:rPr>
                        <a:t>behaviours</a:t>
                      </a:r>
                      <a:endParaRPr sz="1100" b="1">
                        <a:latin typeface="+mj-lt"/>
                      </a:endParaRP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0"/>
                  </a:ext>
                </a:extLst>
              </a:tr>
              <a:tr h="730743">
                <a:tc>
                  <a:txBody>
                    <a:bodyPr/>
                    <a:lstStyle/>
                    <a:p>
                      <a:pPr marL="0" lvl="0" indent="0" algn="ctr" rtl="0">
                        <a:spcBef>
                          <a:spcPts val="0"/>
                        </a:spcBef>
                        <a:spcAft>
                          <a:spcPts val="0"/>
                        </a:spcAft>
                        <a:buClr>
                          <a:srgbClr val="000000"/>
                        </a:buClr>
                        <a:buSzPts val="1500"/>
                        <a:buFont typeface="Arial"/>
                        <a:buNone/>
                      </a:pPr>
                      <a:r>
                        <a:rPr lang="en-US" sz="1100" b="1">
                          <a:latin typeface="+mj-lt"/>
                        </a:rPr>
                        <a:t>A</a:t>
                      </a:r>
                      <a:r>
                        <a:rPr lang="en-US" sz="1100" b="1">
                          <a:solidFill>
                            <a:srgbClr val="000000"/>
                          </a:solidFill>
                          <a:latin typeface="+mj-lt"/>
                        </a:rPr>
                        <a:t>lmost always demonstrated these </a:t>
                      </a:r>
                      <a:r>
                        <a:rPr lang="en-US" sz="1100" b="1" err="1">
                          <a:solidFill>
                            <a:srgbClr val="000000"/>
                          </a:solidFill>
                          <a:latin typeface="+mj-lt"/>
                        </a:rPr>
                        <a:t>behaviours</a:t>
                      </a:r>
                      <a:endParaRPr sz="1100" b="1">
                        <a:latin typeface="+mj-lt"/>
                      </a:endParaRP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FCDA8"/>
                    </a:solidFill>
                  </a:tcPr>
                </a:tc>
                <a:extLst>
                  <a:ext uri="{0D108BD9-81ED-4DB2-BD59-A6C34878D82A}">
                    <a16:rowId xmlns:a16="http://schemas.microsoft.com/office/drawing/2014/main" val="10001"/>
                  </a:ext>
                </a:extLst>
              </a:tr>
              <a:tr h="730743">
                <a:tc>
                  <a:txBody>
                    <a:bodyPr/>
                    <a:lstStyle/>
                    <a:p>
                      <a:pPr marL="0" lvl="0" indent="0" algn="ctr" rtl="0">
                        <a:spcBef>
                          <a:spcPts val="0"/>
                        </a:spcBef>
                        <a:spcAft>
                          <a:spcPts val="0"/>
                        </a:spcAft>
                        <a:buClr>
                          <a:srgbClr val="000000"/>
                        </a:buClr>
                        <a:buSzPts val="1500"/>
                        <a:buFont typeface="Arial"/>
                        <a:buNone/>
                      </a:pPr>
                      <a:r>
                        <a:rPr lang="en-US" sz="1100" b="1">
                          <a:latin typeface="+mj-lt"/>
                        </a:rPr>
                        <a:t>O</a:t>
                      </a:r>
                      <a:r>
                        <a:rPr lang="en-US" sz="1100" b="1">
                          <a:solidFill>
                            <a:srgbClr val="000000"/>
                          </a:solidFill>
                          <a:latin typeface="+mj-lt"/>
                        </a:rPr>
                        <a:t>ften demonstrated these </a:t>
                      </a:r>
                      <a:r>
                        <a:rPr lang="en-US" sz="1100" b="1" err="1">
                          <a:solidFill>
                            <a:srgbClr val="000000"/>
                          </a:solidFill>
                          <a:latin typeface="+mj-lt"/>
                        </a:rPr>
                        <a:t>behaviours</a:t>
                      </a:r>
                      <a:endParaRPr sz="1100" b="1">
                        <a:latin typeface="+mj-lt"/>
                      </a:endParaRP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FCDA8"/>
                    </a:solidFill>
                  </a:tcPr>
                </a:tc>
                <a:extLst>
                  <a:ext uri="{0D108BD9-81ED-4DB2-BD59-A6C34878D82A}">
                    <a16:rowId xmlns:a16="http://schemas.microsoft.com/office/drawing/2014/main" val="10002"/>
                  </a:ext>
                </a:extLst>
              </a:tr>
              <a:tr h="730743">
                <a:tc>
                  <a:txBody>
                    <a:bodyPr/>
                    <a:lstStyle/>
                    <a:p>
                      <a:pPr marL="0" lvl="0" indent="0" algn="ctr" rtl="0">
                        <a:spcBef>
                          <a:spcPts val="0"/>
                        </a:spcBef>
                        <a:spcAft>
                          <a:spcPts val="0"/>
                        </a:spcAft>
                        <a:buClr>
                          <a:srgbClr val="000000"/>
                        </a:buClr>
                        <a:buSzPts val="1500"/>
                        <a:buFont typeface="Arial"/>
                        <a:buNone/>
                      </a:pPr>
                      <a:r>
                        <a:rPr lang="en-US" sz="1100" b="1">
                          <a:latin typeface="+mj-lt"/>
                        </a:rPr>
                        <a:t>S</a:t>
                      </a:r>
                      <a:r>
                        <a:rPr lang="en-US" sz="1100" b="1">
                          <a:solidFill>
                            <a:srgbClr val="000000"/>
                          </a:solidFill>
                          <a:latin typeface="+mj-lt"/>
                        </a:rPr>
                        <a:t>ometimes demonstrated these behaviours</a:t>
                      </a:r>
                      <a:endParaRPr sz="1100" b="1">
                        <a:solidFill>
                          <a:srgbClr val="000000"/>
                        </a:solidFill>
                        <a:latin typeface="+mj-lt"/>
                      </a:endParaRP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3"/>
                  </a:ext>
                </a:extLst>
              </a:tr>
              <a:tr h="730743">
                <a:tc>
                  <a:txBody>
                    <a:bodyPr/>
                    <a:lstStyle/>
                    <a:p>
                      <a:pPr marL="0" lvl="0" indent="0" algn="ctr" rtl="0">
                        <a:spcBef>
                          <a:spcPts val="0"/>
                        </a:spcBef>
                        <a:spcAft>
                          <a:spcPts val="0"/>
                        </a:spcAft>
                        <a:buClr>
                          <a:srgbClr val="000000"/>
                        </a:buClr>
                        <a:buSzPts val="1500"/>
                        <a:buFont typeface="Arial"/>
                        <a:buNone/>
                      </a:pPr>
                      <a:r>
                        <a:rPr lang="en-US" sz="1100" b="1">
                          <a:latin typeface="+mj-lt"/>
                        </a:rPr>
                        <a:t>A</a:t>
                      </a:r>
                      <a:r>
                        <a:rPr lang="en-US" sz="1100" b="1">
                          <a:solidFill>
                            <a:srgbClr val="000000"/>
                          </a:solidFill>
                          <a:latin typeface="+mj-lt"/>
                        </a:rPr>
                        <a:t>cted contradictory to these behaviours</a:t>
                      </a:r>
                      <a:endParaRPr sz="1100" b="1">
                        <a:solidFill>
                          <a:srgbClr val="000000"/>
                        </a:solidFill>
                        <a:latin typeface="+mj-lt"/>
                      </a:endParaRP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4"/>
                  </a:ext>
                </a:extLst>
              </a:tr>
              <a:tr h="730743">
                <a:tc>
                  <a:txBody>
                    <a:bodyPr/>
                    <a:lstStyle/>
                    <a:p>
                      <a:pPr marL="0" lvl="0" indent="0" algn="ctr" rtl="0">
                        <a:spcBef>
                          <a:spcPts val="0"/>
                        </a:spcBef>
                        <a:spcAft>
                          <a:spcPts val="0"/>
                        </a:spcAft>
                        <a:buClr>
                          <a:srgbClr val="000000"/>
                        </a:buClr>
                        <a:buSzPts val="1500"/>
                        <a:buFont typeface="Arial"/>
                        <a:buNone/>
                      </a:pPr>
                      <a:r>
                        <a:rPr lang="en-US" sz="1100" b="1">
                          <a:latin typeface="+mj-lt"/>
                        </a:rPr>
                        <a:t>Not applicable; did not have the opportunity to demonstrate these </a:t>
                      </a:r>
                      <a:r>
                        <a:rPr lang="en-US" sz="1100" b="1" err="1">
                          <a:latin typeface="+mj-lt"/>
                        </a:rPr>
                        <a:t>behaviours</a:t>
                      </a:r>
                      <a:endParaRPr sz="1100" b="1">
                        <a:solidFill>
                          <a:srgbClr val="000000"/>
                        </a:solidFill>
                        <a:latin typeface="+mj-lt"/>
                      </a:endParaRP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5"/>
                  </a:ext>
                </a:extLst>
              </a:tr>
            </a:tbl>
          </a:graphicData>
        </a:graphic>
      </p:graphicFrame>
      <p:sp>
        <p:nvSpPr>
          <p:cNvPr id="24" name="Google Shape;1312;p160">
            <a:extLst>
              <a:ext uri="{FF2B5EF4-FFF2-40B4-BE49-F238E27FC236}">
                <a16:creationId xmlns:a16="http://schemas.microsoft.com/office/drawing/2014/main" id="{D664CE62-F2B0-CFF8-711D-595F89BFE067}"/>
              </a:ext>
            </a:extLst>
          </p:cNvPr>
          <p:cNvSpPr/>
          <p:nvPr/>
        </p:nvSpPr>
        <p:spPr>
          <a:xfrm rot="16200000">
            <a:off x="320606" y="3246498"/>
            <a:ext cx="1422897" cy="3309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00" b="1">
                <a:solidFill>
                  <a:schemeClr val="tx1"/>
                </a:solidFill>
              </a:rPr>
              <a:t>Expected Norm</a:t>
            </a:r>
            <a:endParaRPr sz="900" b="1">
              <a:solidFill>
                <a:schemeClr val="tx1"/>
              </a:solidFill>
            </a:endParaRPr>
          </a:p>
        </p:txBody>
      </p:sp>
      <p:sp>
        <p:nvSpPr>
          <p:cNvPr id="25" name="Google Shape;1313;p160">
            <a:extLst>
              <a:ext uri="{FF2B5EF4-FFF2-40B4-BE49-F238E27FC236}">
                <a16:creationId xmlns:a16="http://schemas.microsoft.com/office/drawing/2014/main" id="{538F3C65-C400-8CF3-B31C-45E51630343D}"/>
              </a:ext>
            </a:extLst>
          </p:cNvPr>
          <p:cNvSpPr/>
          <p:nvPr/>
        </p:nvSpPr>
        <p:spPr>
          <a:xfrm rot="16200000">
            <a:off x="-52581" y="5075100"/>
            <a:ext cx="2169270" cy="3309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00" b="1">
                <a:solidFill>
                  <a:schemeClr val="tx1"/>
                </a:solidFill>
              </a:rPr>
              <a:t>Uncommon</a:t>
            </a:r>
            <a:endParaRPr sz="900" b="1">
              <a:solidFill>
                <a:schemeClr val="tx1"/>
              </a:solidFill>
            </a:endParaRPr>
          </a:p>
        </p:txBody>
      </p:sp>
      <p:sp>
        <p:nvSpPr>
          <p:cNvPr id="26" name="Google Shape;1314;p160">
            <a:extLst>
              <a:ext uri="{FF2B5EF4-FFF2-40B4-BE49-F238E27FC236}">
                <a16:creationId xmlns:a16="http://schemas.microsoft.com/office/drawing/2014/main" id="{2A50AA92-7C11-1D81-2770-75B59748156A}"/>
              </a:ext>
            </a:extLst>
          </p:cNvPr>
          <p:cNvSpPr/>
          <p:nvPr/>
        </p:nvSpPr>
        <p:spPr>
          <a:xfrm rot="16200000">
            <a:off x="669303" y="2139572"/>
            <a:ext cx="725502" cy="3309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00" b="1">
                <a:solidFill>
                  <a:schemeClr val="tx1"/>
                </a:solidFill>
              </a:rPr>
              <a:t>Un- common</a:t>
            </a:r>
            <a:endParaRPr sz="900" b="1">
              <a:solidFill>
                <a:schemeClr val="tx1"/>
              </a:solidFill>
            </a:endParaRPr>
          </a:p>
        </p:txBody>
      </p:sp>
      <p:sp>
        <p:nvSpPr>
          <p:cNvPr id="27" name="Google Shape;1315;p160">
            <a:extLst>
              <a:ext uri="{FF2B5EF4-FFF2-40B4-BE49-F238E27FC236}">
                <a16:creationId xmlns:a16="http://schemas.microsoft.com/office/drawing/2014/main" id="{598FEB3E-10B8-CB46-085C-0467B9F17D19}"/>
              </a:ext>
            </a:extLst>
          </p:cNvPr>
          <p:cNvSpPr/>
          <p:nvPr/>
        </p:nvSpPr>
        <p:spPr>
          <a:xfrm>
            <a:off x="4152971" y="2024738"/>
            <a:ext cx="7648504" cy="634780"/>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lvl="0" indent="0" rtl="0">
              <a:spcBef>
                <a:spcPts val="0"/>
              </a:spcBef>
              <a:spcAft>
                <a:spcPts val="0"/>
              </a:spcAft>
              <a:buNone/>
            </a:pPr>
            <a:r>
              <a:rPr lang="en-US" sz="1100">
                <a:solidFill>
                  <a:schemeClr val="dk1"/>
                </a:solidFill>
                <a:latin typeface="+mj-lt"/>
              </a:rPr>
              <a:t>During a difficult phase of the work, the individual remained agile and supported team members, </a:t>
            </a:r>
            <a:r>
              <a:rPr lang="en-US" sz="1100" b="1">
                <a:solidFill>
                  <a:schemeClr val="dk1"/>
                </a:solidFill>
                <a:latin typeface="+mj-lt"/>
              </a:rPr>
              <a:t>helping the team see the ‘big picture’ and motivating them to remain flexible</a:t>
            </a:r>
            <a:r>
              <a:rPr lang="en-US" sz="1100">
                <a:solidFill>
                  <a:schemeClr val="dk1"/>
                </a:solidFill>
                <a:latin typeface="+mj-lt"/>
              </a:rPr>
              <a:t>. They served as a trusted advisor to others on the team. As a result of </a:t>
            </a:r>
            <a:r>
              <a:rPr lang="en-US" sz="1100" b="1">
                <a:solidFill>
                  <a:schemeClr val="dk1"/>
                </a:solidFill>
                <a:latin typeface="+mj-lt"/>
              </a:rPr>
              <a:t>their influence on others</a:t>
            </a:r>
            <a:r>
              <a:rPr lang="en-US" sz="1100">
                <a:solidFill>
                  <a:schemeClr val="dk1"/>
                </a:solidFill>
                <a:latin typeface="+mj-lt"/>
              </a:rPr>
              <a:t>, the </a:t>
            </a:r>
            <a:r>
              <a:rPr lang="en-US" sz="1100" b="1">
                <a:solidFill>
                  <a:schemeClr val="dk1"/>
                </a:solidFill>
                <a:latin typeface="+mj-lt"/>
              </a:rPr>
              <a:t>team emerged stronger</a:t>
            </a:r>
            <a:r>
              <a:rPr lang="en-US" sz="1100">
                <a:solidFill>
                  <a:schemeClr val="dk1"/>
                </a:solidFill>
                <a:latin typeface="+mj-lt"/>
              </a:rPr>
              <a:t> and had a positive impact on the customer.</a:t>
            </a:r>
            <a:endParaRPr sz="1100">
              <a:solidFill>
                <a:schemeClr val="dk1"/>
              </a:solidFill>
              <a:latin typeface="+mj-lt"/>
            </a:endParaRPr>
          </a:p>
        </p:txBody>
      </p:sp>
    </p:spTree>
    <p:extLst>
      <p:ext uri="{BB962C8B-B14F-4D97-AF65-F5344CB8AC3E}">
        <p14:creationId xmlns:p14="http://schemas.microsoft.com/office/powerpoint/2010/main" val="1550893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E1B5-4B7B-3865-0409-695E76FDAF5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3AB7425-EB63-14F5-8D14-45E4B484FC89}"/>
              </a:ext>
            </a:extLst>
          </p:cNvPr>
          <p:cNvSpPr/>
          <p:nvPr/>
        </p:nvSpPr>
        <p:spPr>
          <a:xfrm>
            <a:off x="4378074" y="1358629"/>
            <a:ext cx="2454135" cy="2071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itle 6">
            <a:extLst>
              <a:ext uri="{FF2B5EF4-FFF2-40B4-BE49-F238E27FC236}">
                <a16:creationId xmlns:a16="http://schemas.microsoft.com/office/drawing/2014/main" id="{7266EC03-03CD-9B23-0C69-EAE7F1569A34}"/>
              </a:ext>
            </a:extLst>
          </p:cNvPr>
          <p:cNvSpPr>
            <a:spLocks noGrp="1"/>
          </p:cNvSpPr>
          <p:nvPr>
            <p:ph type="title"/>
          </p:nvPr>
        </p:nvSpPr>
        <p:spPr/>
        <p:txBody>
          <a:bodyPr/>
          <a:lstStyle/>
          <a:p>
            <a:r>
              <a:rPr lang="en-US">
                <a:ea typeface="Georgia"/>
                <a:cs typeface="Georgia"/>
                <a:sym typeface="Georgia"/>
              </a:rPr>
              <a:t>Understanding Likert scale for assessing role expectations </a:t>
            </a:r>
            <a:r>
              <a:rPr lang="en-US" sz="2200">
                <a:ea typeface="Georgia"/>
                <a:cs typeface="Georgia"/>
                <a:sym typeface="Georgia"/>
              </a:rPr>
              <a:t>(downward only)</a:t>
            </a:r>
            <a:endParaRPr lang="en-US" noProof="0"/>
          </a:p>
        </p:txBody>
      </p:sp>
      <p:sp>
        <p:nvSpPr>
          <p:cNvPr id="2" name="Footer Placeholder 1">
            <a:extLst>
              <a:ext uri="{FF2B5EF4-FFF2-40B4-BE49-F238E27FC236}">
                <a16:creationId xmlns:a16="http://schemas.microsoft.com/office/drawing/2014/main" id="{FA25EA27-C58C-7582-463A-65CCF5A3D06F}"/>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Leadership Development Experience (LDE) </a:t>
            </a:r>
          </a:p>
        </p:txBody>
      </p:sp>
      <p:sp>
        <p:nvSpPr>
          <p:cNvPr id="3" name="Slide Number Placeholder 2">
            <a:extLst>
              <a:ext uri="{FF2B5EF4-FFF2-40B4-BE49-F238E27FC236}">
                <a16:creationId xmlns:a16="http://schemas.microsoft.com/office/drawing/2014/main" id="{1FA3BFC3-40CD-9A15-D9C3-19FAD0081BC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 name="Google Shape;1302;p160">
            <a:extLst>
              <a:ext uri="{FF2B5EF4-FFF2-40B4-BE49-F238E27FC236}">
                <a16:creationId xmlns:a16="http://schemas.microsoft.com/office/drawing/2014/main" id="{6E461018-A206-9280-2FEA-AA7F6E3BCD5F}"/>
              </a:ext>
            </a:extLst>
          </p:cNvPr>
          <p:cNvSpPr txBox="1"/>
          <p:nvPr/>
        </p:nvSpPr>
        <p:spPr>
          <a:xfrm>
            <a:off x="404797" y="812150"/>
            <a:ext cx="11396677" cy="1000274"/>
          </a:xfrm>
          <a:prstGeom prst="rect">
            <a:avLst/>
          </a:prstGeom>
          <a:noFill/>
          <a:ln>
            <a:noFill/>
          </a:ln>
        </p:spPr>
        <p:txBody>
          <a:bodyPr spcFirstLastPara="1" wrap="square" lIns="0" tIns="0" rIns="0" bIns="0" anchor="t" anchorCtr="0">
            <a:spAutoFit/>
          </a:bodyPr>
          <a:lstStyle/>
          <a:p>
            <a:pPr lvl="0">
              <a:spcAft>
                <a:spcPts val="600"/>
              </a:spcAft>
            </a:pPr>
            <a:r>
              <a:rPr lang="en-US" sz="1100">
                <a:solidFill>
                  <a:schemeClr val="tx1"/>
                </a:solidFill>
                <a:latin typeface="+mj-lt"/>
              </a:rPr>
              <a:t>Align with your manager / leader and broader team on role expectations and what “success” looks like. These expectations should be discussed at the beginning of the body of work and revisited throughout, as roles and responsibilities may evolve within fast changing environments. This shared understanding enables feedback givers to respond in a meaningful and relevant way, and provide deeper insights into your performance. </a:t>
            </a:r>
          </a:p>
          <a:p>
            <a:pPr lvl="0">
              <a:spcAft>
                <a:spcPts val="600"/>
              </a:spcAft>
            </a:pPr>
            <a:r>
              <a:rPr lang="en-US" sz="1100">
                <a:solidFill>
                  <a:schemeClr val="tx1"/>
                </a:solidFill>
                <a:latin typeface="+mj-lt"/>
              </a:rPr>
              <a:t>In support of these conversations, a manager / leader may share </a:t>
            </a:r>
            <a:r>
              <a:rPr lang="en-US" sz="1100" u="sng">
                <a:solidFill>
                  <a:schemeClr val="tx1"/>
                </a:solidFill>
                <a:latin typeface="+mj-lt"/>
                <a:hlinkClick r:id="rId3">
                  <a:extLst>
                    <a:ext uri="{A12FA001-AC4F-418D-AE19-62706E023703}">
                      <ahyp:hlinkClr xmlns:ahyp="http://schemas.microsoft.com/office/drawing/2018/hyperlinkcolor" val="tx"/>
                    </a:ext>
                  </a:extLst>
                </a:hlinkClick>
              </a:rPr>
              <a:t>supplementary grade level expectations</a:t>
            </a:r>
            <a:r>
              <a:rPr lang="en-US" sz="1100">
                <a:solidFill>
                  <a:schemeClr val="tx1"/>
                </a:solidFill>
                <a:latin typeface="+mj-lt"/>
              </a:rPr>
              <a:t>. This should not replace role-specific expectations set during initial conversations, but can help understand or clarify baseline expectations for an individual’s grade. </a:t>
            </a:r>
          </a:p>
        </p:txBody>
      </p:sp>
      <p:sp>
        <p:nvSpPr>
          <p:cNvPr id="13" name="Google Shape;1300;p160">
            <a:extLst>
              <a:ext uri="{FF2B5EF4-FFF2-40B4-BE49-F238E27FC236}">
                <a16:creationId xmlns:a16="http://schemas.microsoft.com/office/drawing/2014/main" id="{4E574122-0926-9494-0F59-402CA4B339CB}"/>
              </a:ext>
            </a:extLst>
          </p:cNvPr>
          <p:cNvSpPr/>
          <p:nvPr/>
        </p:nvSpPr>
        <p:spPr>
          <a:xfrm>
            <a:off x="797171" y="6053604"/>
            <a:ext cx="2327700" cy="184506"/>
          </a:xfrm>
          <a:prstGeom prst="rect">
            <a:avLst/>
          </a:prstGeom>
          <a:solidFill>
            <a:schemeClr val="l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p>
        </p:txBody>
      </p:sp>
      <p:sp>
        <p:nvSpPr>
          <p:cNvPr id="20" name="Google Shape;1308;p160">
            <a:extLst>
              <a:ext uri="{FF2B5EF4-FFF2-40B4-BE49-F238E27FC236}">
                <a16:creationId xmlns:a16="http://schemas.microsoft.com/office/drawing/2014/main" id="{90127458-5577-9A40-7467-14D8ACDE7E7A}"/>
              </a:ext>
            </a:extLst>
          </p:cNvPr>
          <p:cNvSpPr/>
          <p:nvPr/>
        </p:nvSpPr>
        <p:spPr>
          <a:xfrm>
            <a:off x="1221504" y="1945101"/>
            <a:ext cx="2807700" cy="306954"/>
          </a:xfrm>
          <a:prstGeom prst="rect">
            <a:avLst/>
          </a:prstGeom>
          <a:solidFill>
            <a:srgbClr val="A1A8B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200" b="1">
                <a:solidFill>
                  <a:schemeClr val="tx1"/>
                </a:solidFill>
              </a:rPr>
              <a:t>Likert scale options</a:t>
            </a:r>
          </a:p>
        </p:txBody>
      </p:sp>
      <p:sp>
        <p:nvSpPr>
          <p:cNvPr id="21" name="Google Shape;1309;p160">
            <a:extLst>
              <a:ext uri="{FF2B5EF4-FFF2-40B4-BE49-F238E27FC236}">
                <a16:creationId xmlns:a16="http://schemas.microsoft.com/office/drawing/2014/main" id="{8C6FE5AA-A2E8-C332-F789-1BF73B54CE58}"/>
              </a:ext>
            </a:extLst>
          </p:cNvPr>
          <p:cNvSpPr/>
          <p:nvPr/>
        </p:nvSpPr>
        <p:spPr>
          <a:xfrm>
            <a:off x="4152971" y="1945101"/>
            <a:ext cx="7648504" cy="306954"/>
          </a:xfrm>
          <a:prstGeom prst="rect">
            <a:avLst/>
          </a:prstGeom>
          <a:solidFill>
            <a:srgbClr val="A1A8B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200" b="1">
                <a:solidFill>
                  <a:schemeClr val="tx1"/>
                </a:solidFill>
              </a:rPr>
              <a:t>Example scenario for selection</a:t>
            </a:r>
          </a:p>
        </p:txBody>
      </p:sp>
      <p:sp>
        <p:nvSpPr>
          <p:cNvPr id="22" name="Google Shape;1310;p160">
            <a:extLst>
              <a:ext uri="{FF2B5EF4-FFF2-40B4-BE49-F238E27FC236}">
                <a16:creationId xmlns:a16="http://schemas.microsoft.com/office/drawing/2014/main" id="{759563CE-DC8F-4D7C-0FDB-8C07FED9D3E4}"/>
              </a:ext>
            </a:extLst>
          </p:cNvPr>
          <p:cNvSpPr/>
          <p:nvPr/>
        </p:nvSpPr>
        <p:spPr>
          <a:xfrm rot="16200000">
            <a:off x="-1339881" y="4113618"/>
            <a:ext cx="4009003" cy="330900"/>
          </a:xfrm>
          <a:prstGeom prst="rect">
            <a:avLst/>
          </a:prstGeom>
          <a:solidFill>
            <a:srgbClr val="A1A8B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200" b="1">
                <a:solidFill>
                  <a:schemeClr val="tx1"/>
                </a:solidFill>
              </a:rPr>
              <a:t>When to select</a:t>
            </a:r>
          </a:p>
        </p:txBody>
      </p:sp>
      <p:graphicFrame>
        <p:nvGraphicFramePr>
          <p:cNvPr id="23" name="Google Shape;1311;p160">
            <a:extLst>
              <a:ext uri="{FF2B5EF4-FFF2-40B4-BE49-F238E27FC236}">
                <a16:creationId xmlns:a16="http://schemas.microsoft.com/office/drawing/2014/main" id="{F46A17D1-06BC-B9BF-F63A-A04CF62B4781}"/>
              </a:ext>
            </a:extLst>
          </p:cNvPr>
          <p:cNvGraphicFramePr/>
          <p:nvPr/>
        </p:nvGraphicFramePr>
        <p:xfrm>
          <a:off x="1221519" y="2268630"/>
          <a:ext cx="2807775" cy="4009004"/>
        </p:xfrm>
        <a:graphic>
          <a:graphicData uri="http://schemas.openxmlformats.org/drawingml/2006/table">
            <a:tbl>
              <a:tblPr>
                <a:noFill/>
              </a:tblPr>
              <a:tblGrid>
                <a:gridCol w="2807775">
                  <a:extLst>
                    <a:ext uri="{9D8B030D-6E8A-4147-A177-3AD203B41FA5}">
                      <a16:colId xmlns:a16="http://schemas.microsoft.com/office/drawing/2014/main" val="20000"/>
                    </a:ext>
                  </a:extLst>
                </a:gridCol>
              </a:tblGrid>
              <a:tr h="1002251">
                <a:tc>
                  <a:txBody>
                    <a:bodyPr/>
                    <a:lstStyle/>
                    <a:p>
                      <a:pPr marL="0" lvl="0" indent="0" algn="ctr" rtl="0">
                        <a:spcBef>
                          <a:spcPts val="0"/>
                        </a:spcBef>
                        <a:spcAft>
                          <a:spcPts val="0"/>
                        </a:spcAft>
                        <a:buClr>
                          <a:srgbClr val="000000"/>
                        </a:buClr>
                        <a:buSzPts val="1500"/>
                        <a:buFont typeface="Arial"/>
                        <a:buNone/>
                      </a:pPr>
                      <a:r>
                        <a:rPr lang="en-US" sz="1100" b="1">
                          <a:latin typeface="+mj-lt"/>
                        </a:rPr>
                        <a:t>Beyond expectations</a:t>
                      </a: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0"/>
                  </a:ext>
                </a:extLst>
              </a:tr>
              <a:tr h="1002251">
                <a:tc>
                  <a:txBody>
                    <a:bodyPr/>
                    <a:lstStyle/>
                    <a:p>
                      <a:pPr marL="0" lvl="0" indent="0" algn="ctr" rtl="0">
                        <a:spcBef>
                          <a:spcPts val="0"/>
                        </a:spcBef>
                        <a:spcAft>
                          <a:spcPts val="0"/>
                        </a:spcAft>
                        <a:buClr>
                          <a:srgbClr val="000000"/>
                        </a:buClr>
                        <a:buSzPts val="1500"/>
                        <a:buFont typeface="Arial"/>
                        <a:buNone/>
                      </a:pPr>
                      <a:r>
                        <a:rPr lang="en-US" sz="1100" b="1">
                          <a:latin typeface="+mj-lt"/>
                        </a:rPr>
                        <a:t>In line with expectations</a:t>
                      </a: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FCDA8"/>
                    </a:solidFill>
                  </a:tcPr>
                </a:tc>
                <a:extLst>
                  <a:ext uri="{0D108BD9-81ED-4DB2-BD59-A6C34878D82A}">
                    <a16:rowId xmlns:a16="http://schemas.microsoft.com/office/drawing/2014/main" val="10001"/>
                  </a:ext>
                </a:extLst>
              </a:tr>
              <a:tr h="1002251">
                <a:tc>
                  <a:txBody>
                    <a:bodyPr/>
                    <a:lstStyle/>
                    <a:p>
                      <a:pPr marL="0" lvl="0" indent="0" algn="ctr" rtl="0">
                        <a:spcBef>
                          <a:spcPts val="0"/>
                        </a:spcBef>
                        <a:spcAft>
                          <a:spcPts val="0"/>
                        </a:spcAft>
                        <a:buClr>
                          <a:srgbClr val="000000"/>
                        </a:buClr>
                        <a:buSzPts val="1500"/>
                        <a:buFont typeface="Arial"/>
                        <a:buNone/>
                      </a:pPr>
                      <a:r>
                        <a:rPr lang="en-US" sz="1100" b="1">
                          <a:latin typeface="+mj-lt"/>
                        </a:rPr>
                        <a:t>Mostly in line with expectations</a:t>
                      </a: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2"/>
                  </a:ext>
                </a:extLst>
              </a:tr>
              <a:tr h="1002251">
                <a:tc>
                  <a:txBody>
                    <a:bodyPr/>
                    <a:lstStyle/>
                    <a:p>
                      <a:pPr marL="0" lvl="0" indent="0" algn="ctr" rtl="0">
                        <a:spcBef>
                          <a:spcPts val="0"/>
                        </a:spcBef>
                        <a:spcAft>
                          <a:spcPts val="0"/>
                        </a:spcAft>
                        <a:buClr>
                          <a:srgbClr val="000000"/>
                        </a:buClr>
                        <a:buSzPts val="1500"/>
                        <a:buFont typeface="Arial"/>
                        <a:buNone/>
                      </a:pPr>
                      <a:r>
                        <a:rPr lang="en-US" sz="1100" b="1">
                          <a:latin typeface="+mj-lt"/>
                        </a:rPr>
                        <a:t>Below expectations</a:t>
                      </a: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3"/>
                  </a:ext>
                </a:extLst>
              </a:tr>
            </a:tbl>
          </a:graphicData>
        </a:graphic>
      </p:graphicFrame>
      <p:sp>
        <p:nvSpPr>
          <p:cNvPr id="24" name="Google Shape;1312;p160">
            <a:extLst>
              <a:ext uri="{FF2B5EF4-FFF2-40B4-BE49-F238E27FC236}">
                <a16:creationId xmlns:a16="http://schemas.microsoft.com/office/drawing/2014/main" id="{4F99C46C-202E-21EB-6172-50F0BEB527C5}"/>
              </a:ext>
            </a:extLst>
          </p:cNvPr>
          <p:cNvSpPr/>
          <p:nvPr/>
        </p:nvSpPr>
        <p:spPr>
          <a:xfrm rot="16200000">
            <a:off x="536718" y="3601724"/>
            <a:ext cx="990673" cy="3309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00" b="1">
                <a:solidFill>
                  <a:schemeClr val="tx1"/>
                </a:solidFill>
              </a:rPr>
              <a:t>Expected Norm</a:t>
            </a:r>
          </a:p>
        </p:txBody>
      </p:sp>
      <p:sp>
        <p:nvSpPr>
          <p:cNvPr id="25" name="Google Shape;1313;p160">
            <a:extLst>
              <a:ext uri="{FF2B5EF4-FFF2-40B4-BE49-F238E27FC236}">
                <a16:creationId xmlns:a16="http://schemas.microsoft.com/office/drawing/2014/main" id="{B166E263-6D98-E2E6-EC43-B05078678287}"/>
              </a:ext>
            </a:extLst>
          </p:cNvPr>
          <p:cNvSpPr/>
          <p:nvPr/>
        </p:nvSpPr>
        <p:spPr>
          <a:xfrm rot="16200000">
            <a:off x="45283" y="5125413"/>
            <a:ext cx="1973542" cy="3309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00" b="1">
                <a:solidFill>
                  <a:schemeClr val="tx1"/>
                </a:solidFill>
              </a:rPr>
              <a:t>Uncommon</a:t>
            </a:r>
          </a:p>
        </p:txBody>
      </p:sp>
      <p:sp>
        <p:nvSpPr>
          <p:cNvPr id="26" name="Google Shape;1314;p160">
            <a:extLst>
              <a:ext uri="{FF2B5EF4-FFF2-40B4-BE49-F238E27FC236}">
                <a16:creationId xmlns:a16="http://schemas.microsoft.com/office/drawing/2014/main" id="{2DE0F39A-1D04-7460-E333-5127B74DF47F}"/>
              </a:ext>
            </a:extLst>
          </p:cNvPr>
          <p:cNvSpPr/>
          <p:nvPr/>
        </p:nvSpPr>
        <p:spPr>
          <a:xfrm rot="16200000">
            <a:off x="551263" y="2584928"/>
            <a:ext cx="961582" cy="3309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00" b="1">
                <a:solidFill>
                  <a:schemeClr val="tx1"/>
                </a:solidFill>
              </a:rPr>
              <a:t>Uncommon</a:t>
            </a:r>
          </a:p>
        </p:txBody>
      </p:sp>
      <p:sp>
        <p:nvSpPr>
          <p:cNvPr id="14" name="Google Shape;1303;p160">
            <a:extLst>
              <a:ext uri="{FF2B5EF4-FFF2-40B4-BE49-F238E27FC236}">
                <a16:creationId xmlns:a16="http://schemas.microsoft.com/office/drawing/2014/main" id="{776C5982-A382-BB34-1BB7-62AD8FD8D3FB}"/>
              </a:ext>
            </a:extLst>
          </p:cNvPr>
          <p:cNvSpPr/>
          <p:nvPr/>
        </p:nvSpPr>
        <p:spPr>
          <a:xfrm>
            <a:off x="4152971" y="3367542"/>
            <a:ext cx="7648504" cy="879115"/>
          </a:xfrm>
          <a:prstGeom prst="roundRect">
            <a:avLst>
              <a:gd name="adj" fmla="val 0"/>
            </a:avLst>
          </a:prstGeom>
          <a:solidFill>
            <a:srgbClr val="FFCDA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lvl="0"/>
            <a:r>
              <a:rPr lang="en-US" sz="1100">
                <a:solidFill>
                  <a:schemeClr val="dk1"/>
                </a:solidFill>
                <a:latin typeface="+mj-lt"/>
              </a:rPr>
              <a:t>Following an initial conversation with their team, the individual </a:t>
            </a:r>
            <a:r>
              <a:rPr lang="en-US" sz="1100" b="1">
                <a:solidFill>
                  <a:schemeClr val="dk1"/>
                </a:solidFill>
                <a:latin typeface="+mj-lt"/>
              </a:rPr>
              <a:t>consistently demonstrated a strong understanding of the role</a:t>
            </a:r>
            <a:r>
              <a:rPr lang="en-US" sz="1100">
                <a:solidFill>
                  <a:schemeClr val="dk1"/>
                </a:solidFill>
                <a:latin typeface="+mj-lt"/>
              </a:rPr>
              <a:t> and their expected contribution to the team. The individual delivered quality work,</a:t>
            </a:r>
            <a:r>
              <a:rPr lang="en-US" sz="1100" b="1">
                <a:solidFill>
                  <a:schemeClr val="dk1"/>
                </a:solidFill>
                <a:latin typeface="+mj-lt"/>
              </a:rPr>
              <a:t> </a:t>
            </a:r>
            <a:r>
              <a:rPr lang="en-US" sz="1100">
                <a:solidFill>
                  <a:schemeClr val="dk1"/>
                </a:solidFill>
                <a:latin typeface="+mj-lt"/>
              </a:rPr>
              <a:t>in line with the expectations of our high performance culture, which </a:t>
            </a:r>
            <a:r>
              <a:rPr lang="en-US" sz="1100" b="1">
                <a:solidFill>
                  <a:schemeClr val="dk1"/>
                </a:solidFill>
                <a:latin typeface="+mj-lt"/>
              </a:rPr>
              <a:t>enabled timely delivery.</a:t>
            </a:r>
          </a:p>
        </p:txBody>
      </p:sp>
      <p:sp>
        <p:nvSpPr>
          <p:cNvPr id="15" name="Google Shape;1304;p160">
            <a:extLst>
              <a:ext uri="{FF2B5EF4-FFF2-40B4-BE49-F238E27FC236}">
                <a16:creationId xmlns:a16="http://schemas.microsoft.com/office/drawing/2014/main" id="{EA24D12E-2D7D-6B2C-7A8E-C33B204DD756}"/>
              </a:ext>
            </a:extLst>
          </p:cNvPr>
          <p:cNvSpPr/>
          <p:nvPr/>
        </p:nvSpPr>
        <p:spPr>
          <a:xfrm>
            <a:off x="4152971" y="5398519"/>
            <a:ext cx="7648504" cy="879115"/>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lvl="0"/>
            <a:r>
              <a:rPr lang="en-US" sz="1100">
                <a:solidFill>
                  <a:schemeClr val="dk1"/>
                </a:solidFill>
                <a:latin typeface="+mj-lt"/>
              </a:rPr>
              <a:t>Despite </a:t>
            </a:r>
            <a:r>
              <a:rPr lang="en-US" sz="1100" b="1">
                <a:solidFill>
                  <a:schemeClr val="dk1"/>
                </a:solidFill>
                <a:latin typeface="+mj-lt"/>
              </a:rPr>
              <a:t>multiple conversations </a:t>
            </a:r>
            <a:r>
              <a:rPr lang="en-US" sz="1100">
                <a:solidFill>
                  <a:schemeClr val="dk1"/>
                </a:solidFill>
                <a:latin typeface="+mj-lt"/>
              </a:rPr>
              <a:t>around what is expected of someone in the role, the individual </a:t>
            </a:r>
            <a:r>
              <a:rPr lang="en-US" sz="1100" b="1">
                <a:solidFill>
                  <a:schemeClr val="dk1"/>
                </a:solidFill>
                <a:latin typeface="+mj-lt"/>
              </a:rPr>
              <a:t>consistently missed the communicated standards</a:t>
            </a:r>
            <a:r>
              <a:rPr lang="en-US" sz="1100">
                <a:solidFill>
                  <a:schemeClr val="dk1"/>
                </a:solidFill>
                <a:latin typeface="+mj-lt"/>
              </a:rPr>
              <a:t>, and showed </a:t>
            </a:r>
            <a:r>
              <a:rPr lang="en-US" sz="1100" b="1">
                <a:solidFill>
                  <a:schemeClr val="dk1"/>
                </a:solidFill>
                <a:latin typeface="+mj-lt"/>
              </a:rPr>
              <a:t>limited</a:t>
            </a:r>
            <a:r>
              <a:rPr lang="en-US" sz="1100">
                <a:solidFill>
                  <a:schemeClr val="dk1"/>
                </a:solidFill>
                <a:latin typeface="+mj-lt"/>
              </a:rPr>
              <a:t> signs of improvement. Additional time was spent refining the individual’s quality of work to bring it to the expected standard creating a </a:t>
            </a:r>
            <a:r>
              <a:rPr lang="en-US" sz="1100" b="1">
                <a:solidFill>
                  <a:schemeClr val="dk1"/>
                </a:solidFill>
                <a:latin typeface="+mj-lt"/>
              </a:rPr>
              <a:t>negative impact on overall delivery</a:t>
            </a:r>
            <a:r>
              <a:rPr lang="en-US" sz="1100">
                <a:solidFill>
                  <a:schemeClr val="dk1"/>
                </a:solidFill>
                <a:latin typeface="+mj-lt"/>
              </a:rPr>
              <a:t>.</a:t>
            </a:r>
          </a:p>
        </p:txBody>
      </p:sp>
      <p:sp>
        <p:nvSpPr>
          <p:cNvPr id="19" name="Google Shape;1307;p160">
            <a:extLst>
              <a:ext uri="{FF2B5EF4-FFF2-40B4-BE49-F238E27FC236}">
                <a16:creationId xmlns:a16="http://schemas.microsoft.com/office/drawing/2014/main" id="{A8B4FF2E-DBF6-8F95-DA2A-8CA527231774}"/>
              </a:ext>
            </a:extLst>
          </p:cNvPr>
          <p:cNvSpPr/>
          <p:nvPr/>
        </p:nvSpPr>
        <p:spPr>
          <a:xfrm>
            <a:off x="4152971" y="4383031"/>
            <a:ext cx="7648504" cy="879115"/>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lvl="0"/>
            <a:r>
              <a:rPr lang="en-US" sz="1100">
                <a:solidFill>
                  <a:schemeClr val="dk1"/>
                </a:solidFill>
                <a:latin typeface="+mj-lt"/>
              </a:rPr>
              <a:t>Following an initial conversation with their team, the individual </a:t>
            </a:r>
            <a:r>
              <a:rPr lang="en-US" sz="1100" b="1">
                <a:solidFill>
                  <a:schemeClr val="dk1"/>
                </a:solidFill>
                <a:latin typeface="+mj-lt"/>
              </a:rPr>
              <a:t>performed as expected most of the time</a:t>
            </a:r>
            <a:r>
              <a:rPr lang="en-US" sz="1100">
                <a:solidFill>
                  <a:schemeClr val="dk1"/>
                </a:solidFill>
                <a:latin typeface="+mj-lt"/>
              </a:rPr>
              <a:t> but</a:t>
            </a:r>
            <a:r>
              <a:rPr lang="en-US" sz="1100" b="1">
                <a:solidFill>
                  <a:schemeClr val="dk1"/>
                </a:solidFill>
                <a:latin typeface="+mj-lt"/>
              </a:rPr>
              <a:t> required some reminders</a:t>
            </a:r>
            <a:r>
              <a:rPr lang="en-US" sz="1100">
                <a:solidFill>
                  <a:schemeClr val="dk1"/>
                </a:solidFill>
                <a:latin typeface="+mj-lt"/>
              </a:rPr>
              <a:t> of set expectations. The individual delivered work that was of the expected quality, but not within the expected timelines, causing </a:t>
            </a:r>
            <a:r>
              <a:rPr lang="en-US" sz="1100" b="1">
                <a:solidFill>
                  <a:schemeClr val="dk1"/>
                </a:solidFill>
                <a:latin typeface="+mj-lt"/>
              </a:rPr>
              <a:t>disruption to overall delivery.</a:t>
            </a:r>
            <a:r>
              <a:rPr lang="en-US" sz="1100">
                <a:solidFill>
                  <a:schemeClr val="dk1"/>
                </a:solidFill>
                <a:latin typeface="+mj-lt"/>
              </a:rPr>
              <a:t> </a:t>
            </a:r>
            <a:endParaRPr lang="en-US" sz="1100" b="1">
              <a:solidFill>
                <a:schemeClr val="dk1"/>
              </a:solidFill>
              <a:latin typeface="+mj-lt"/>
            </a:endParaRPr>
          </a:p>
        </p:txBody>
      </p:sp>
      <p:sp>
        <p:nvSpPr>
          <p:cNvPr id="27" name="Google Shape;1315;p160">
            <a:extLst>
              <a:ext uri="{FF2B5EF4-FFF2-40B4-BE49-F238E27FC236}">
                <a16:creationId xmlns:a16="http://schemas.microsoft.com/office/drawing/2014/main" id="{F12883F1-38C3-EB57-5DC4-61FCB799F521}"/>
              </a:ext>
            </a:extLst>
          </p:cNvPr>
          <p:cNvSpPr/>
          <p:nvPr/>
        </p:nvSpPr>
        <p:spPr>
          <a:xfrm>
            <a:off x="4152971" y="2352054"/>
            <a:ext cx="7648504" cy="879115"/>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lvl="0"/>
            <a:r>
              <a:rPr lang="en-US" sz="1100">
                <a:solidFill>
                  <a:schemeClr val="dk1"/>
                </a:solidFill>
                <a:latin typeface="+mj-lt"/>
              </a:rPr>
              <a:t>Following an initial conversation with their team, the individual </a:t>
            </a:r>
            <a:r>
              <a:rPr lang="en-US" sz="1100" b="1">
                <a:solidFill>
                  <a:schemeClr val="dk1"/>
                </a:solidFill>
                <a:latin typeface="+mj-lt"/>
              </a:rPr>
              <a:t>consistently took initiative</a:t>
            </a:r>
            <a:r>
              <a:rPr lang="en-US" sz="1100">
                <a:solidFill>
                  <a:schemeClr val="dk1"/>
                </a:solidFill>
                <a:latin typeface="+mj-lt"/>
              </a:rPr>
              <a:t> to not only apply the communicated role expectations, but </a:t>
            </a:r>
            <a:r>
              <a:rPr lang="en-US" sz="1100" b="1">
                <a:solidFill>
                  <a:schemeClr val="dk1"/>
                </a:solidFill>
                <a:latin typeface="+mj-lt"/>
              </a:rPr>
              <a:t>to exceed outlined expectations</a:t>
            </a:r>
            <a:r>
              <a:rPr lang="en-US" sz="1100">
                <a:solidFill>
                  <a:schemeClr val="dk1"/>
                </a:solidFill>
                <a:latin typeface="+mj-lt"/>
              </a:rPr>
              <a:t>. They contributed significantly to overall team performance, while also </a:t>
            </a:r>
            <a:r>
              <a:rPr lang="en-US" sz="1100" b="1">
                <a:solidFill>
                  <a:schemeClr val="dk1"/>
                </a:solidFill>
                <a:latin typeface="+mj-lt"/>
              </a:rPr>
              <a:t>enhancing the performance of others</a:t>
            </a:r>
            <a:r>
              <a:rPr lang="en-US" sz="1100">
                <a:solidFill>
                  <a:schemeClr val="dk1"/>
                </a:solidFill>
                <a:latin typeface="+mj-lt"/>
              </a:rPr>
              <a:t>. </a:t>
            </a:r>
          </a:p>
        </p:txBody>
      </p:sp>
      <p:sp>
        <p:nvSpPr>
          <p:cNvPr id="5" name="Google Shape;1333;p161">
            <a:extLst>
              <a:ext uri="{FF2B5EF4-FFF2-40B4-BE49-F238E27FC236}">
                <a16:creationId xmlns:a16="http://schemas.microsoft.com/office/drawing/2014/main" id="{D9FB90F6-827B-CA4B-9E45-FF582E670D3C}"/>
              </a:ext>
            </a:extLst>
          </p:cNvPr>
          <p:cNvSpPr txBox="1"/>
          <p:nvPr/>
        </p:nvSpPr>
        <p:spPr>
          <a:xfrm>
            <a:off x="4354629" y="6365902"/>
            <a:ext cx="7134900" cy="443711"/>
          </a:xfrm>
          <a:prstGeom prst="rect">
            <a:avLst/>
          </a:prstGeom>
          <a:noFill/>
          <a:ln>
            <a:noFill/>
          </a:ln>
        </p:spPr>
        <p:txBody>
          <a:bodyPr spcFirstLastPara="1" wrap="square" lIns="0" tIns="0" rIns="0" bIns="0" anchor="t" anchorCtr="0">
            <a:spAutoFit/>
          </a:bodyPr>
          <a:lstStyle/>
          <a:p>
            <a:pPr marL="0" lvl="0" indent="0" algn="r" rtl="0">
              <a:spcBef>
                <a:spcPts val="0"/>
              </a:spcBef>
              <a:spcAft>
                <a:spcPts val="1300"/>
              </a:spcAft>
              <a:buNone/>
            </a:pPr>
            <a:r>
              <a:rPr lang="en-US" sz="900" i="1">
                <a:solidFill>
                  <a:schemeClr val="dk1"/>
                </a:solidFill>
                <a:latin typeface="+mj-lt"/>
              </a:rPr>
              <a:t>*Note that feedback is just </a:t>
            </a:r>
            <a:r>
              <a:rPr lang="en-US" sz="900" b="1" i="1">
                <a:solidFill>
                  <a:schemeClr val="dk1"/>
                </a:solidFill>
                <a:latin typeface="+mj-lt"/>
              </a:rPr>
              <a:t>one input </a:t>
            </a:r>
            <a:r>
              <a:rPr lang="en-US" sz="900" i="1">
                <a:solidFill>
                  <a:schemeClr val="dk1"/>
                </a:solidFill>
                <a:latin typeface="+mj-lt"/>
              </a:rPr>
              <a:t>into performance and promotion decisions, it can provide deeper insights into the value you create, supporting your ongoing performance and development conversations but does not directly correlate with year-end results.</a:t>
            </a:r>
            <a:endParaRPr sz="900" i="1">
              <a:latin typeface="+mj-lt"/>
            </a:endParaRPr>
          </a:p>
        </p:txBody>
      </p:sp>
    </p:spTree>
    <p:extLst>
      <p:ext uri="{BB962C8B-B14F-4D97-AF65-F5344CB8AC3E}">
        <p14:creationId xmlns:p14="http://schemas.microsoft.com/office/powerpoint/2010/main" val="381159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EA00A-5BC1-2C48-4D94-1C76264D01C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D772032-6BE1-E979-2E60-BA676C0C0E18}"/>
              </a:ext>
            </a:extLst>
          </p:cNvPr>
          <p:cNvSpPr>
            <a:spLocks noGrp="1"/>
          </p:cNvSpPr>
          <p:nvPr>
            <p:ph type="title"/>
          </p:nvPr>
        </p:nvSpPr>
        <p:spPr/>
        <p:txBody>
          <a:bodyPr/>
          <a:lstStyle/>
          <a:p>
            <a:r>
              <a:rPr lang="en-US">
                <a:ea typeface="Georgia"/>
                <a:cs typeface="Georgia"/>
                <a:sym typeface="Georgia"/>
              </a:rPr>
              <a:t>Understanding Likert scale for Assurance Quality Dimensions</a:t>
            </a:r>
            <a:r>
              <a:rPr lang="en-US" sz="2400"/>
              <a:t> </a:t>
            </a:r>
            <a:r>
              <a:rPr lang="en-US" sz="1600">
                <a:ea typeface="Georgia"/>
                <a:cs typeface="Georgia"/>
                <a:sym typeface="Georgia"/>
              </a:rPr>
              <a:t>(downward only)</a:t>
            </a:r>
            <a:endParaRPr lang="en-US" noProof="0"/>
          </a:p>
        </p:txBody>
      </p:sp>
      <p:sp>
        <p:nvSpPr>
          <p:cNvPr id="2" name="Footer Placeholder 1">
            <a:extLst>
              <a:ext uri="{FF2B5EF4-FFF2-40B4-BE49-F238E27FC236}">
                <a16:creationId xmlns:a16="http://schemas.microsoft.com/office/drawing/2014/main" id="{80FC9BF2-A744-170F-4193-C26028A78F13}"/>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ysClr val="windowText" lastClr="000000"/>
                </a:solidFill>
                <a:effectLst/>
                <a:uLnTx/>
                <a:uFillTx/>
                <a:latin typeface="Arial"/>
                <a:ea typeface="+mn-ea"/>
                <a:cs typeface="Arial" panose="020B0604020202020204" pitchFamily="34" charset="0"/>
              </a:rPr>
              <a:t>Leadership Development Experience (LDE) </a:t>
            </a:r>
          </a:p>
        </p:txBody>
      </p:sp>
      <p:sp>
        <p:nvSpPr>
          <p:cNvPr id="3" name="Slide Number Placeholder 2">
            <a:extLst>
              <a:ext uri="{FF2B5EF4-FFF2-40B4-BE49-F238E27FC236}">
                <a16:creationId xmlns:a16="http://schemas.microsoft.com/office/drawing/2014/main" id="{BE2D5020-288B-76E5-90A6-23DD8518F03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2" name="Rectangle 11">
            <a:extLst>
              <a:ext uri="{FF2B5EF4-FFF2-40B4-BE49-F238E27FC236}">
                <a16:creationId xmlns:a16="http://schemas.microsoft.com/office/drawing/2014/main" id="{BF6F6394-907B-62EE-6BCF-F19C1442FD4C}"/>
              </a:ext>
            </a:extLst>
          </p:cNvPr>
          <p:cNvSpPr/>
          <p:nvPr/>
        </p:nvSpPr>
        <p:spPr>
          <a:xfrm>
            <a:off x="5472113" y="1031083"/>
            <a:ext cx="3400425" cy="17925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Google Shape;1300;p160">
            <a:extLst>
              <a:ext uri="{FF2B5EF4-FFF2-40B4-BE49-F238E27FC236}">
                <a16:creationId xmlns:a16="http://schemas.microsoft.com/office/drawing/2014/main" id="{7568625D-76F0-DC5A-9C01-9B15BB051BC6}"/>
              </a:ext>
            </a:extLst>
          </p:cNvPr>
          <p:cNvSpPr/>
          <p:nvPr/>
        </p:nvSpPr>
        <p:spPr>
          <a:xfrm>
            <a:off x="797171" y="6053604"/>
            <a:ext cx="2327700" cy="184506"/>
          </a:xfrm>
          <a:prstGeom prst="rect">
            <a:avLst/>
          </a:prstGeom>
          <a:solidFill>
            <a:schemeClr val="l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p>
        </p:txBody>
      </p:sp>
      <p:sp>
        <p:nvSpPr>
          <p:cNvPr id="20" name="Google Shape;1308;p160">
            <a:extLst>
              <a:ext uri="{FF2B5EF4-FFF2-40B4-BE49-F238E27FC236}">
                <a16:creationId xmlns:a16="http://schemas.microsoft.com/office/drawing/2014/main" id="{30D42B3A-4B24-9904-0DE0-BC6623BA7661}"/>
              </a:ext>
            </a:extLst>
          </p:cNvPr>
          <p:cNvSpPr/>
          <p:nvPr/>
        </p:nvSpPr>
        <p:spPr>
          <a:xfrm>
            <a:off x="1221504" y="1617785"/>
            <a:ext cx="2807700" cy="306954"/>
          </a:xfrm>
          <a:prstGeom prst="rect">
            <a:avLst/>
          </a:prstGeom>
          <a:solidFill>
            <a:srgbClr val="A1A8B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200" b="1">
                <a:solidFill>
                  <a:schemeClr val="tx1"/>
                </a:solidFill>
              </a:rPr>
              <a:t>Likert scale options</a:t>
            </a:r>
            <a:endParaRPr sz="1200" b="1">
              <a:solidFill>
                <a:schemeClr val="tx1"/>
              </a:solidFill>
            </a:endParaRPr>
          </a:p>
        </p:txBody>
      </p:sp>
      <p:sp>
        <p:nvSpPr>
          <p:cNvPr id="21" name="Google Shape;1309;p160">
            <a:extLst>
              <a:ext uri="{FF2B5EF4-FFF2-40B4-BE49-F238E27FC236}">
                <a16:creationId xmlns:a16="http://schemas.microsoft.com/office/drawing/2014/main" id="{8825FC11-BEFA-0077-1E1A-57EAB1A1148B}"/>
              </a:ext>
            </a:extLst>
          </p:cNvPr>
          <p:cNvSpPr/>
          <p:nvPr/>
        </p:nvSpPr>
        <p:spPr>
          <a:xfrm>
            <a:off x="4152971" y="1617785"/>
            <a:ext cx="7648504" cy="306954"/>
          </a:xfrm>
          <a:prstGeom prst="rect">
            <a:avLst/>
          </a:prstGeom>
          <a:solidFill>
            <a:srgbClr val="A1A8B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200" b="1">
                <a:solidFill>
                  <a:schemeClr val="tx1"/>
                </a:solidFill>
              </a:rPr>
              <a:t>Example scenario for response selection</a:t>
            </a:r>
            <a:endParaRPr sz="1200" b="1">
              <a:solidFill>
                <a:schemeClr val="tx1"/>
              </a:solidFill>
            </a:endParaRPr>
          </a:p>
        </p:txBody>
      </p:sp>
      <p:sp>
        <p:nvSpPr>
          <p:cNvPr id="22" name="Google Shape;1310;p160">
            <a:extLst>
              <a:ext uri="{FF2B5EF4-FFF2-40B4-BE49-F238E27FC236}">
                <a16:creationId xmlns:a16="http://schemas.microsoft.com/office/drawing/2014/main" id="{7FD13D16-058B-7F9F-2799-5815A47E4AA0}"/>
              </a:ext>
            </a:extLst>
          </p:cNvPr>
          <p:cNvSpPr/>
          <p:nvPr/>
        </p:nvSpPr>
        <p:spPr>
          <a:xfrm rot="16200000">
            <a:off x="-1527608" y="3974029"/>
            <a:ext cx="4384458" cy="330900"/>
          </a:xfrm>
          <a:prstGeom prst="rect">
            <a:avLst/>
          </a:prstGeom>
          <a:solidFill>
            <a:srgbClr val="A1A8B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200" b="1">
                <a:solidFill>
                  <a:schemeClr val="tx1"/>
                </a:solidFill>
              </a:rPr>
              <a:t>When to select</a:t>
            </a:r>
            <a:endParaRPr sz="1200" b="1">
              <a:solidFill>
                <a:schemeClr val="tx1"/>
              </a:solidFill>
            </a:endParaRPr>
          </a:p>
        </p:txBody>
      </p:sp>
      <p:graphicFrame>
        <p:nvGraphicFramePr>
          <p:cNvPr id="23" name="Google Shape;1311;p160">
            <a:extLst>
              <a:ext uri="{FF2B5EF4-FFF2-40B4-BE49-F238E27FC236}">
                <a16:creationId xmlns:a16="http://schemas.microsoft.com/office/drawing/2014/main" id="{B732A90A-FB4E-5397-A98A-6792B10F566D}"/>
              </a:ext>
            </a:extLst>
          </p:cNvPr>
          <p:cNvGraphicFramePr/>
          <p:nvPr/>
        </p:nvGraphicFramePr>
        <p:xfrm>
          <a:off x="1221519" y="1941314"/>
          <a:ext cx="2807775" cy="4383870"/>
        </p:xfrm>
        <a:graphic>
          <a:graphicData uri="http://schemas.openxmlformats.org/drawingml/2006/table">
            <a:tbl>
              <a:tblPr>
                <a:noFill/>
              </a:tblPr>
              <a:tblGrid>
                <a:gridCol w="2807775">
                  <a:extLst>
                    <a:ext uri="{9D8B030D-6E8A-4147-A177-3AD203B41FA5}">
                      <a16:colId xmlns:a16="http://schemas.microsoft.com/office/drawing/2014/main" val="20000"/>
                    </a:ext>
                  </a:extLst>
                </a:gridCol>
              </a:tblGrid>
              <a:tr h="876774">
                <a:tc>
                  <a:txBody>
                    <a:bodyPr/>
                    <a:lstStyle/>
                    <a:p>
                      <a:pPr marL="0" lvl="0" indent="0" algn="ctr" rtl="0">
                        <a:spcBef>
                          <a:spcPts val="0"/>
                        </a:spcBef>
                        <a:spcAft>
                          <a:spcPts val="0"/>
                        </a:spcAft>
                        <a:buClr>
                          <a:srgbClr val="000000"/>
                        </a:buClr>
                        <a:buSzPts val="1500"/>
                        <a:buFont typeface="Arial"/>
                        <a:buNone/>
                      </a:pPr>
                      <a:r>
                        <a:rPr lang="en-US" sz="1100" b="1">
                          <a:latin typeface="+mj-lt"/>
                        </a:rPr>
                        <a:t>Beyond expectations</a:t>
                      </a: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0"/>
                  </a:ext>
                </a:extLst>
              </a:tr>
              <a:tr h="876774">
                <a:tc>
                  <a:txBody>
                    <a:bodyPr/>
                    <a:lstStyle/>
                    <a:p>
                      <a:pPr marL="0" lvl="0" indent="0" algn="ctr" rtl="0">
                        <a:spcBef>
                          <a:spcPts val="0"/>
                        </a:spcBef>
                        <a:spcAft>
                          <a:spcPts val="0"/>
                        </a:spcAft>
                        <a:buClr>
                          <a:srgbClr val="000000"/>
                        </a:buClr>
                        <a:buSzPts val="1500"/>
                        <a:buFont typeface="Arial"/>
                        <a:buNone/>
                      </a:pPr>
                      <a:r>
                        <a:rPr lang="en-US" sz="1100" b="1">
                          <a:latin typeface="+mj-lt"/>
                        </a:rPr>
                        <a:t>In line with expectations</a:t>
                      </a: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FCDA8"/>
                    </a:solidFill>
                  </a:tcPr>
                </a:tc>
                <a:extLst>
                  <a:ext uri="{0D108BD9-81ED-4DB2-BD59-A6C34878D82A}">
                    <a16:rowId xmlns:a16="http://schemas.microsoft.com/office/drawing/2014/main" val="10001"/>
                  </a:ext>
                </a:extLst>
              </a:tr>
              <a:tr h="876774">
                <a:tc>
                  <a:txBody>
                    <a:bodyPr/>
                    <a:lstStyle/>
                    <a:p>
                      <a:pPr marL="0" lvl="0" indent="0" algn="ctr" rtl="0">
                        <a:spcBef>
                          <a:spcPts val="0"/>
                        </a:spcBef>
                        <a:spcAft>
                          <a:spcPts val="0"/>
                        </a:spcAft>
                        <a:buClr>
                          <a:srgbClr val="000000"/>
                        </a:buClr>
                        <a:buSzPts val="1500"/>
                        <a:buFont typeface="Arial"/>
                        <a:buNone/>
                      </a:pPr>
                      <a:r>
                        <a:rPr lang="en-US" sz="1100" b="1">
                          <a:latin typeface="+mj-lt"/>
                        </a:rPr>
                        <a:t>Mostly in line with expectations</a:t>
                      </a: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2"/>
                  </a:ext>
                </a:extLst>
              </a:tr>
              <a:tr h="876774">
                <a:tc>
                  <a:txBody>
                    <a:bodyPr/>
                    <a:lstStyle/>
                    <a:p>
                      <a:pPr marL="0" lvl="0" indent="0" algn="ctr" rtl="0">
                        <a:spcBef>
                          <a:spcPts val="0"/>
                        </a:spcBef>
                        <a:spcAft>
                          <a:spcPts val="0"/>
                        </a:spcAft>
                        <a:buClr>
                          <a:srgbClr val="000000"/>
                        </a:buClr>
                        <a:buSzPts val="1500"/>
                        <a:buFont typeface="Arial"/>
                        <a:buNone/>
                      </a:pPr>
                      <a:r>
                        <a:rPr lang="en-US" sz="1100" b="1">
                          <a:latin typeface="+mj-lt"/>
                        </a:rPr>
                        <a:t>Below expectations</a:t>
                      </a: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3"/>
                  </a:ext>
                </a:extLst>
              </a:tr>
              <a:tr h="876774">
                <a:tc>
                  <a:txBody>
                    <a:bodyPr/>
                    <a:lstStyle/>
                    <a:p>
                      <a:pPr marL="0" lvl="0" indent="0" algn="ctr" rtl="0">
                        <a:spcBef>
                          <a:spcPts val="0"/>
                        </a:spcBef>
                        <a:spcAft>
                          <a:spcPts val="0"/>
                        </a:spcAft>
                        <a:buClr>
                          <a:srgbClr val="000000"/>
                        </a:buClr>
                        <a:buSzPts val="1500"/>
                        <a:buFont typeface="Arial"/>
                        <a:buNone/>
                      </a:pPr>
                      <a:r>
                        <a:rPr lang="en-US" sz="1100" b="1">
                          <a:latin typeface="+mj-lt"/>
                        </a:rPr>
                        <a:t>This dimension is not applicable</a:t>
                      </a:r>
                    </a:p>
                  </a:txBody>
                  <a:tcPr marL="48000" marR="48000" marT="48000" marB="48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5F7F8"/>
                    </a:solidFill>
                  </a:tcPr>
                </a:tc>
                <a:extLst>
                  <a:ext uri="{0D108BD9-81ED-4DB2-BD59-A6C34878D82A}">
                    <a16:rowId xmlns:a16="http://schemas.microsoft.com/office/drawing/2014/main" val="10004"/>
                  </a:ext>
                </a:extLst>
              </a:tr>
            </a:tbl>
          </a:graphicData>
        </a:graphic>
      </p:graphicFrame>
      <p:sp>
        <p:nvSpPr>
          <p:cNvPr id="24" name="Google Shape;1312;p160">
            <a:extLst>
              <a:ext uri="{FF2B5EF4-FFF2-40B4-BE49-F238E27FC236}">
                <a16:creationId xmlns:a16="http://schemas.microsoft.com/office/drawing/2014/main" id="{F640B554-D152-BFAF-FA09-FE3A8058B9BF}"/>
              </a:ext>
            </a:extLst>
          </p:cNvPr>
          <p:cNvSpPr/>
          <p:nvPr/>
        </p:nvSpPr>
        <p:spPr>
          <a:xfrm rot="16200000">
            <a:off x="612842" y="3089038"/>
            <a:ext cx="838426" cy="3309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00" b="1">
                <a:solidFill>
                  <a:schemeClr val="tx1"/>
                </a:solidFill>
              </a:rPr>
              <a:t>Expected Norm</a:t>
            </a:r>
            <a:endParaRPr sz="900" b="1">
              <a:solidFill>
                <a:schemeClr val="tx1"/>
              </a:solidFill>
            </a:endParaRPr>
          </a:p>
        </p:txBody>
      </p:sp>
      <p:sp>
        <p:nvSpPr>
          <p:cNvPr id="25" name="Google Shape;1313;p160">
            <a:extLst>
              <a:ext uri="{FF2B5EF4-FFF2-40B4-BE49-F238E27FC236}">
                <a16:creationId xmlns:a16="http://schemas.microsoft.com/office/drawing/2014/main" id="{316A053E-A55F-1362-7972-1ADDF6D9571C}"/>
              </a:ext>
            </a:extLst>
          </p:cNvPr>
          <p:cNvSpPr/>
          <p:nvPr/>
        </p:nvSpPr>
        <p:spPr>
          <a:xfrm rot="16200000">
            <a:off x="-279514" y="4848168"/>
            <a:ext cx="2623136" cy="3309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00" b="1">
                <a:solidFill>
                  <a:schemeClr val="tx1"/>
                </a:solidFill>
              </a:rPr>
              <a:t>Uncommon</a:t>
            </a:r>
            <a:endParaRPr sz="900" b="1">
              <a:solidFill>
                <a:schemeClr val="tx1"/>
              </a:solidFill>
            </a:endParaRPr>
          </a:p>
        </p:txBody>
      </p:sp>
      <p:sp>
        <p:nvSpPr>
          <p:cNvPr id="26" name="Google Shape;1314;p160">
            <a:extLst>
              <a:ext uri="{FF2B5EF4-FFF2-40B4-BE49-F238E27FC236}">
                <a16:creationId xmlns:a16="http://schemas.microsoft.com/office/drawing/2014/main" id="{8DD5C796-0CD9-18B2-E2DC-D00E8FE62383}"/>
              </a:ext>
            </a:extLst>
          </p:cNvPr>
          <p:cNvSpPr/>
          <p:nvPr/>
        </p:nvSpPr>
        <p:spPr>
          <a:xfrm rot="16200000">
            <a:off x="596664" y="2212210"/>
            <a:ext cx="870779" cy="3309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00" b="1">
                <a:solidFill>
                  <a:schemeClr val="tx1"/>
                </a:solidFill>
              </a:rPr>
              <a:t>Un- common</a:t>
            </a:r>
            <a:endParaRPr sz="900" b="1">
              <a:solidFill>
                <a:schemeClr val="tx1"/>
              </a:solidFill>
            </a:endParaRPr>
          </a:p>
        </p:txBody>
      </p:sp>
      <p:grpSp>
        <p:nvGrpSpPr>
          <p:cNvPr id="5" name="Group 4">
            <a:extLst>
              <a:ext uri="{FF2B5EF4-FFF2-40B4-BE49-F238E27FC236}">
                <a16:creationId xmlns:a16="http://schemas.microsoft.com/office/drawing/2014/main" id="{5DDBBEE2-E6F8-00AA-587B-730ADD887C3C}"/>
              </a:ext>
            </a:extLst>
          </p:cNvPr>
          <p:cNvGrpSpPr/>
          <p:nvPr/>
        </p:nvGrpSpPr>
        <p:grpSpPr>
          <a:xfrm>
            <a:off x="4152971" y="2024738"/>
            <a:ext cx="7648504" cy="4300446"/>
            <a:chOff x="4152971" y="2024738"/>
            <a:chExt cx="7648504" cy="3567784"/>
          </a:xfrm>
        </p:grpSpPr>
        <p:sp>
          <p:nvSpPr>
            <p:cNvPr id="14" name="Google Shape;1303;p160">
              <a:extLst>
                <a:ext uri="{FF2B5EF4-FFF2-40B4-BE49-F238E27FC236}">
                  <a16:creationId xmlns:a16="http://schemas.microsoft.com/office/drawing/2014/main" id="{A85EE59C-B9FE-AFFC-A995-2AC57FC94CAC}"/>
                </a:ext>
              </a:extLst>
            </p:cNvPr>
            <p:cNvSpPr/>
            <p:nvPr/>
          </p:nvSpPr>
          <p:spPr>
            <a:xfrm>
              <a:off x="4152971" y="2757989"/>
              <a:ext cx="7648504" cy="634780"/>
            </a:xfrm>
            <a:prstGeom prst="roundRect">
              <a:avLst>
                <a:gd name="adj" fmla="val 0"/>
              </a:avLst>
            </a:prstGeom>
            <a:solidFill>
              <a:srgbClr val="FFCDA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lvl="0"/>
              <a:r>
                <a:rPr lang="en-US" sz="1100">
                  <a:solidFill>
                    <a:schemeClr val="dk1"/>
                  </a:solidFill>
                  <a:latin typeface="+mj-lt"/>
                </a:rPr>
                <a:t>As Reviewer or Preparer (or both) on the engagement, the individual demonstrated awareness of the Assurance Quality Dimension framework and applied the Assurance Quality Dimension framework </a:t>
              </a:r>
              <a:r>
                <a:rPr lang="en-US" sz="1100" b="1">
                  <a:solidFill>
                    <a:schemeClr val="dk1"/>
                  </a:solidFill>
                  <a:latin typeface="+mj-lt"/>
                </a:rPr>
                <a:t>consistently in line with expected responsibilities</a:t>
              </a:r>
              <a:r>
                <a:rPr lang="en-US" sz="1100">
                  <a:solidFill>
                    <a:schemeClr val="dk1"/>
                  </a:solidFill>
                  <a:latin typeface="+mj-lt"/>
                </a:rPr>
                <a:t> across the scope of their work.</a:t>
              </a:r>
              <a:endParaRPr lang="en-US" sz="1100" b="1" strike="sngStrike">
                <a:solidFill>
                  <a:schemeClr val="dk1"/>
                </a:solidFill>
                <a:latin typeface="+mj-lt"/>
              </a:endParaRPr>
            </a:p>
          </p:txBody>
        </p:sp>
        <p:sp>
          <p:nvSpPr>
            <p:cNvPr id="15" name="Google Shape;1304;p160">
              <a:extLst>
                <a:ext uri="{FF2B5EF4-FFF2-40B4-BE49-F238E27FC236}">
                  <a16:creationId xmlns:a16="http://schemas.microsoft.com/office/drawing/2014/main" id="{5DA32524-B808-40BB-3268-5D4625F6F136}"/>
                </a:ext>
              </a:extLst>
            </p:cNvPr>
            <p:cNvSpPr/>
            <p:nvPr/>
          </p:nvSpPr>
          <p:spPr>
            <a:xfrm>
              <a:off x="4152971" y="4224491"/>
              <a:ext cx="7648504" cy="634780"/>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lvl="0"/>
              <a:r>
                <a:rPr lang="en-US" sz="1100">
                  <a:solidFill>
                    <a:schemeClr val="dk1"/>
                  </a:solidFill>
                  <a:latin typeface="+mj-lt"/>
                </a:rPr>
                <a:t>As Reviewer or Preparer (or both) on the engagement, the individual demonstrated and applied the Assurance Quality Dimension framework to a level that was </a:t>
              </a:r>
              <a:r>
                <a:rPr lang="en-US" sz="1100" b="1">
                  <a:solidFill>
                    <a:schemeClr val="dk1"/>
                  </a:solidFill>
                  <a:latin typeface="+mj-lt"/>
                </a:rPr>
                <a:t>below expected responsibilities requiring additional follow-up</a:t>
              </a:r>
              <a:r>
                <a:rPr lang="en-US" sz="1100">
                  <a:solidFill>
                    <a:schemeClr val="dk1"/>
                  </a:solidFill>
                  <a:latin typeface="+mj-lt"/>
                </a:rPr>
                <a:t> by either themselves or a team member.</a:t>
              </a:r>
              <a:endParaRPr lang="en-US" sz="1100" strike="sngStrike">
                <a:solidFill>
                  <a:schemeClr val="dk1"/>
                </a:solidFill>
                <a:latin typeface="+mj-lt"/>
              </a:endParaRPr>
            </a:p>
          </p:txBody>
        </p:sp>
        <p:sp>
          <p:nvSpPr>
            <p:cNvPr id="17" name="Google Shape;1305;p160">
              <a:extLst>
                <a:ext uri="{FF2B5EF4-FFF2-40B4-BE49-F238E27FC236}">
                  <a16:creationId xmlns:a16="http://schemas.microsoft.com/office/drawing/2014/main" id="{D9802420-333A-B157-01DC-CCB0CF982A68}"/>
                </a:ext>
              </a:extLst>
            </p:cNvPr>
            <p:cNvSpPr/>
            <p:nvPr/>
          </p:nvSpPr>
          <p:spPr>
            <a:xfrm>
              <a:off x="4152971" y="4957742"/>
              <a:ext cx="7648504" cy="634780"/>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lvl="0"/>
              <a:r>
                <a:rPr lang="en-US" sz="1100">
                  <a:solidFill>
                    <a:schemeClr val="dk1"/>
                  </a:solidFill>
                  <a:latin typeface="+mj-lt"/>
                </a:rPr>
                <a:t>As per their expected responsibilities, the individual </a:t>
              </a:r>
              <a:r>
                <a:rPr lang="en-US" sz="1100" b="1">
                  <a:solidFill>
                    <a:schemeClr val="dk1"/>
                  </a:solidFill>
                  <a:latin typeface="+mj-lt"/>
                </a:rPr>
                <a:t>did not have an opportunity to demonstrate</a:t>
              </a:r>
              <a:r>
                <a:rPr lang="en-US" sz="1100">
                  <a:solidFill>
                    <a:schemeClr val="dk1"/>
                  </a:solidFill>
                  <a:latin typeface="+mj-lt"/>
                </a:rPr>
                <a:t> </a:t>
              </a:r>
              <a:r>
                <a:rPr lang="en-US" sz="1100" b="1">
                  <a:solidFill>
                    <a:schemeClr val="dk1"/>
                  </a:solidFill>
                  <a:latin typeface="+mj-lt"/>
                </a:rPr>
                <a:t>and apply</a:t>
              </a:r>
              <a:r>
                <a:rPr lang="en-US" sz="1100">
                  <a:solidFill>
                    <a:schemeClr val="dk1"/>
                  </a:solidFill>
                  <a:latin typeface="+mj-lt"/>
                </a:rPr>
                <a:t> this Assurance Quality Dimension. </a:t>
              </a:r>
              <a:endParaRPr lang="en-US" sz="1100" strike="sngStrike">
                <a:solidFill>
                  <a:schemeClr val="dk1"/>
                </a:solidFill>
                <a:latin typeface="+mj-lt"/>
              </a:endParaRPr>
            </a:p>
          </p:txBody>
        </p:sp>
        <p:sp>
          <p:nvSpPr>
            <p:cNvPr id="19" name="Google Shape;1307;p160">
              <a:extLst>
                <a:ext uri="{FF2B5EF4-FFF2-40B4-BE49-F238E27FC236}">
                  <a16:creationId xmlns:a16="http://schemas.microsoft.com/office/drawing/2014/main" id="{28ABDFE4-A246-36F9-46AB-1A5DD90957AA}"/>
                </a:ext>
              </a:extLst>
            </p:cNvPr>
            <p:cNvSpPr/>
            <p:nvPr/>
          </p:nvSpPr>
          <p:spPr>
            <a:xfrm>
              <a:off x="4152971" y="3491240"/>
              <a:ext cx="7648504" cy="634780"/>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lvl="0"/>
              <a:r>
                <a:rPr lang="en-US" sz="1100">
                  <a:solidFill>
                    <a:schemeClr val="dk1"/>
                  </a:solidFill>
                  <a:latin typeface="+mj-lt"/>
                </a:rPr>
                <a:t>As Reviewer or Preparer (or both) on the engagement, the individual demonstrated awareness of the Assurance Quality Dimension framework and applied the Assurance Quality Dimension framework in line with expected responsibilities but </a:t>
              </a:r>
              <a:r>
                <a:rPr lang="en-US" sz="1100" b="1">
                  <a:solidFill>
                    <a:schemeClr val="dk1"/>
                  </a:solidFill>
                  <a:latin typeface="+mj-lt"/>
                </a:rPr>
                <a:t>not consistently</a:t>
              </a:r>
              <a:r>
                <a:rPr lang="en-US" sz="1100">
                  <a:solidFill>
                    <a:schemeClr val="dk1"/>
                  </a:solidFill>
                  <a:latin typeface="+mj-lt"/>
                </a:rPr>
                <a:t> across the scope of their work. </a:t>
              </a:r>
              <a:endParaRPr lang="en-US" sz="1100" b="1" strike="sngStrike">
                <a:solidFill>
                  <a:schemeClr val="dk1"/>
                </a:solidFill>
                <a:latin typeface="+mj-lt"/>
              </a:endParaRPr>
            </a:p>
          </p:txBody>
        </p:sp>
        <p:sp>
          <p:nvSpPr>
            <p:cNvPr id="27" name="Google Shape;1315;p160">
              <a:extLst>
                <a:ext uri="{FF2B5EF4-FFF2-40B4-BE49-F238E27FC236}">
                  <a16:creationId xmlns:a16="http://schemas.microsoft.com/office/drawing/2014/main" id="{84E6E054-9F75-9E77-5558-33EAB5EE0567}"/>
                </a:ext>
              </a:extLst>
            </p:cNvPr>
            <p:cNvSpPr/>
            <p:nvPr/>
          </p:nvSpPr>
          <p:spPr>
            <a:xfrm>
              <a:off x="4152971" y="2024738"/>
              <a:ext cx="7648504" cy="634780"/>
            </a:xfrm>
            <a:prstGeom prst="roundRect">
              <a:avLst>
                <a:gd name="adj" fmla="val 0"/>
              </a:avLst>
            </a:prstGeom>
            <a:solidFill>
              <a:srgbClr val="F5F7F8"/>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lvl="0"/>
              <a:r>
                <a:rPr lang="en-US" sz="1100">
                  <a:solidFill>
                    <a:schemeClr val="dk1"/>
                  </a:solidFill>
                  <a:latin typeface="+mj-lt"/>
                </a:rPr>
                <a:t>As Reviewer or Preparer (or both) on the engagement, the individual demonstrated awareness of the Assurance Quality Dimension framework, and applied it </a:t>
              </a:r>
              <a:r>
                <a:rPr lang="en-US" sz="1100" b="1">
                  <a:solidFill>
                    <a:schemeClr val="dk1"/>
                  </a:solidFill>
                  <a:latin typeface="+mj-lt"/>
                </a:rPr>
                <a:t>consistently </a:t>
              </a:r>
              <a:r>
                <a:rPr lang="en-US" sz="1100">
                  <a:solidFill>
                    <a:schemeClr val="dk1"/>
                  </a:solidFill>
                  <a:latin typeface="+mj-lt"/>
                </a:rPr>
                <a:t>across the scope of their work to a level that </a:t>
              </a:r>
              <a:r>
                <a:rPr lang="en-US" sz="1100" b="1">
                  <a:solidFill>
                    <a:schemeClr val="dk1"/>
                  </a:solidFill>
                  <a:latin typeface="+mj-lt"/>
                </a:rPr>
                <a:t>exceeded expected responsibilities. </a:t>
              </a:r>
              <a:r>
                <a:rPr lang="en-US" sz="1100">
                  <a:solidFill>
                    <a:schemeClr val="dk1"/>
                  </a:solidFill>
                  <a:latin typeface="+mj-lt"/>
                </a:rPr>
                <a:t>They </a:t>
              </a:r>
              <a:r>
                <a:rPr lang="en-US" sz="1100" b="1">
                  <a:solidFill>
                    <a:schemeClr val="dk1"/>
                  </a:solidFill>
                  <a:latin typeface="+mj-lt"/>
                </a:rPr>
                <a:t>served as a role model</a:t>
              </a:r>
              <a:r>
                <a:rPr lang="en-US" sz="1100">
                  <a:solidFill>
                    <a:schemeClr val="dk1"/>
                  </a:solidFill>
                  <a:latin typeface="+mj-lt"/>
                </a:rPr>
                <a:t> to others on the team in applying this Assurance Quality Dimension. As a result, </a:t>
              </a:r>
              <a:r>
                <a:rPr lang="en-US" sz="1100" b="1">
                  <a:solidFill>
                    <a:schemeClr val="dk1"/>
                  </a:solidFill>
                  <a:latin typeface="+mj-lt"/>
                </a:rPr>
                <a:t>the team emerged stronger</a:t>
              </a:r>
              <a:r>
                <a:rPr lang="en-US" sz="1100">
                  <a:solidFill>
                    <a:schemeClr val="dk1"/>
                  </a:solidFill>
                  <a:latin typeface="+mj-lt"/>
                </a:rPr>
                <a:t> and demonstrated strong quality skills and </a:t>
              </a:r>
              <a:r>
                <a:rPr lang="en-US" sz="1100" err="1">
                  <a:solidFill>
                    <a:schemeClr val="dk1"/>
                  </a:solidFill>
                  <a:latin typeface="+mj-lt"/>
                </a:rPr>
                <a:t>behaviours</a:t>
              </a:r>
              <a:r>
                <a:rPr lang="en-US" sz="1100">
                  <a:solidFill>
                    <a:schemeClr val="dk1"/>
                  </a:solidFill>
                  <a:latin typeface="+mj-lt"/>
                </a:rPr>
                <a:t>.</a:t>
              </a:r>
              <a:endParaRPr lang="en-US" sz="1100" strike="sngStrike">
                <a:solidFill>
                  <a:schemeClr val="dk1"/>
                </a:solidFill>
                <a:latin typeface="+mj-lt"/>
              </a:endParaRPr>
            </a:p>
          </p:txBody>
        </p:sp>
      </p:grpSp>
      <p:sp>
        <p:nvSpPr>
          <p:cNvPr id="4" name="Google Shape;1340;p162">
            <a:extLst>
              <a:ext uri="{FF2B5EF4-FFF2-40B4-BE49-F238E27FC236}">
                <a16:creationId xmlns:a16="http://schemas.microsoft.com/office/drawing/2014/main" id="{67C61EFF-0FA2-F4D5-2DB7-6F3385548DE4}"/>
              </a:ext>
            </a:extLst>
          </p:cNvPr>
          <p:cNvSpPr txBox="1"/>
          <p:nvPr/>
        </p:nvSpPr>
        <p:spPr>
          <a:xfrm>
            <a:off x="409023" y="812283"/>
            <a:ext cx="11235527" cy="688500"/>
          </a:xfrm>
          <a:prstGeom prst="rect">
            <a:avLst/>
          </a:prstGeom>
          <a:noFill/>
          <a:ln>
            <a:noFill/>
          </a:ln>
        </p:spPr>
        <p:txBody>
          <a:bodyPr spcFirstLastPara="1" wrap="square" lIns="24000" tIns="216000" rIns="24000" bIns="216000" anchor="ctr" anchorCtr="0">
            <a:noAutofit/>
          </a:bodyPr>
          <a:lstStyle/>
          <a:p>
            <a:pPr marL="0" lvl="0" indent="0" algn="l" rtl="0">
              <a:spcBef>
                <a:spcPts val="0"/>
              </a:spcBef>
              <a:spcAft>
                <a:spcPts val="800"/>
              </a:spcAft>
              <a:buNone/>
            </a:pPr>
            <a:r>
              <a:rPr lang="en-US" sz="1200">
                <a:solidFill>
                  <a:schemeClr val="dk1"/>
                </a:solidFill>
                <a:latin typeface="+mj-lt"/>
              </a:rPr>
              <a:t>Delivering quality is paramount to building trust in Assurance and across the firm. People who work on Assurance engagements need to demonstrate the skills and </a:t>
            </a:r>
            <a:r>
              <a:rPr lang="en-US" sz="1200" err="1">
                <a:solidFill>
                  <a:schemeClr val="dk1"/>
                </a:solidFill>
                <a:latin typeface="+mj-lt"/>
              </a:rPr>
              <a:t>behaviours</a:t>
            </a:r>
            <a:r>
              <a:rPr lang="en-US" sz="1200">
                <a:solidFill>
                  <a:schemeClr val="dk1"/>
                </a:solidFill>
                <a:latin typeface="+mj-lt"/>
              </a:rPr>
              <a:t> that underpin quality. These elements are the foundation of the </a:t>
            </a:r>
            <a:r>
              <a:rPr lang="en-US" sz="1200" u="sng">
                <a:solidFill>
                  <a:schemeClr val="hlink"/>
                </a:solidFill>
                <a:latin typeface="+mj-lt"/>
                <a:hlinkClick r:id="rId3"/>
              </a:rPr>
              <a:t>Assurance Quality Dimensions (AQDs) framework.</a:t>
            </a:r>
            <a:r>
              <a:rPr lang="en-US" sz="1200">
                <a:solidFill>
                  <a:schemeClr val="dk1"/>
                </a:solidFill>
                <a:latin typeface="+mj-lt"/>
              </a:rPr>
              <a:t> Together with the PwC Professional </a:t>
            </a:r>
            <a:r>
              <a:rPr lang="en-US" sz="1200" err="1">
                <a:solidFill>
                  <a:schemeClr val="dk1"/>
                </a:solidFill>
                <a:latin typeface="+mj-lt"/>
              </a:rPr>
              <a:t>behaviours</a:t>
            </a:r>
            <a:r>
              <a:rPr lang="en-US" sz="1200">
                <a:solidFill>
                  <a:schemeClr val="dk1"/>
                </a:solidFill>
                <a:latin typeface="+mj-lt"/>
              </a:rPr>
              <a:t> they provide expectations for everyone working on Assurance engagements. </a:t>
            </a:r>
            <a:endParaRPr sz="1200">
              <a:solidFill>
                <a:schemeClr val="accent5"/>
              </a:solidFill>
              <a:latin typeface="+mj-lt"/>
            </a:endParaRPr>
          </a:p>
        </p:txBody>
      </p:sp>
    </p:spTree>
    <p:extLst>
      <p:ext uri="{BB962C8B-B14F-4D97-AF65-F5344CB8AC3E}">
        <p14:creationId xmlns:p14="http://schemas.microsoft.com/office/powerpoint/2010/main" val="2428835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E0165-0B62-45AC-ECB2-0D1FCBF7B7C1}"/>
              </a:ext>
            </a:extLst>
          </p:cNvPr>
          <p:cNvSpPr>
            <a:spLocks noGrp="1"/>
          </p:cNvSpPr>
          <p:nvPr>
            <p:ph type="title"/>
          </p:nvPr>
        </p:nvSpPr>
        <p:spPr/>
        <p:txBody>
          <a:bodyPr/>
          <a:lstStyle/>
          <a:p>
            <a:endParaRPr lang="ru-RU" dirty="0"/>
          </a:p>
        </p:txBody>
      </p:sp>
      <p:sp>
        <p:nvSpPr>
          <p:cNvPr id="3" name="Content Placeholder 2">
            <a:extLst>
              <a:ext uri="{FF2B5EF4-FFF2-40B4-BE49-F238E27FC236}">
                <a16:creationId xmlns:a16="http://schemas.microsoft.com/office/drawing/2014/main" id="{038BD121-F241-22A3-7F28-3E2CE14C5BD3}"/>
              </a:ext>
            </a:extLst>
          </p:cNvPr>
          <p:cNvSpPr>
            <a:spLocks noGrp="1"/>
          </p:cNvSpPr>
          <p:nvPr>
            <p:ph idx="1"/>
          </p:nvPr>
        </p:nvSpPr>
        <p:spPr/>
        <p:txBody>
          <a:bodyPr/>
          <a:lstStyle/>
          <a:p>
            <a:r>
              <a:rPr lang="en-US" dirty="0"/>
              <a:t>https://polpwc.sharepoint.com/:w:/r/sites/KZ-SD-0AA8R2Y_CZIlyUk9PVA/_layouts/15/Doc.aspx?sourcedoc=%7B64D02201-DA99-4B1E-A27B-0A9C7EF83FBF%7D&amp;file=Feedback%20Exchange%20tool%20%20-%20FAQs.docx&amp;action=default&amp;mobileredirect=true</a:t>
            </a:r>
            <a:endParaRPr lang="ru-RU" dirty="0"/>
          </a:p>
        </p:txBody>
      </p:sp>
      <p:sp>
        <p:nvSpPr>
          <p:cNvPr id="4" name="Footer Placeholder 3">
            <a:extLst>
              <a:ext uri="{FF2B5EF4-FFF2-40B4-BE49-F238E27FC236}">
                <a16:creationId xmlns:a16="http://schemas.microsoft.com/office/drawing/2014/main" id="{5367A4AE-ADB8-2A71-9FEF-0B4E6FC66F5B}"/>
              </a:ext>
            </a:extLst>
          </p:cNvPr>
          <p:cNvSpPr>
            <a:spLocks noGrp="1"/>
          </p:cNvSpPr>
          <p:nvPr>
            <p:ph type="ftr" sz="quarter" idx="3"/>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D74C4859-35F6-017F-E984-7CE5B097595F}"/>
              </a:ext>
            </a:extLst>
          </p:cNvPr>
          <p:cNvSpPr>
            <a:spLocks noGrp="1"/>
          </p:cNvSpPr>
          <p:nvPr>
            <p:ph type="sldNum" sz="quarter" idx="4"/>
          </p:nvPr>
        </p:nvSpPr>
        <p:spPr/>
        <p:txBody>
          <a:bodyPr/>
          <a:lstStyle/>
          <a:p>
            <a:fld id="{3E6AC032-1535-134B-A583-D5E1DDD0D167}" type="slidenum">
              <a:rPr lang="en-US" smtClean="0"/>
              <a:pPr/>
              <a:t>14</a:t>
            </a:fld>
            <a:endParaRPr lang="en-US"/>
          </a:p>
        </p:txBody>
      </p:sp>
      <p:sp>
        <p:nvSpPr>
          <p:cNvPr id="6" name="Text Placeholder 5">
            <a:extLst>
              <a:ext uri="{FF2B5EF4-FFF2-40B4-BE49-F238E27FC236}">
                <a16:creationId xmlns:a16="http://schemas.microsoft.com/office/drawing/2014/main" id="{6261387B-C945-CB49-0974-CFCEC05957C8}"/>
              </a:ext>
            </a:extLst>
          </p:cNvPr>
          <p:cNvSpPr>
            <a:spLocks noGrp="1"/>
          </p:cNvSpPr>
          <p:nvPr>
            <p:ph type="body" sz="quarter" idx="10"/>
          </p:nvPr>
        </p:nvSpPr>
        <p:spPr/>
        <p:txBody>
          <a:bodyPr/>
          <a:lstStyle/>
          <a:p>
            <a:r>
              <a:rPr lang="en-US" dirty="0"/>
              <a:t>FAQ</a:t>
            </a:r>
            <a:endParaRPr lang="ru-RU" dirty="0"/>
          </a:p>
        </p:txBody>
      </p:sp>
    </p:spTree>
    <p:extLst>
      <p:ext uri="{BB962C8B-B14F-4D97-AF65-F5344CB8AC3E}">
        <p14:creationId xmlns:p14="http://schemas.microsoft.com/office/powerpoint/2010/main" val="1188518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BA663-CE23-4769-7F7E-31E0E89C4C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ECB7C-5DED-A10C-ADF4-C17011D2EDB5}"/>
              </a:ext>
            </a:extLst>
          </p:cNvPr>
          <p:cNvSpPr>
            <a:spLocks noGrp="1"/>
          </p:cNvSpPr>
          <p:nvPr>
            <p:ph type="title"/>
          </p:nvPr>
        </p:nvSpPr>
        <p:spPr/>
        <p:txBody>
          <a:bodyPr/>
          <a:lstStyle/>
          <a:p>
            <a:endParaRPr lang="ru-RU"/>
          </a:p>
        </p:txBody>
      </p:sp>
      <p:sp>
        <p:nvSpPr>
          <p:cNvPr id="3" name="Content Placeholder 2">
            <a:extLst>
              <a:ext uri="{FF2B5EF4-FFF2-40B4-BE49-F238E27FC236}">
                <a16:creationId xmlns:a16="http://schemas.microsoft.com/office/drawing/2014/main" id="{A265AF28-0D2D-DAA6-46B3-9C56CCCC19BA}"/>
              </a:ext>
            </a:extLst>
          </p:cNvPr>
          <p:cNvSpPr>
            <a:spLocks noGrp="1"/>
          </p:cNvSpPr>
          <p:nvPr>
            <p:ph idx="1"/>
          </p:nvPr>
        </p:nvSpPr>
        <p:spPr/>
        <p:txBody>
          <a:bodyPr/>
          <a:lstStyle/>
          <a:p>
            <a:r>
              <a:rPr lang="ru-RU" dirty="0"/>
              <a:t>Self-</a:t>
            </a:r>
            <a:r>
              <a:rPr lang="ru-RU" dirty="0" err="1"/>
              <a:t>reflection</a:t>
            </a:r>
            <a:r>
              <a:rPr lang="ru-RU" dirty="0"/>
              <a:t> </a:t>
            </a:r>
            <a:r>
              <a:rPr lang="ru-RU" dirty="0" err="1"/>
              <a:t>tool</a:t>
            </a:r>
            <a:endParaRPr lang="ru-RU" dirty="0"/>
          </a:p>
          <a:p>
            <a:r>
              <a:rPr lang="ru-RU" b="0" dirty="0"/>
              <a:t>The </a:t>
            </a:r>
            <a:r>
              <a:rPr lang="ru-RU" b="0" dirty="0" err="1"/>
              <a:t>tool</a:t>
            </a:r>
            <a:r>
              <a:rPr lang="ru-RU" b="0" dirty="0"/>
              <a:t> </a:t>
            </a:r>
            <a:r>
              <a:rPr lang="ru-RU" b="0" dirty="0" err="1"/>
              <a:t>has</a:t>
            </a:r>
            <a:r>
              <a:rPr lang="ru-RU" b="0" dirty="0"/>
              <a:t> </a:t>
            </a:r>
            <a:r>
              <a:rPr lang="ru-RU" b="0" dirty="0" err="1"/>
              <a:t>been</a:t>
            </a:r>
            <a:r>
              <a:rPr lang="ru-RU" b="0" dirty="0"/>
              <a:t> </a:t>
            </a:r>
            <a:r>
              <a:rPr lang="ru-RU" b="0" dirty="0" err="1"/>
              <a:t>designed</a:t>
            </a:r>
            <a:r>
              <a:rPr lang="ru-RU" b="0" dirty="0"/>
              <a:t> </a:t>
            </a:r>
            <a:r>
              <a:rPr lang="ru-RU" b="0" dirty="0" err="1"/>
              <a:t>to</a:t>
            </a:r>
            <a:r>
              <a:rPr lang="ru-RU" b="0" dirty="0"/>
              <a:t> </a:t>
            </a:r>
            <a:r>
              <a:rPr lang="ru-RU" b="0" dirty="0" err="1"/>
              <a:t>support</a:t>
            </a:r>
            <a:r>
              <a:rPr lang="ru-RU" b="0" dirty="0"/>
              <a:t> </a:t>
            </a:r>
            <a:r>
              <a:rPr lang="ru-RU" b="0" dirty="0" err="1"/>
              <a:t>you</a:t>
            </a:r>
            <a:r>
              <a:rPr lang="ru-RU" b="0" dirty="0"/>
              <a:t> </a:t>
            </a:r>
            <a:r>
              <a:rPr lang="ru-RU" b="0" dirty="0" err="1"/>
              <a:t>to</a:t>
            </a:r>
            <a:r>
              <a:rPr lang="ru-RU" b="0" dirty="0"/>
              <a:t>:</a:t>
            </a:r>
            <a:br>
              <a:rPr lang="ru-RU" b="0" dirty="0"/>
            </a:br>
            <a:r>
              <a:rPr lang="ru-RU" b="0" dirty="0" err="1"/>
              <a:t>Develop</a:t>
            </a:r>
            <a:r>
              <a:rPr lang="ru-RU" b="0" dirty="0"/>
              <a:t> </a:t>
            </a:r>
            <a:r>
              <a:rPr lang="ru-RU" b="0" dirty="0" err="1"/>
              <a:t>awareness</a:t>
            </a:r>
            <a:r>
              <a:rPr lang="ru-RU" b="0" dirty="0"/>
              <a:t> </a:t>
            </a:r>
            <a:r>
              <a:rPr lang="ru-RU" b="0" dirty="0" err="1"/>
              <a:t>and</a:t>
            </a:r>
            <a:r>
              <a:rPr lang="ru-RU" b="0" dirty="0"/>
              <a:t> </a:t>
            </a:r>
            <a:r>
              <a:rPr lang="ru-RU" b="0" dirty="0" err="1"/>
              <a:t>understanding</a:t>
            </a:r>
            <a:r>
              <a:rPr lang="ru-RU" b="0" dirty="0"/>
              <a:t> </a:t>
            </a:r>
            <a:r>
              <a:rPr lang="ru-RU" b="0" dirty="0" err="1"/>
              <a:t>of</a:t>
            </a:r>
            <a:r>
              <a:rPr lang="ru-RU" b="0" dirty="0"/>
              <a:t> </a:t>
            </a:r>
            <a:r>
              <a:rPr lang="ru-RU" b="0" dirty="0" err="1"/>
              <a:t>the</a:t>
            </a:r>
            <a:r>
              <a:rPr lang="ru-RU" b="0" dirty="0"/>
              <a:t> </a:t>
            </a:r>
            <a:r>
              <a:rPr lang="ru-RU" b="0" dirty="0" err="1"/>
              <a:t>behaviours</a:t>
            </a:r>
            <a:r>
              <a:rPr lang="ru-RU" b="0" dirty="0"/>
              <a:t> </a:t>
            </a:r>
            <a:r>
              <a:rPr lang="ru-RU" b="0" dirty="0" err="1"/>
              <a:t>expected</a:t>
            </a:r>
            <a:r>
              <a:rPr lang="ru-RU" b="0" dirty="0"/>
              <a:t> </a:t>
            </a:r>
            <a:r>
              <a:rPr lang="ru-RU" b="0" dirty="0" err="1"/>
              <a:t>of</a:t>
            </a:r>
            <a:r>
              <a:rPr lang="ru-RU" b="0" dirty="0"/>
              <a:t> </a:t>
            </a:r>
            <a:r>
              <a:rPr lang="ru-RU" b="0" dirty="0" err="1"/>
              <a:t>an</a:t>
            </a:r>
            <a:r>
              <a:rPr lang="ru-RU" b="0" dirty="0"/>
              <a:t> PwC Professional.</a:t>
            </a:r>
            <a:br>
              <a:rPr lang="ru-RU" b="0" dirty="0"/>
            </a:br>
            <a:r>
              <a:rPr lang="ru-RU" b="0" dirty="0" err="1"/>
              <a:t>Engage</a:t>
            </a:r>
            <a:r>
              <a:rPr lang="ru-RU" b="0" dirty="0"/>
              <a:t> </a:t>
            </a:r>
            <a:r>
              <a:rPr lang="ru-RU" b="0" dirty="0" err="1"/>
              <a:t>in</a:t>
            </a:r>
            <a:r>
              <a:rPr lang="ru-RU" b="0" dirty="0"/>
              <a:t> </a:t>
            </a:r>
            <a:r>
              <a:rPr lang="ru-RU" b="0" dirty="0" err="1"/>
              <a:t>reflective</a:t>
            </a:r>
            <a:r>
              <a:rPr lang="ru-RU" b="0" dirty="0"/>
              <a:t> </a:t>
            </a:r>
            <a:r>
              <a:rPr lang="ru-RU" b="0" dirty="0" err="1"/>
              <a:t>questions</a:t>
            </a:r>
            <a:r>
              <a:rPr lang="ru-RU" b="0" dirty="0"/>
              <a:t> </a:t>
            </a:r>
            <a:r>
              <a:rPr lang="ru-RU" b="0" dirty="0" err="1"/>
              <a:t>about</a:t>
            </a:r>
            <a:r>
              <a:rPr lang="ru-RU" b="0" dirty="0"/>
              <a:t> </a:t>
            </a:r>
            <a:r>
              <a:rPr lang="ru-RU" b="0" dirty="0" err="1"/>
              <a:t>the</a:t>
            </a:r>
            <a:r>
              <a:rPr lang="ru-RU" b="0" dirty="0"/>
              <a:t> </a:t>
            </a:r>
            <a:r>
              <a:rPr lang="ru-RU" b="0" dirty="0" err="1"/>
              <a:t>behaviours</a:t>
            </a:r>
            <a:r>
              <a:rPr lang="ru-RU" b="0" dirty="0"/>
              <a:t> </a:t>
            </a:r>
            <a:r>
              <a:rPr lang="ru-RU" b="0" dirty="0" err="1"/>
              <a:t>to</a:t>
            </a:r>
            <a:r>
              <a:rPr lang="ru-RU" b="0" dirty="0"/>
              <a:t> </a:t>
            </a:r>
            <a:r>
              <a:rPr lang="ru-RU" b="0" dirty="0" err="1"/>
              <a:t>encourage</a:t>
            </a:r>
            <a:r>
              <a:rPr lang="ru-RU" b="0" dirty="0"/>
              <a:t> </a:t>
            </a:r>
            <a:r>
              <a:rPr lang="ru-RU" b="0" dirty="0" err="1"/>
              <a:t>self-awareness</a:t>
            </a:r>
            <a:r>
              <a:rPr lang="ru-RU" b="0" dirty="0"/>
              <a:t> </a:t>
            </a:r>
            <a:r>
              <a:rPr lang="ru-RU" b="0" dirty="0" err="1"/>
              <a:t>and</a:t>
            </a:r>
            <a:r>
              <a:rPr lang="ru-RU" b="0" dirty="0"/>
              <a:t> </a:t>
            </a:r>
            <a:r>
              <a:rPr lang="ru-RU" b="0" dirty="0" err="1"/>
              <a:t>drive</a:t>
            </a:r>
            <a:r>
              <a:rPr lang="ru-RU" b="0" dirty="0"/>
              <a:t> </a:t>
            </a:r>
            <a:r>
              <a:rPr lang="ru-RU" b="0" dirty="0" err="1"/>
              <a:t>individual</a:t>
            </a:r>
            <a:r>
              <a:rPr lang="ru-RU" b="0" dirty="0"/>
              <a:t> </a:t>
            </a:r>
            <a:r>
              <a:rPr lang="ru-RU" b="0" dirty="0" err="1"/>
              <a:t>growth</a:t>
            </a:r>
            <a:r>
              <a:rPr lang="ru-RU" b="0" dirty="0"/>
              <a:t>.</a:t>
            </a:r>
            <a:br>
              <a:rPr lang="ru-RU" b="0" dirty="0"/>
            </a:br>
            <a:r>
              <a:rPr lang="ru-RU" b="0" dirty="0" err="1"/>
              <a:t>Gain</a:t>
            </a:r>
            <a:r>
              <a:rPr lang="ru-RU" b="0" dirty="0"/>
              <a:t> </a:t>
            </a:r>
            <a:r>
              <a:rPr lang="ru-RU" b="0" dirty="0" err="1"/>
              <a:t>insight</a:t>
            </a:r>
            <a:r>
              <a:rPr lang="ru-RU" b="0" dirty="0"/>
              <a:t> </a:t>
            </a:r>
            <a:r>
              <a:rPr lang="ru-RU" b="0" dirty="0" err="1"/>
              <a:t>into</a:t>
            </a:r>
            <a:r>
              <a:rPr lang="ru-RU" b="0" dirty="0"/>
              <a:t> </a:t>
            </a:r>
            <a:r>
              <a:rPr lang="ru-RU" b="0" dirty="0" err="1"/>
              <a:t>personal</a:t>
            </a:r>
            <a:r>
              <a:rPr lang="ru-RU" b="0" dirty="0"/>
              <a:t> </a:t>
            </a:r>
            <a:r>
              <a:rPr lang="ru-RU" b="0" dirty="0" err="1"/>
              <a:t>strengths</a:t>
            </a:r>
            <a:r>
              <a:rPr lang="ru-RU" b="0" dirty="0"/>
              <a:t> </a:t>
            </a:r>
            <a:r>
              <a:rPr lang="ru-RU" b="0" dirty="0" err="1"/>
              <a:t>and</a:t>
            </a:r>
            <a:r>
              <a:rPr lang="ru-RU" b="0" dirty="0"/>
              <a:t> </a:t>
            </a:r>
            <a:r>
              <a:rPr lang="ru-RU" b="0" dirty="0" err="1"/>
              <a:t>opportunities</a:t>
            </a:r>
            <a:r>
              <a:rPr lang="ru-RU" b="0" dirty="0"/>
              <a:t> </a:t>
            </a:r>
            <a:r>
              <a:rPr lang="ru-RU" b="0" dirty="0" err="1"/>
              <a:t>for</a:t>
            </a:r>
            <a:r>
              <a:rPr lang="ru-RU" b="0" dirty="0"/>
              <a:t> </a:t>
            </a:r>
            <a:r>
              <a:rPr lang="ru-RU" b="0" dirty="0" err="1"/>
              <a:t>growth</a:t>
            </a:r>
            <a:r>
              <a:rPr lang="ru-RU" b="0" dirty="0"/>
              <a:t>.</a:t>
            </a:r>
            <a:br>
              <a:rPr lang="ru-RU" b="0" dirty="0"/>
            </a:br>
            <a:r>
              <a:rPr lang="ru-RU" b="0" dirty="0" err="1"/>
              <a:t>Prioritise</a:t>
            </a:r>
            <a:r>
              <a:rPr lang="ru-RU" b="0" dirty="0"/>
              <a:t> </a:t>
            </a:r>
            <a:r>
              <a:rPr lang="ru-RU" b="0" dirty="0" err="1"/>
              <a:t>which</a:t>
            </a:r>
            <a:r>
              <a:rPr lang="ru-RU" b="0" dirty="0"/>
              <a:t> </a:t>
            </a:r>
            <a:r>
              <a:rPr lang="ru-RU" b="0" dirty="0" err="1"/>
              <a:t>behaviours</a:t>
            </a:r>
            <a:r>
              <a:rPr lang="ru-RU" b="0" dirty="0"/>
              <a:t> </a:t>
            </a:r>
            <a:r>
              <a:rPr lang="ru-RU" b="0" dirty="0" err="1"/>
              <a:t>to</a:t>
            </a:r>
            <a:r>
              <a:rPr lang="ru-RU" b="0" dirty="0"/>
              <a:t> </a:t>
            </a:r>
            <a:r>
              <a:rPr lang="ru-RU" b="0" dirty="0" err="1"/>
              <a:t>practise</a:t>
            </a:r>
            <a:r>
              <a:rPr lang="ru-RU" b="0" dirty="0"/>
              <a:t> </a:t>
            </a:r>
            <a:r>
              <a:rPr lang="ru-RU" b="0" dirty="0" err="1"/>
              <a:t>and</a:t>
            </a:r>
            <a:r>
              <a:rPr lang="ru-RU" b="0" dirty="0"/>
              <a:t> </a:t>
            </a:r>
            <a:r>
              <a:rPr lang="ru-RU" b="0" dirty="0" err="1"/>
              <a:t>enhance</a:t>
            </a:r>
            <a:r>
              <a:rPr lang="ru-RU" b="0" dirty="0"/>
              <a:t> </a:t>
            </a:r>
            <a:r>
              <a:rPr lang="ru-RU" b="0" dirty="0" err="1"/>
              <a:t>with</a:t>
            </a:r>
            <a:r>
              <a:rPr lang="ru-RU" b="0" dirty="0"/>
              <a:t> </a:t>
            </a:r>
            <a:r>
              <a:rPr lang="ru-RU" b="0" dirty="0" err="1"/>
              <a:t>colleagues</a:t>
            </a:r>
            <a:r>
              <a:rPr lang="ru-RU" b="0" dirty="0"/>
              <a:t>, </a:t>
            </a:r>
            <a:r>
              <a:rPr lang="ru-RU" b="0" dirty="0" err="1"/>
              <a:t>teams</a:t>
            </a:r>
            <a:r>
              <a:rPr lang="ru-RU" b="0" dirty="0"/>
              <a:t> </a:t>
            </a:r>
            <a:r>
              <a:rPr lang="ru-RU" b="0" dirty="0" err="1"/>
              <a:t>and</a:t>
            </a:r>
            <a:r>
              <a:rPr lang="ru-RU" b="0" dirty="0"/>
              <a:t> </a:t>
            </a:r>
            <a:r>
              <a:rPr lang="ru-RU" b="0" dirty="0" err="1"/>
              <a:t>client</a:t>
            </a:r>
            <a:r>
              <a:rPr lang="ru-RU" b="0" dirty="0"/>
              <a:t>.</a:t>
            </a:r>
            <a:endParaRPr lang="en-US" b="0" dirty="0"/>
          </a:p>
          <a:p>
            <a:endParaRPr lang="en-US" b="0" dirty="0"/>
          </a:p>
          <a:p>
            <a:r>
              <a:rPr lang="en-US" b="0" dirty="0"/>
              <a:t>https://learn.growthcentre.proedge.pwc.com/course/c7db1c5c-9ee1-4ac6-914e-406335f04c4e</a:t>
            </a:r>
            <a:endParaRPr lang="ru-RU" b="0" dirty="0"/>
          </a:p>
          <a:p>
            <a:endParaRPr lang="ru-RU" dirty="0"/>
          </a:p>
        </p:txBody>
      </p:sp>
      <p:sp>
        <p:nvSpPr>
          <p:cNvPr id="4" name="Footer Placeholder 3">
            <a:extLst>
              <a:ext uri="{FF2B5EF4-FFF2-40B4-BE49-F238E27FC236}">
                <a16:creationId xmlns:a16="http://schemas.microsoft.com/office/drawing/2014/main" id="{CF65177E-2B57-4B5D-4AD5-D06D38136A7B}"/>
              </a:ext>
            </a:extLst>
          </p:cNvPr>
          <p:cNvSpPr>
            <a:spLocks noGrp="1"/>
          </p:cNvSpPr>
          <p:nvPr>
            <p:ph type="ftr" sz="quarter" idx="3"/>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DD776BF6-B820-DFF4-6CAB-A7CE3E9CC0ED}"/>
              </a:ext>
            </a:extLst>
          </p:cNvPr>
          <p:cNvSpPr>
            <a:spLocks noGrp="1"/>
          </p:cNvSpPr>
          <p:nvPr>
            <p:ph type="sldNum" sz="quarter" idx="4"/>
          </p:nvPr>
        </p:nvSpPr>
        <p:spPr/>
        <p:txBody>
          <a:bodyPr/>
          <a:lstStyle/>
          <a:p>
            <a:fld id="{3E6AC032-1535-134B-A583-D5E1DDD0D167}" type="slidenum">
              <a:rPr lang="en-US" smtClean="0"/>
              <a:pPr/>
              <a:t>15</a:t>
            </a:fld>
            <a:endParaRPr lang="en-US"/>
          </a:p>
        </p:txBody>
      </p:sp>
      <p:sp>
        <p:nvSpPr>
          <p:cNvPr id="6" name="Text Placeholder 5">
            <a:extLst>
              <a:ext uri="{FF2B5EF4-FFF2-40B4-BE49-F238E27FC236}">
                <a16:creationId xmlns:a16="http://schemas.microsoft.com/office/drawing/2014/main" id="{AE906270-82DB-655A-434F-54929F9AB3F2}"/>
              </a:ext>
            </a:extLst>
          </p:cNvPr>
          <p:cNvSpPr>
            <a:spLocks noGrp="1"/>
          </p:cNvSpPr>
          <p:nvPr>
            <p:ph type="body" sz="quarter" idx="10"/>
          </p:nvPr>
        </p:nvSpPr>
        <p:spPr/>
        <p:txBody>
          <a:bodyPr/>
          <a:lstStyle/>
          <a:p>
            <a:endParaRPr lang="ru-RU"/>
          </a:p>
        </p:txBody>
      </p:sp>
    </p:spTree>
    <p:extLst>
      <p:ext uri="{BB962C8B-B14F-4D97-AF65-F5344CB8AC3E}">
        <p14:creationId xmlns:p14="http://schemas.microsoft.com/office/powerpoint/2010/main" val="2144498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6">
          <a:extLst>
            <a:ext uri="{FF2B5EF4-FFF2-40B4-BE49-F238E27FC236}">
              <a16:creationId xmlns:a16="http://schemas.microsoft.com/office/drawing/2014/main" id="{80A47229-A44D-2503-C796-139AC9C34799}"/>
            </a:ext>
          </a:extLst>
        </p:cNvPr>
        <p:cNvGrpSpPr/>
        <p:nvPr/>
      </p:nvGrpSpPr>
      <p:grpSpPr>
        <a:xfrm>
          <a:off x="0" y="0"/>
          <a:ext cx="0" cy="0"/>
          <a:chOff x="0" y="0"/>
          <a:chExt cx="0" cy="0"/>
        </a:xfrm>
      </p:grpSpPr>
      <p:pic>
        <p:nvPicPr>
          <p:cNvPr id="1687" name="Google Shape;1687;p154">
            <a:extLst>
              <a:ext uri="{FF2B5EF4-FFF2-40B4-BE49-F238E27FC236}">
                <a16:creationId xmlns:a16="http://schemas.microsoft.com/office/drawing/2014/main" id="{D472EBD5-63B4-574B-45AF-1688F66D1E2B}"/>
              </a:ext>
            </a:extLst>
          </p:cNvPr>
          <p:cNvPicPr preferRelativeResize="0"/>
          <p:nvPr/>
        </p:nvPicPr>
        <p:blipFill rotWithShape="1">
          <a:blip r:embed="rId3">
            <a:alphaModFix/>
          </a:blip>
          <a:srcRect/>
          <a:stretch/>
        </p:blipFill>
        <p:spPr>
          <a:xfrm>
            <a:off x="1588" y="1588"/>
            <a:ext cx="1588" cy="1588"/>
          </a:xfrm>
          <a:prstGeom prst="rect">
            <a:avLst/>
          </a:prstGeom>
          <a:noFill/>
          <a:ln>
            <a:noFill/>
          </a:ln>
        </p:spPr>
      </p:pic>
      <p:sp>
        <p:nvSpPr>
          <p:cNvPr id="1688" name="Google Shape;1688;p154">
            <a:extLst>
              <a:ext uri="{FF2B5EF4-FFF2-40B4-BE49-F238E27FC236}">
                <a16:creationId xmlns:a16="http://schemas.microsoft.com/office/drawing/2014/main" id="{18F5BDCE-CDD1-D1CC-4BB1-0796D5567369}"/>
              </a:ext>
            </a:extLst>
          </p:cNvPr>
          <p:cNvSpPr txBox="1">
            <a:spLocks noGrp="1"/>
          </p:cNvSpPr>
          <p:nvPr>
            <p:ph type="title"/>
          </p:nvPr>
        </p:nvSpPr>
        <p:spPr>
          <a:xfrm>
            <a:off x="442925" y="431999"/>
            <a:ext cx="11306100" cy="9903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3200"/>
              <a:buNone/>
            </a:pPr>
            <a:r>
              <a:rPr lang="en-US"/>
              <a:t>EEC model: three steps framework for giving feedback (focus on deliverable, not a person)</a:t>
            </a:r>
            <a:endParaRPr/>
          </a:p>
        </p:txBody>
      </p:sp>
      <p:sp>
        <p:nvSpPr>
          <p:cNvPr id="1689" name="Google Shape;1689;p154">
            <a:extLst>
              <a:ext uri="{FF2B5EF4-FFF2-40B4-BE49-F238E27FC236}">
                <a16:creationId xmlns:a16="http://schemas.microsoft.com/office/drawing/2014/main" id="{14B00D95-C964-EB89-9C08-2A526CE662BD}"/>
              </a:ext>
            </a:extLst>
          </p:cNvPr>
          <p:cNvSpPr txBox="1">
            <a:spLocks noGrp="1"/>
          </p:cNvSpPr>
          <p:nvPr>
            <p:ph type="sldNum" idx="12"/>
          </p:nvPr>
        </p:nvSpPr>
        <p:spPr>
          <a:xfrm>
            <a:off x="11327130" y="6400800"/>
            <a:ext cx="422100" cy="137100"/>
          </a:xfrm>
          <a:prstGeom prst="rect">
            <a:avLst/>
          </a:prstGeom>
          <a:noFill/>
          <a:ln>
            <a:noFill/>
          </a:ln>
        </p:spPr>
        <p:txBody>
          <a:bodyPr spcFirstLastPara="1" wrap="square" lIns="0" tIns="0" rIns="0" bIns="0" anchor="b" anchorCtr="0">
            <a:noAutofit/>
          </a:bodyPr>
          <a:lstStyle/>
          <a:p>
            <a:pPr marL="0" lvl="0" indent="0" algn="r" rtl="0">
              <a:lnSpc>
                <a:spcPct val="100000"/>
              </a:lnSpc>
              <a:spcBef>
                <a:spcPts val="0"/>
              </a:spcBef>
              <a:spcAft>
                <a:spcPts val="0"/>
              </a:spcAft>
              <a:buClr>
                <a:srgbClr val="000000"/>
              </a:buClr>
              <a:buSzPts val="750"/>
              <a:buFont typeface="Arial"/>
              <a:buNone/>
            </a:pPr>
            <a:fld id="{00000000-1234-1234-1234-123412341234}" type="slidenum">
              <a:rPr lang="en-US"/>
              <a:t>16</a:t>
            </a:fld>
            <a:endParaRPr/>
          </a:p>
        </p:txBody>
      </p:sp>
      <p:sp>
        <p:nvSpPr>
          <p:cNvPr id="1690" name="Google Shape;1690;p154">
            <a:extLst>
              <a:ext uri="{FF2B5EF4-FFF2-40B4-BE49-F238E27FC236}">
                <a16:creationId xmlns:a16="http://schemas.microsoft.com/office/drawing/2014/main" id="{5EBABFCC-DA98-AB1D-D11D-9EDACB60734D}"/>
              </a:ext>
            </a:extLst>
          </p:cNvPr>
          <p:cNvSpPr/>
          <p:nvPr/>
        </p:nvSpPr>
        <p:spPr>
          <a:xfrm>
            <a:off x="442913" y="1665288"/>
            <a:ext cx="3465170" cy="7477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E</a:t>
            </a:r>
            <a:r>
              <a:rPr lang="en-US" sz="2000" b="0" i="0" u="none" strike="noStrike" cap="none">
                <a:solidFill>
                  <a:schemeClr val="lt1"/>
                </a:solidFill>
                <a:latin typeface="Arial"/>
                <a:ea typeface="Arial"/>
                <a:cs typeface="Arial"/>
                <a:sym typeface="Arial"/>
              </a:rPr>
              <a:t> example</a:t>
            </a:r>
            <a:endParaRPr sz="2000" b="0" i="0" u="none" strike="noStrike" cap="none">
              <a:solidFill>
                <a:schemeClr val="lt1"/>
              </a:solidFill>
              <a:latin typeface="Arial"/>
              <a:ea typeface="Arial"/>
              <a:cs typeface="Arial"/>
              <a:sym typeface="Arial"/>
            </a:endParaRPr>
          </a:p>
        </p:txBody>
      </p:sp>
      <p:sp>
        <p:nvSpPr>
          <p:cNvPr id="1691" name="Google Shape;1691;p154">
            <a:extLst>
              <a:ext uri="{FF2B5EF4-FFF2-40B4-BE49-F238E27FC236}">
                <a16:creationId xmlns:a16="http://schemas.microsoft.com/office/drawing/2014/main" id="{42C08A7A-2262-73CD-3CE0-1061229D23BB}"/>
              </a:ext>
            </a:extLst>
          </p:cNvPr>
          <p:cNvSpPr/>
          <p:nvPr/>
        </p:nvSpPr>
        <p:spPr>
          <a:xfrm>
            <a:off x="4363379" y="1665288"/>
            <a:ext cx="3465170" cy="7477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E</a:t>
            </a:r>
            <a:r>
              <a:rPr lang="en-US" sz="2000" b="0" i="0" u="none" strike="noStrike" cap="none">
                <a:solidFill>
                  <a:schemeClr val="lt1"/>
                </a:solidFill>
                <a:latin typeface="Arial"/>
                <a:ea typeface="Arial"/>
                <a:cs typeface="Arial"/>
                <a:sym typeface="Arial"/>
              </a:rPr>
              <a:t> effect</a:t>
            </a:r>
            <a:endParaRPr sz="2000" b="0" i="0" u="none" strike="noStrike" cap="none">
              <a:solidFill>
                <a:schemeClr val="lt1"/>
              </a:solidFill>
              <a:latin typeface="Arial"/>
              <a:ea typeface="Arial"/>
              <a:cs typeface="Arial"/>
              <a:sym typeface="Arial"/>
            </a:endParaRPr>
          </a:p>
        </p:txBody>
      </p:sp>
      <p:sp>
        <p:nvSpPr>
          <p:cNvPr id="1692" name="Google Shape;1692;p154">
            <a:extLst>
              <a:ext uri="{FF2B5EF4-FFF2-40B4-BE49-F238E27FC236}">
                <a16:creationId xmlns:a16="http://schemas.microsoft.com/office/drawing/2014/main" id="{60F0D531-E5B0-B7C2-1265-5F3F6F35E0FE}"/>
              </a:ext>
            </a:extLst>
          </p:cNvPr>
          <p:cNvSpPr/>
          <p:nvPr/>
        </p:nvSpPr>
        <p:spPr>
          <a:xfrm>
            <a:off x="8283843" y="1665288"/>
            <a:ext cx="3465170" cy="747712"/>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lt1"/>
                </a:solidFill>
                <a:latin typeface="Arial"/>
                <a:ea typeface="Arial"/>
                <a:cs typeface="Arial"/>
                <a:sym typeface="Arial"/>
              </a:rPr>
              <a:t>C</a:t>
            </a:r>
            <a:r>
              <a:rPr lang="en-US" sz="2000" b="0" i="0" u="none" strike="noStrike" cap="none" dirty="0">
                <a:solidFill>
                  <a:schemeClr val="lt1"/>
                </a:solidFill>
                <a:latin typeface="Arial"/>
                <a:ea typeface="Arial"/>
                <a:cs typeface="Arial"/>
                <a:sym typeface="Arial"/>
              </a:rPr>
              <a:t> continue</a:t>
            </a:r>
            <a:endParaRPr sz="2000" b="0" i="0" u="none" strike="noStrike" cap="none" dirty="0">
              <a:solidFill>
                <a:schemeClr val="lt1"/>
              </a:solidFill>
              <a:latin typeface="Arial"/>
              <a:ea typeface="Arial"/>
              <a:cs typeface="Arial"/>
              <a:sym typeface="Arial"/>
            </a:endParaRPr>
          </a:p>
        </p:txBody>
      </p:sp>
      <p:cxnSp>
        <p:nvCxnSpPr>
          <p:cNvPr id="1693" name="Google Shape;1693;p154">
            <a:extLst>
              <a:ext uri="{FF2B5EF4-FFF2-40B4-BE49-F238E27FC236}">
                <a16:creationId xmlns:a16="http://schemas.microsoft.com/office/drawing/2014/main" id="{5A94D67F-E24A-4DA9-E349-CBC1BA941707}"/>
              </a:ext>
            </a:extLst>
          </p:cNvPr>
          <p:cNvCxnSpPr/>
          <p:nvPr/>
        </p:nvCxnSpPr>
        <p:spPr>
          <a:xfrm>
            <a:off x="4135731" y="1663700"/>
            <a:ext cx="0" cy="4495800"/>
          </a:xfrm>
          <a:prstGeom prst="straightConnector1">
            <a:avLst/>
          </a:prstGeom>
          <a:noFill/>
          <a:ln w="9525" cap="flat" cmpd="sng">
            <a:solidFill>
              <a:srgbClr val="A5A5A5"/>
            </a:solidFill>
            <a:prstDash val="solid"/>
            <a:round/>
            <a:headEnd type="none" w="sm" len="sm"/>
            <a:tailEnd type="none" w="sm" len="sm"/>
          </a:ln>
        </p:spPr>
      </p:cxnSp>
      <p:cxnSp>
        <p:nvCxnSpPr>
          <p:cNvPr id="1694" name="Google Shape;1694;p154">
            <a:extLst>
              <a:ext uri="{FF2B5EF4-FFF2-40B4-BE49-F238E27FC236}">
                <a16:creationId xmlns:a16="http://schemas.microsoft.com/office/drawing/2014/main" id="{26BA6B5D-2B98-9E23-70F1-130219D7CC48}"/>
              </a:ext>
            </a:extLst>
          </p:cNvPr>
          <p:cNvCxnSpPr/>
          <p:nvPr/>
        </p:nvCxnSpPr>
        <p:spPr>
          <a:xfrm>
            <a:off x="8056197" y="1663700"/>
            <a:ext cx="0" cy="4495800"/>
          </a:xfrm>
          <a:prstGeom prst="straightConnector1">
            <a:avLst/>
          </a:prstGeom>
          <a:noFill/>
          <a:ln w="9525" cap="flat" cmpd="sng">
            <a:solidFill>
              <a:srgbClr val="A5A5A5"/>
            </a:solidFill>
            <a:prstDash val="solid"/>
            <a:round/>
            <a:headEnd type="none" w="sm" len="sm"/>
            <a:tailEnd type="none" w="sm" len="sm"/>
          </a:ln>
        </p:spPr>
      </p:cxnSp>
      <p:grpSp>
        <p:nvGrpSpPr>
          <p:cNvPr id="1695" name="Google Shape;1695;p154">
            <a:extLst>
              <a:ext uri="{FF2B5EF4-FFF2-40B4-BE49-F238E27FC236}">
                <a16:creationId xmlns:a16="http://schemas.microsoft.com/office/drawing/2014/main" id="{2A5EED9A-47D5-83B5-CBE8-FCD4A281720D}"/>
              </a:ext>
            </a:extLst>
          </p:cNvPr>
          <p:cNvGrpSpPr/>
          <p:nvPr/>
        </p:nvGrpSpPr>
        <p:grpSpPr>
          <a:xfrm>
            <a:off x="442913" y="2668689"/>
            <a:ext cx="3465167" cy="3516211"/>
            <a:chOff x="442913" y="2655989"/>
            <a:chExt cx="3465167" cy="3098800"/>
          </a:xfrm>
        </p:grpSpPr>
        <p:sp>
          <p:nvSpPr>
            <p:cNvPr id="1696" name="Google Shape;1696;p154">
              <a:extLst>
                <a:ext uri="{FF2B5EF4-FFF2-40B4-BE49-F238E27FC236}">
                  <a16:creationId xmlns:a16="http://schemas.microsoft.com/office/drawing/2014/main" id="{451CF165-EB09-B66B-4B0E-10CC821C7DD8}"/>
                </a:ext>
              </a:extLst>
            </p:cNvPr>
            <p:cNvSpPr/>
            <p:nvPr/>
          </p:nvSpPr>
          <p:spPr>
            <a:xfrm>
              <a:off x="442913" y="26559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0" i="0" u="none" strike="noStrike" cap="none">
                  <a:solidFill>
                    <a:schemeClr val="dk1"/>
                  </a:solidFill>
                  <a:latin typeface="Arial"/>
                  <a:ea typeface="Arial"/>
                  <a:cs typeface="Arial"/>
                  <a:sym typeface="Arial"/>
                </a:rPr>
                <a:t>In this step, you describe the other person’s behavior or actions giving specific examples.</a:t>
              </a:r>
              <a:endParaRPr sz="1600" b="0" i="0" u="none" strike="noStrike" cap="none">
                <a:solidFill>
                  <a:schemeClr val="dk1"/>
                </a:solidFill>
                <a:latin typeface="Arial"/>
                <a:ea typeface="Arial"/>
                <a:cs typeface="Arial"/>
                <a:sym typeface="Arial"/>
              </a:endParaRPr>
            </a:p>
          </p:txBody>
        </p:sp>
        <p:sp>
          <p:nvSpPr>
            <p:cNvPr id="1697" name="Google Shape;1697;p154">
              <a:extLst>
                <a:ext uri="{FF2B5EF4-FFF2-40B4-BE49-F238E27FC236}">
                  <a16:creationId xmlns:a16="http://schemas.microsoft.com/office/drawing/2014/main" id="{CD22ED6C-7660-8D3A-6F86-E085CA170CF1}"/>
                </a:ext>
              </a:extLst>
            </p:cNvPr>
            <p:cNvSpPr/>
            <p:nvPr/>
          </p:nvSpPr>
          <p:spPr>
            <a:xfrm>
              <a:off x="442913" y="43323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Arial"/>
                  <a:ea typeface="Arial"/>
                  <a:cs typeface="Arial"/>
                  <a:sym typeface="Arial"/>
                </a:rPr>
                <a:t>In action: </a:t>
              </a:r>
              <a:r>
                <a:rPr lang="en-US" sz="1600">
                  <a:solidFill>
                    <a:schemeClr val="dk1"/>
                  </a:solidFill>
                </a:rPr>
                <a:t>„You have been completing your assignment in due time.”</a:t>
              </a:r>
              <a:endParaRPr sz="1600">
                <a:solidFill>
                  <a:schemeClr val="dk1"/>
                </a:solidFill>
              </a:endParaRPr>
            </a:p>
          </p:txBody>
        </p:sp>
      </p:grpSp>
      <p:grpSp>
        <p:nvGrpSpPr>
          <p:cNvPr id="1698" name="Google Shape;1698;p154">
            <a:extLst>
              <a:ext uri="{FF2B5EF4-FFF2-40B4-BE49-F238E27FC236}">
                <a16:creationId xmlns:a16="http://schemas.microsoft.com/office/drawing/2014/main" id="{DA7866A8-FDCB-2429-8504-941974198E5F}"/>
              </a:ext>
            </a:extLst>
          </p:cNvPr>
          <p:cNvGrpSpPr/>
          <p:nvPr/>
        </p:nvGrpSpPr>
        <p:grpSpPr>
          <a:xfrm>
            <a:off x="4363416" y="2668689"/>
            <a:ext cx="3465167" cy="3516211"/>
            <a:chOff x="442913" y="2655989"/>
            <a:chExt cx="3465167" cy="3098800"/>
          </a:xfrm>
        </p:grpSpPr>
        <p:sp>
          <p:nvSpPr>
            <p:cNvPr id="1699" name="Google Shape;1699;p154">
              <a:extLst>
                <a:ext uri="{FF2B5EF4-FFF2-40B4-BE49-F238E27FC236}">
                  <a16:creationId xmlns:a16="http://schemas.microsoft.com/office/drawing/2014/main" id="{8289D5DB-7577-76D7-D728-26631A0EAB63}"/>
                </a:ext>
              </a:extLst>
            </p:cNvPr>
            <p:cNvSpPr/>
            <p:nvPr/>
          </p:nvSpPr>
          <p:spPr>
            <a:xfrm>
              <a:off x="442913" y="26559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0" i="0" u="none" strike="noStrike" cap="none">
                  <a:solidFill>
                    <a:schemeClr val="dk1"/>
                  </a:solidFill>
                  <a:latin typeface="Arial"/>
                  <a:ea typeface="Arial"/>
                  <a:cs typeface="Arial"/>
                  <a:sym typeface="Arial"/>
                </a:rPr>
                <a:t>You describe the impact of that behavior on you. Where possible, give the result of this impact in terms of your own behavior or feelings.</a:t>
              </a:r>
              <a:endParaRPr sz="1600" b="0" i="0" u="none" strike="noStrike" cap="none">
                <a:solidFill>
                  <a:schemeClr val="dk1"/>
                </a:solidFill>
                <a:latin typeface="Arial"/>
                <a:ea typeface="Arial"/>
                <a:cs typeface="Arial"/>
                <a:sym typeface="Arial"/>
              </a:endParaRPr>
            </a:p>
          </p:txBody>
        </p:sp>
        <p:sp>
          <p:nvSpPr>
            <p:cNvPr id="1700" name="Google Shape;1700;p154">
              <a:extLst>
                <a:ext uri="{FF2B5EF4-FFF2-40B4-BE49-F238E27FC236}">
                  <a16:creationId xmlns:a16="http://schemas.microsoft.com/office/drawing/2014/main" id="{268E98CF-E122-2FE2-88E9-63B2D9081027}"/>
                </a:ext>
              </a:extLst>
            </p:cNvPr>
            <p:cNvSpPr/>
            <p:nvPr/>
          </p:nvSpPr>
          <p:spPr>
            <a:xfrm>
              <a:off x="442913" y="43323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Arial"/>
                  <a:ea typeface="Arial"/>
                  <a:cs typeface="Arial"/>
                  <a:sym typeface="Arial"/>
                </a:rPr>
                <a:t>In action: </a:t>
              </a:r>
              <a:r>
                <a:rPr lang="en-US" sz="1600">
                  <a:solidFill>
                    <a:schemeClr val="dk1"/>
                  </a:solidFill>
                </a:rPr>
                <a:t>„It makes me very comfortable to know I can rely on.”</a:t>
              </a:r>
              <a:endParaRPr sz="1600">
                <a:solidFill>
                  <a:schemeClr val="dk1"/>
                </a:solidFill>
              </a:endParaRPr>
            </a:p>
          </p:txBody>
        </p:sp>
      </p:grpSp>
      <p:grpSp>
        <p:nvGrpSpPr>
          <p:cNvPr id="1701" name="Google Shape;1701;p154">
            <a:extLst>
              <a:ext uri="{FF2B5EF4-FFF2-40B4-BE49-F238E27FC236}">
                <a16:creationId xmlns:a16="http://schemas.microsoft.com/office/drawing/2014/main" id="{3C82231E-B1A9-C121-FB03-9A77670AE533}"/>
              </a:ext>
            </a:extLst>
          </p:cNvPr>
          <p:cNvGrpSpPr/>
          <p:nvPr/>
        </p:nvGrpSpPr>
        <p:grpSpPr>
          <a:xfrm>
            <a:off x="8283843" y="2668689"/>
            <a:ext cx="3465167" cy="3516211"/>
            <a:chOff x="442913" y="2655989"/>
            <a:chExt cx="3465167" cy="3098800"/>
          </a:xfrm>
        </p:grpSpPr>
        <p:sp>
          <p:nvSpPr>
            <p:cNvPr id="1702" name="Google Shape;1702;p154">
              <a:extLst>
                <a:ext uri="{FF2B5EF4-FFF2-40B4-BE49-F238E27FC236}">
                  <a16:creationId xmlns:a16="http://schemas.microsoft.com/office/drawing/2014/main" id="{07D604A0-E461-70AE-1349-B34914B08C82}"/>
                </a:ext>
              </a:extLst>
            </p:cNvPr>
            <p:cNvSpPr/>
            <p:nvPr/>
          </p:nvSpPr>
          <p:spPr>
            <a:xfrm>
              <a:off x="442913" y="26559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0" i="0" u="none" strike="noStrike" cap="none">
                  <a:solidFill>
                    <a:schemeClr val="dk1"/>
                  </a:solidFill>
                  <a:latin typeface="Arial"/>
                  <a:ea typeface="Arial"/>
                  <a:cs typeface="Arial"/>
                  <a:sym typeface="Arial"/>
                </a:rPr>
                <a:t>If a change is needed, you outline a suggestion for improvement.</a:t>
              </a:r>
              <a:endParaRPr sz="1600" b="0" i="0" u="none" strike="noStrike" cap="none">
                <a:solidFill>
                  <a:schemeClr val="dk1"/>
                </a:solidFill>
                <a:latin typeface="Arial"/>
                <a:ea typeface="Arial"/>
                <a:cs typeface="Arial"/>
                <a:sym typeface="Arial"/>
              </a:endParaRPr>
            </a:p>
          </p:txBody>
        </p:sp>
        <p:sp>
          <p:nvSpPr>
            <p:cNvPr id="1703" name="Google Shape;1703;p154">
              <a:extLst>
                <a:ext uri="{FF2B5EF4-FFF2-40B4-BE49-F238E27FC236}">
                  <a16:creationId xmlns:a16="http://schemas.microsoft.com/office/drawing/2014/main" id="{3CC63915-44AA-855A-4F3D-1EE88F6AA7B0}"/>
                </a:ext>
              </a:extLst>
            </p:cNvPr>
            <p:cNvSpPr/>
            <p:nvPr/>
          </p:nvSpPr>
          <p:spPr>
            <a:xfrm>
              <a:off x="442913" y="43323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Arial"/>
                  <a:ea typeface="Arial"/>
                  <a:cs typeface="Arial"/>
                  <a:sym typeface="Arial"/>
                </a:rPr>
                <a:t>In action</a:t>
              </a:r>
              <a:r>
                <a:rPr lang="en-US" sz="1600">
                  <a:solidFill>
                    <a:schemeClr val="dk1"/>
                  </a:solidFill>
                </a:rPr>
                <a:t>: „keep doing that, responsibility and discipline are your obvious strengths.”</a:t>
              </a:r>
              <a:endParaRPr sz="1600">
                <a:solidFill>
                  <a:schemeClr val="dk1"/>
                </a:solidFill>
              </a:endParaRPr>
            </a:p>
          </p:txBody>
        </p:sp>
      </p:grpSp>
    </p:spTree>
    <p:extLst>
      <p:ext uri="{BB962C8B-B14F-4D97-AF65-F5344CB8AC3E}">
        <p14:creationId xmlns:p14="http://schemas.microsoft.com/office/powerpoint/2010/main" val="1447270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86"/>
        <p:cNvGrpSpPr/>
        <p:nvPr/>
      </p:nvGrpSpPr>
      <p:grpSpPr>
        <a:xfrm>
          <a:off x="0" y="0"/>
          <a:ext cx="0" cy="0"/>
          <a:chOff x="0" y="0"/>
          <a:chExt cx="0" cy="0"/>
        </a:xfrm>
      </p:grpSpPr>
      <p:pic>
        <p:nvPicPr>
          <p:cNvPr id="1687" name="Google Shape;1687;p154"/>
          <p:cNvPicPr preferRelativeResize="0"/>
          <p:nvPr/>
        </p:nvPicPr>
        <p:blipFill rotWithShape="1">
          <a:blip r:embed="rId3">
            <a:alphaModFix/>
          </a:blip>
          <a:srcRect/>
          <a:stretch/>
        </p:blipFill>
        <p:spPr>
          <a:xfrm>
            <a:off x="1588" y="1588"/>
            <a:ext cx="1588" cy="1588"/>
          </a:xfrm>
          <a:prstGeom prst="rect">
            <a:avLst/>
          </a:prstGeom>
          <a:noFill/>
          <a:ln>
            <a:noFill/>
          </a:ln>
        </p:spPr>
      </p:pic>
      <p:sp>
        <p:nvSpPr>
          <p:cNvPr id="1688" name="Google Shape;1688;p154"/>
          <p:cNvSpPr txBox="1">
            <a:spLocks noGrp="1"/>
          </p:cNvSpPr>
          <p:nvPr>
            <p:ph type="title"/>
          </p:nvPr>
        </p:nvSpPr>
        <p:spPr>
          <a:xfrm>
            <a:off x="442925" y="431999"/>
            <a:ext cx="11306100" cy="9903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3200"/>
              <a:buNone/>
            </a:pPr>
            <a:r>
              <a:rPr lang="en-US"/>
              <a:t>EEC model: three steps framework for giving feedback (focus on deliverable, not a person)</a:t>
            </a:r>
            <a:endParaRPr/>
          </a:p>
        </p:txBody>
      </p:sp>
      <p:sp>
        <p:nvSpPr>
          <p:cNvPr id="1689" name="Google Shape;1689;p154"/>
          <p:cNvSpPr txBox="1">
            <a:spLocks noGrp="1"/>
          </p:cNvSpPr>
          <p:nvPr>
            <p:ph type="sldNum" idx="12"/>
          </p:nvPr>
        </p:nvSpPr>
        <p:spPr>
          <a:xfrm>
            <a:off x="11327130" y="6400800"/>
            <a:ext cx="422100" cy="137100"/>
          </a:xfrm>
          <a:prstGeom prst="rect">
            <a:avLst/>
          </a:prstGeom>
          <a:noFill/>
          <a:ln>
            <a:noFill/>
          </a:ln>
        </p:spPr>
        <p:txBody>
          <a:bodyPr spcFirstLastPara="1" wrap="square" lIns="0" tIns="0" rIns="0" bIns="0" anchor="b" anchorCtr="0">
            <a:noAutofit/>
          </a:bodyPr>
          <a:lstStyle/>
          <a:p>
            <a:pPr marL="0" lvl="0" indent="0" algn="r" rtl="0">
              <a:lnSpc>
                <a:spcPct val="100000"/>
              </a:lnSpc>
              <a:spcBef>
                <a:spcPts val="0"/>
              </a:spcBef>
              <a:spcAft>
                <a:spcPts val="0"/>
              </a:spcAft>
              <a:buClr>
                <a:srgbClr val="000000"/>
              </a:buClr>
              <a:buSzPts val="750"/>
              <a:buFont typeface="Arial"/>
              <a:buNone/>
            </a:pPr>
            <a:fld id="{00000000-1234-1234-1234-123412341234}" type="slidenum">
              <a:rPr lang="en-US"/>
              <a:t>17</a:t>
            </a:fld>
            <a:endParaRPr/>
          </a:p>
        </p:txBody>
      </p:sp>
      <p:sp>
        <p:nvSpPr>
          <p:cNvPr id="1690" name="Google Shape;1690;p154"/>
          <p:cNvSpPr/>
          <p:nvPr/>
        </p:nvSpPr>
        <p:spPr>
          <a:xfrm>
            <a:off x="442913" y="1665288"/>
            <a:ext cx="3465170" cy="7477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E</a:t>
            </a:r>
            <a:r>
              <a:rPr lang="en-US" sz="2000" b="0" i="0" u="none" strike="noStrike" cap="none">
                <a:solidFill>
                  <a:schemeClr val="lt1"/>
                </a:solidFill>
                <a:latin typeface="Arial"/>
                <a:ea typeface="Arial"/>
                <a:cs typeface="Arial"/>
                <a:sym typeface="Arial"/>
              </a:rPr>
              <a:t> example</a:t>
            </a:r>
            <a:endParaRPr sz="2000" b="0" i="0" u="none" strike="noStrike" cap="none">
              <a:solidFill>
                <a:schemeClr val="lt1"/>
              </a:solidFill>
              <a:latin typeface="Arial"/>
              <a:ea typeface="Arial"/>
              <a:cs typeface="Arial"/>
              <a:sym typeface="Arial"/>
            </a:endParaRPr>
          </a:p>
        </p:txBody>
      </p:sp>
      <p:sp>
        <p:nvSpPr>
          <p:cNvPr id="1691" name="Google Shape;1691;p154"/>
          <p:cNvSpPr/>
          <p:nvPr/>
        </p:nvSpPr>
        <p:spPr>
          <a:xfrm>
            <a:off x="4363379" y="1665288"/>
            <a:ext cx="3465170" cy="7477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E</a:t>
            </a:r>
            <a:r>
              <a:rPr lang="en-US" sz="2000" b="0" i="0" u="none" strike="noStrike" cap="none">
                <a:solidFill>
                  <a:schemeClr val="lt1"/>
                </a:solidFill>
                <a:latin typeface="Arial"/>
                <a:ea typeface="Arial"/>
                <a:cs typeface="Arial"/>
                <a:sym typeface="Arial"/>
              </a:rPr>
              <a:t> effect</a:t>
            </a:r>
            <a:endParaRPr sz="2000" b="0" i="0" u="none" strike="noStrike" cap="none">
              <a:solidFill>
                <a:schemeClr val="lt1"/>
              </a:solidFill>
              <a:latin typeface="Arial"/>
              <a:ea typeface="Arial"/>
              <a:cs typeface="Arial"/>
              <a:sym typeface="Arial"/>
            </a:endParaRPr>
          </a:p>
        </p:txBody>
      </p:sp>
      <p:sp>
        <p:nvSpPr>
          <p:cNvPr id="1692" name="Google Shape;1692;p154"/>
          <p:cNvSpPr/>
          <p:nvPr/>
        </p:nvSpPr>
        <p:spPr>
          <a:xfrm>
            <a:off x="8283843" y="1665288"/>
            <a:ext cx="3465170" cy="747712"/>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lt1"/>
                </a:solidFill>
                <a:latin typeface="Arial"/>
                <a:ea typeface="Arial"/>
                <a:cs typeface="Arial"/>
                <a:sym typeface="Arial"/>
              </a:rPr>
              <a:t>C</a:t>
            </a:r>
            <a:r>
              <a:rPr lang="en-US" sz="2000" b="0" i="0" u="none" strike="noStrike" cap="none" dirty="0">
                <a:solidFill>
                  <a:schemeClr val="lt1"/>
                </a:solidFill>
                <a:latin typeface="Arial"/>
                <a:ea typeface="Arial"/>
                <a:cs typeface="Arial"/>
                <a:sym typeface="Arial"/>
              </a:rPr>
              <a:t> change </a:t>
            </a:r>
            <a:endParaRPr sz="2000" b="0" i="0" u="none" strike="noStrike" cap="none" dirty="0">
              <a:solidFill>
                <a:schemeClr val="lt1"/>
              </a:solidFill>
              <a:latin typeface="Arial"/>
              <a:ea typeface="Arial"/>
              <a:cs typeface="Arial"/>
              <a:sym typeface="Arial"/>
            </a:endParaRPr>
          </a:p>
        </p:txBody>
      </p:sp>
      <p:cxnSp>
        <p:nvCxnSpPr>
          <p:cNvPr id="1693" name="Google Shape;1693;p154"/>
          <p:cNvCxnSpPr/>
          <p:nvPr/>
        </p:nvCxnSpPr>
        <p:spPr>
          <a:xfrm>
            <a:off x="4135731" y="1663700"/>
            <a:ext cx="0" cy="4495800"/>
          </a:xfrm>
          <a:prstGeom prst="straightConnector1">
            <a:avLst/>
          </a:prstGeom>
          <a:noFill/>
          <a:ln w="9525" cap="flat" cmpd="sng">
            <a:solidFill>
              <a:srgbClr val="A5A5A5"/>
            </a:solidFill>
            <a:prstDash val="solid"/>
            <a:round/>
            <a:headEnd type="none" w="sm" len="sm"/>
            <a:tailEnd type="none" w="sm" len="sm"/>
          </a:ln>
        </p:spPr>
      </p:cxnSp>
      <p:cxnSp>
        <p:nvCxnSpPr>
          <p:cNvPr id="1694" name="Google Shape;1694;p154"/>
          <p:cNvCxnSpPr/>
          <p:nvPr/>
        </p:nvCxnSpPr>
        <p:spPr>
          <a:xfrm>
            <a:off x="8056197" y="1663700"/>
            <a:ext cx="0" cy="4495800"/>
          </a:xfrm>
          <a:prstGeom prst="straightConnector1">
            <a:avLst/>
          </a:prstGeom>
          <a:noFill/>
          <a:ln w="9525" cap="flat" cmpd="sng">
            <a:solidFill>
              <a:srgbClr val="A5A5A5"/>
            </a:solidFill>
            <a:prstDash val="solid"/>
            <a:round/>
            <a:headEnd type="none" w="sm" len="sm"/>
            <a:tailEnd type="none" w="sm" len="sm"/>
          </a:ln>
        </p:spPr>
      </p:cxnSp>
      <p:grpSp>
        <p:nvGrpSpPr>
          <p:cNvPr id="1695" name="Google Shape;1695;p154"/>
          <p:cNvGrpSpPr/>
          <p:nvPr/>
        </p:nvGrpSpPr>
        <p:grpSpPr>
          <a:xfrm>
            <a:off x="442913" y="2668689"/>
            <a:ext cx="3465167" cy="3516211"/>
            <a:chOff x="442913" y="2655989"/>
            <a:chExt cx="3465167" cy="3098800"/>
          </a:xfrm>
        </p:grpSpPr>
        <p:sp>
          <p:nvSpPr>
            <p:cNvPr id="1696" name="Google Shape;1696;p154"/>
            <p:cNvSpPr/>
            <p:nvPr/>
          </p:nvSpPr>
          <p:spPr>
            <a:xfrm>
              <a:off x="442913" y="26559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0" i="0" u="none" strike="noStrike" cap="none">
                  <a:solidFill>
                    <a:schemeClr val="dk1"/>
                  </a:solidFill>
                  <a:latin typeface="Arial"/>
                  <a:ea typeface="Arial"/>
                  <a:cs typeface="Arial"/>
                  <a:sym typeface="Arial"/>
                </a:rPr>
                <a:t>In this step, you describe the other person’s behavior or actions giving specific examples.</a:t>
              </a:r>
              <a:endParaRPr sz="1600" b="0" i="0" u="none" strike="noStrike" cap="none">
                <a:solidFill>
                  <a:schemeClr val="dk1"/>
                </a:solidFill>
                <a:latin typeface="Arial"/>
                <a:ea typeface="Arial"/>
                <a:cs typeface="Arial"/>
                <a:sym typeface="Arial"/>
              </a:endParaRPr>
            </a:p>
          </p:txBody>
        </p:sp>
        <p:sp>
          <p:nvSpPr>
            <p:cNvPr id="1697" name="Google Shape;1697;p154"/>
            <p:cNvSpPr/>
            <p:nvPr/>
          </p:nvSpPr>
          <p:spPr>
            <a:xfrm>
              <a:off x="442913" y="43323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Arial"/>
                  <a:ea typeface="Arial"/>
                  <a:cs typeface="Arial"/>
                  <a:sym typeface="Arial"/>
                </a:rPr>
                <a:t>In action: </a:t>
              </a:r>
              <a:r>
                <a:rPr lang="en-US" sz="1600" b="0" i="0" u="none" strike="noStrike" cap="none">
                  <a:solidFill>
                    <a:schemeClr val="dk1"/>
                  </a:solidFill>
                  <a:latin typeface="Arial"/>
                  <a:ea typeface="Arial"/>
                  <a:cs typeface="Arial"/>
                  <a:sym typeface="Arial"/>
                </a:rPr>
                <a:t>„When the meeting started, the meeting’s objective was not clear.”</a:t>
              </a:r>
              <a:endParaRPr sz="1600" b="0" i="0" u="none" strike="noStrike" cap="none">
                <a:solidFill>
                  <a:schemeClr val="dk1"/>
                </a:solidFill>
                <a:latin typeface="Arial"/>
                <a:ea typeface="Arial"/>
                <a:cs typeface="Arial"/>
                <a:sym typeface="Arial"/>
              </a:endParaRPr>
            </a:p>
          </p:txBody>
        </p:sp>
      </p:grpSp>
      <p:grpSp>
        <p:nvGrpSpPr>
          <p:cNvPr id="1698" name="Google Shape;1698;p154"/>
          <p:cNvGrpSpPr/>
          <p:nvPr/>
        </p:nvGrpSpPr>
        <p:grpSpPr>
          <a:xfrm>
            <a:off x="4363416" y="2668689"/>
            <a:ext cx="3465167" cy="3516211"/>
            <a:chOff x="442913" y="2655989"/>
            <a:chExt cx="3465167" cy="3098800"/>
          </a:xfrm>
        </p:grpSpPr>
        <p:sp>
          <p:nvSpPr>
            <p:cNvPr id="1699" name="Google Shape;1699;p154"/>
            <p:cNvSpPr/>
            <p:nvPr/>
          </p:nvSpPr>
          <p:spPr>
            <a:xfrm>
              <a:off x="442913" y="26559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0" i="0" u="none" strike="noStrike" cap="none">
                  <a:solidFill>
                    <a:schemeClr val="dk1"/>
                  </a:solidFill>
                  <a:latin typeface="Arial"/>
                  <a:ea typeface="Arial"/>
                  <a:cs typeface="Arial"/>
                  <a:sym typeface="Arial"/>
                </a:rPr>
                <a:t>You describe the impact of that behavior on you. Where possible, give the result of this impact in terms of your own behavior or feelings.</a:t>
              </a:r>
              <a:endParaRPr sz="1600" b="0" i="0" u="none" strike="noStrike" cap="none">
                <a:solidFill>
                  <a:schemeClr val="dk1"/>
                </a:solidFill>
                <a:latin typeface="Arial"/>
                <a:ea typeface="Arial"/>
                <a:cs typeface="Arial"/>
                <a:sym typeface="Arial"/>
              </a:endParaRPr>
            </a:p>
          </p:txBody>
        </p:sp>
        <p:sp>
          <p:nvSpPr>
            <p:cNvPr id="1700" name="Google Shape;1700;p154"/>
            <p:cNvSpPr/>
            <p:nvPr/>
          </p:nvSpPr>
          <p:spPr>
            <a:xfrm>
              <a:off x="442913" y="43323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Arial"/>
                  <a:ea typeface="Arial"/>
                  <a:cs typeface="Arial"/>
                  <a:sym typeface="Arial"/>
                </a:rPr>
                <a:t>In action: </a:t>
              </a:r>
              <a:r>
                <a:rPr lang="en-US" sz="1600" b="0" i="0" u="none" strike="noStrike" cap="none">
                  <a:solidFill>
                    <a:schemeClr val="dk1"/>
                  </a:solidFill>
                  <a:latin typeface="Arial"/>
                  <a:ea typeface="Arial"/>
                  <a:cs typeface="Arial"/>
                  <a:sym typeface="Arial"/>
                </a:rPr>
                <a:t>„The effect this had on me was I felt unfocussed, because I didn’t know where the meeting was going and was less able to make my contribution.”</a:t>
              </a:r>
              <a:endParaRPr sz="1600" b="0" i="0" u="none" strike="noStrike" cap="none">
                <a:solidFill>
                  <a:schemeClr val="dk1"/>
                </a:solidFill>
                <a:latin typeface="Arial"/>
                <a:ea typeface="Arial"/>
                <a:cs typeface="Arial"/>
                <a:sym typeface="Arial"/>
              </a:endParaRPr>
            </a:p>
          </p:txBody>
        </p:sp>
      </p:grpSp>
      <p:grpSp>
        <p:nvGrpSpPr>
          <p:cNvPr id="1701" name="Google Shape;1701;p154"/>
          <p:cNvGrpSpPr/>
          <p:nvPr/>
        </p:nvGrpSpPr>
        <p:grpSpPr>
          <a:xfrm>
            <a:off x="8283843" y="2668689"/>
            <a:ext cx="3465167" cy="3516211"/>
            <a:chOff x="442913" y="2655989"/>
            <a:chExt cx="3465167" cy="3098800"/>
          </a:xfrm>
        </p:grpSpPr>
        <p:sp>
          <p:nvSpPr>
            <p:cNvPr id="1702" name="Google Shape;1702;p154"/>
            <p:cNvSpPr/>
            <p:nvPr/>
          </p:nvSpPr>
          <p:spPr>
            <a:xfrm>
              <a:off x="442913" y="26559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0" i="0" u="none" strike="noStrike" cap="none">
                  <a:solidFill>
                    <a:schemeClr val="dk1"/>
                  </a:solidFill>
                  <a:latin typeface="Arial"/>
                  <a:ea typeface="Arial"/>
                  <a:cs typeface="Arial"/>
                  <a:sym typeface="Arial"/>
                </a:rPr>
                <a:t>If a change is needed, you outline a suggestion for improvement.</a:t>
              </a:r>
              <a:endParaRPr sz="1600" b="0" i="0" u="none" strike="noStrike" cap="none">
                <a:solidFill>
                  <a:schemeClr val="dk1"/>
                </a:solidFill>
                <a:latin typeface="Arial"/>
                <a:ea typeface="Arial"/>
                <a:cs typeface="Arial"/>
                <a:sym typeface="Arial"/>
              </a:endParaRPr>
            </a:p>
          </p:txBody>
        </p:sp>
        <p:sp>
          <p:nvSpPr>
            <p:cNvPr id="1703" name="Google Shape;1703;p154"/>
            <p:cNvSpPr/>
            <p:nvPr/>
          </p:nvSpPr>
          <p:spPr>
            <a:xfrm>
              <a:off x="442913" y="4332389"/>
              <a:ext cx="3465167" cy="1422400"/>
            </a:xfrm>
            <a:prstGeom prst="rect">
              <a:avLst/>
            </a:prstGeom>
            <a:solidFill>
              <a:srgbClr val="D8D8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Arial"/>
                  <a:ea typeface="Arial"/>
                  <a:cs typeface="Arial"/>
                  <a:sym typeface="Arial"/>
                </a:rPr>
                <a:t>In action: </a:t>
              </a:r>
              <a:r>
                <a:rPr lang="en-US" sz="1600" b="0" i="0" u="none" strike="noStrike" cap="none">
                  <a:solidFill>
                    <a:schemeClr val="dk1"/>
                  </a:solidFill>
                  <a:latin typeface="Arial"/>
                  <a:ea typeface="Arial"/>
                  <a:cs typeface="Arial"/>
                  <a:sym typeface="Arial"/>
                </a:rPr>
                <a:t>„In future, I suggest you explain your objective at the start of the meeting.”</a:t>
              </a:r>
              <a:endParaRPr sz="1600" b="0" i="0" u="none" strike="noStrike" cap="none">
                <a:solidFill>
                  <a:schemeClr val="dk1"/>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9"/>
        <p:cNvGrpSpPr/>
        <p:nvPr/>
      </p:nvGrpSpPr>
      <p:grpSpPr>
        <a:xfrm>
          <a:off x="0" y="0"/>
          <a:ext cx="0" cy="0"/>
          <a:chOff x="0" y="0"/>
          <a:chExt cx="0" cy="0"/>
        </a:xfrm>
      </p:grpSpPr>
      <p:sp>
        <p:nvSpPr>
          <p:cNvPr id="1500" name="Google Shape;1500;p146"/>
          <p:cNvSpPr txBox="1">
            <a:spLocks noGrp="1"/>
          </p:cNvSpPr>
          <p:nvPr>
            <p:ph type="title"/>
          </p:nvPr>
        </p:nvSpPr>
        <p:spPr>
          <a:xfrm>
            <a:off x="442913" y="432001"/>
            <a:ext cx="11306100" cy="492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Tips for Reviewer</a:t>
            </a:r>
            <a:endParaRPr/>
          </a:p>
        </p:txBody>
      </p:sp>
      <p:sp>
        <p:nvSpPr>
          <p:cNvPr id="1501" name="Google Shape;1501;p146"/>
          <p:cNvSpPr txBox="1">
            <a:spLocks noGrp="1"/>
          </p:cNvSpPr>
          <p:nvPr>
            <p:ph type="sldNum" idx="12"/>
          </p:nvPr>
        </p:nvSpPr>
        <p:spPr>
          <a:xfrm>
            <a:off x="11327130" y="6400800"/>
            <a:ext cx="422100" cy="1371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750"/>
              <a:buFont typeface="Arial"/>
              <a:buNone/>
            </a:pPr>
            <a:fld id="{00000000-1234-1234-1234-123412341234}" type="slidenum">
              <a:rPr lang="en-US"/>
              <a:t>18</a:t>
            </a:fld>
            <a:endParaRPr/>
          </a:p>
        </p:txBody>
      </p:sp>
      <p:sp>
        <p:nvSpPr>
          <p:cNvPr id="1502" name="Google Shape;1502;p146"/>
          <p:cNvSpPr txBox="1"/>
          <p:nvPr/>
        </p:nvSpPr>
        <p:spPr>
          <a:xfrm>
            <a:off x="443000" y="1422400"/>
            <a:ext cx="5850300" cy="45993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Feedback should be given for </a:t>
            </a:r>
            <a:r>
              <a:rPr lang="en-US" sz="1800" b="1">
                <a:solidFill>
                  <a:schemeClr val="dk1"/>
                </a:solidFill>
              </a:rPr>
              <a:t>reviewed</a:t>
            </a:r>
            <a:r>
              <a:rPr lang="en-US" sz="1800">
                <a:solidFill>
                  <a:schemeClr val="dk1"/>
                </a:solidFill>
              </a:rPr>
              <a:t> work only (not for the whole project)</a:t>
            </a:r>
            <a:endParaRPr sz="700">
              <a:solidFill>
                <a:schemeClr val="dk1"/>
              </a:solidFill>
            </a:endParaRPr>
          </a:p>
          <a:p>
            <a:pPr marL="457200" marR="0" lvl="0" indent="0" algn="l" rtl="0">
              <a:lnSpc>
                <a:spcPct val="100000"/>
              </a:lnSpc>
              <a:spcBef>
                <a:spcPts val="0"/>
              </a:spcBef>
              <a:spcAft>
                <a:spcPts val="0"/>
              </a:spcAft>
              <a:buNone/>
            </a:pPr>
            <a:endParaRPr sz="700">
              <a:solidFill>
                <a:schemeClr val="dk1"/>
              </a:solidFill>
            </a:endParaRPr>
          </a:p>
          <a:p>
            <a:pPr marL="342900" marR="0" lvl="0" indent="-342900" algn="l" rtl="0">
              <a:lnSpc>
                <a:spcPct val="100000"/>
              </a:lnSpc>
              <a:spcBef>
                <a:spcPts val="900"/>
              </a:spcBef>
              <a:spcAft>
                <a:spcPts val="0"/>
              </a:spcAft>
              <a:buClr>
                <a:schemeClr val="dk1"/>
              </a:buClr>
              <a:buSzPts val="1800"/>
              <a:buFont typeface="Noto Sans Symbols"/>
              <a:buChar char="✔"/>
            </a:pPr>
            <a:r>
              <a:rPr lang="en-US" sz="1800">
                <a:solidFill>
                  <a:schemeClr val="dk1"/>
                </a:solidFill>
              </a:rPr>
              <a:t>If you want to give developmental feedback, </a:t>
            </a:r>
            <a:r>
              <a:rPr lang="en-US" sz="1800" b="1">
                <a:solidFill>
                  <a:schemeClr val="dk1"/>
                </a:solidFill>
              </a:rPr>
              <a:t>discuss</a:t>
            </a:r>
            <a:r>
              <a:rPr lang="en-US" sz="1800">
                <a:solidFill>
                  <a:schemeClr val="dk1"/>
                </a:solidFill>
              </a:rPr>
              <a:t> it with your reviewee first to avoid demotivating effect and provide as much constructive evidence as possible </a:t>
            </a:r>
          </a:p>
          <a:p>
            <a:pPr marL="457200" marR="0" lvl="0" indent="0" algn="l" rtl="0">
              <a:lnSpc>
                <a:spcPct val="100000"/>
              </a:lnSpc>
              <a:spcBef>
                <a:spcPts val="900"/>
              </a:spcBef>
              <a:spcAft>
                <a:spcPts val="0"/>
              </a:spcAft>
              <a:buNone/>
            </a:pPr>
            <a:endParaRPr sz="700">
              <a:solidFill>
                <a:schemeClr val="dk1"/>
              </a:solidFill>
            </a:endParaRPr>
          </a:p>
          <a:p>
            <a:pPr marL="342900" marR="0" lvl="0" indent="-342900" algn="l" rtl="0">
              <a:lnSpc>
                <a:spcPct val="100000"/>
              </a:lnSpc>
              <a:spcBef>
                <a:spcPts val="900"/>
              </a:spcBef>
              <a:spcAft>
                <a:spcPts val="0"/>
              </a:spcAft>
              <a:buClr>
                <a:schemeClr val="dk1"/>
              </a:buClr>
              <a:buSzPts val="1800"/>
              <a:buFont typeface="Noto Sans Symbols"/>
              <a:buChar char="✔"/>
            </a:pPr>
            <a:r>
              <a:rPr lang="en-US" sz="1800">
                <a:solidFill>
                  <a:schemeClr val="dk1"/>
                </a:solidFill>
              </a:rPr>
              <a:t>Feedbacks should always be submitted in the system during or after a feedback conversation and </a:t>
            </a:r>
            <a:r>
              <a:rPr lang="en-US" sz="1800" b="1">
                <a:solidFill>
                  <a:schemeClr val="dk1"/>
                </a:solidFill>
              </a:rPr>
              <a:t>should never replace a conversation. </a:t>
            </a:r>
          </a:p>
          <a:p>
            <a:pPr marL="342900" marR="0" lvl="0" indent="-342900" algn="l" rtl="0">
              <a:lnSpc>
                <a:spcPct val="100000"/>
              </a:lnSpc>
              <a:spcBef>
                <a:spcPts val="900"/>
              </a:spcBef>
              <a:spcAft>
                <a:spcPts val="0"/>
              </a:spcAft>
              <a:buClr>
                <a:schemeClr val="dk1"/>
              </a:buClr>
              <a:buSzPts val="1800"/>
              <a:buFont typeface="Noto Sans Symbols"/>
              <a:buChar char="✔"/>
            </a:pPr>
            <a:r>
              <a:rPr lang="en-US" sz="1800">
                <a:solidFill>
                  <a:schemeClr val="dk1"/>
                </a:solidFill>
              </a:rPr>
              <a:t>Provide a view of both </a:t>
            </a:r>
            <a:r>
              <a:rPr lang="en-US" sz="1800" b="1">
                <a:solidFill>
                  <a:schemeClr val="dk1"/>
                </a:solidFill>
              </a:rPr>
              <a:t>‘what’ they do (outcomes) as well as ‘how’ they do them (behaviors).</a:t>
            </a:r>
          </a:p>
          <a:p>
            <a:pPr marL="342900" marR="0" lvl="0" indent="-228600" algn="l" rtl="0">
              <a:lnSpc>
                <a:spcPct val="100000"/>
              </a:lnSpc>
              <a:spcBef>
                <a:spcPts val="900"/>
              </a:spcBef>
              <a:spcAft>
                <a:spcPts val="0"/>
              </a:spcAft>
              <a:buClr>
                <a:srgbClr val="FFFFFF"/>
              </a:buClr>
              <a:buSzPts val="1800"/>
              <a:buFont typeface="Noto Sans Symbols"/>
              <a:buNone/>
            </a:pPr>
            <a:endParaRPr sz="1800"/>
          </a:p>
        </p:txBody>
      </p:sp>
      <p:pic>
        <p:nvPicPr>
          <p:cNvPr id="1503" name="Google Shape;1503;p146"/>
          <p:cNvPicPr preferRelativeResize="0"/>
          <p:nvPr/>
        </p:nvPicPr>
        <p:blipFill rotWithShape="1">
          <a:blip r:embed="rId3">
            <a:alphaModFix/>
          </a:blip>
          <a:srcRect l="31197" r="16536"/>
          <a:stretch/>
        </p:blipFill>
        <p:spPr>
          <a:xfrm>
            <a:off x="6717725" y="0"/>
            <a:ext cx="5474273" cy="6858001"/>
          </a:xfrm>
          <a:prstGeom prst="rect">
            <a:avLst/>
          </a:prstGeom>
          <a:noFill/>
          <a:ln>
            <a:noFill/>
          </a:ln>
        </p:spPr>
      </p:pic>
      <p:sp>
        <p:nvSpPr>
          <p:cNvPr id="1504" name="Google Shape;1504;p146"/>
          <p:cNvSpPr/>
          <p:nvPr/>
        </p:nvSpPr>
        <p:spPr>
          <a:xfrm>
            <a:off x="6717725" y="659400"/>
            <a:ext cx="662100" cy="659400"/>
          </a:xfrm>
          <a:prstGeom prst="rect">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05" name="Google Shape;1505;p146"/>
          <p:cNvSpPr/>
          <p:nvPr/>
        </p:nvSpPr>
        <p:spPr>
          <a:xfrm>
            <a:off x="11529898" y="6198603"/>
            <a:ext cx="662100" cy="659400"/>
          </a:xfrm>
          <a:prstGeom prst="rect">
            <a:avLst/>
          </a:prstGeom>
          <a:solidFill>
            <a:srgbClr val="FEFEF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06" name="Google Shape;1506;p146"/>
          <p:cNvSpPr/>
          <p:nvPr/>
        </p:nvSpPr>
        <p:spPr>
          <a:xfrm>
            <a:off x="7379823" y="-5"/>
            <a:ext cx="662100" cy="659400"/>
          </a:xfrm>
          <a:prstGeom prst="rect">
            <a:avLst/>
          </a:prstGeom>
          <a:solidFill>
            <a:srgbClr val="EB8C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07" name="Google Shape;1507;p146"/>
          <p:cNvSpPr/>
          <p:nvPr/>
        </p:nvSpPr>
        <p:spPr>
          <a:xfrm>
            <a:off x="10876075" y="6199875"/>
            <a:ext cx="662100" cy="659400"/>
          </a:xfrm>
          <a:prstGeom prst="rect">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08" name="Google Shape;1508;p146"/>
          <p:cNvSpPr/>
          <p:nvPr/>
        </p:nvSpPr>
        <p:spPr>
          <a:xfrm>
            <a:off x="11538173" y="5540470"/>
            <a:ext cx="662100" cy="659400"/>
          </a:xfrm>
          <a:prstGeom prst="rect">
            <a:avLst/>
          </a:prstGeom>
          <a:solidFill>
            <a:srgbClr val="EB8C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sp>
        <p:nvSpPr>
          <p:cNvPr id="1514" name="Google Shape;1514;p147"/>
          <p:cNvSpPr txBox="1">
            <a:spLocks noGrp="1"/>
          </p:cNvSpPr>
          <p:nvPr>
            <p:ph type="title"/>
          </p:nvPr>
        </p:nvSpPr>
        <p:spPr>
          <a:xfrm>
            <a:off x="442913" y="432001"/>
            <a:ext cx="11306100" cy="492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 Tips for Reviewee </a:t>
            </a:r>
            <a:endParaRPr/>
          </a:p>
        </p:txBody>
      </p:sp>
      <p:sp>
        <p:nvSpPr>
          <p:cNvPr id="1515" name="Google Shape;1515;p147"/>
          <p:cNvSpPr txBox="1">
            <a:spLocks noGrp="1"/>
          </p:cNvSpPr>
          <p:nvPr>
            <p:ph type="sldNum" idx="12"/>
          </p:nvPr>
        </p:nvSpPr>
        <p:spPr>
          <a:xfrm>
            <a:off x="11327130" y="6400800"/>
            <a:ext cx="422100" cy="1371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750"/>
              <a:buFont typeface="Arial"/>
              <a:buNone/>
            </a:pPr>
            <a:fld id="{00000000-1234-1234-1234-123412341234}" type="slidenum">
              <a:rPr lang="en-US"/>
              <a:t>19</a:t>
            </a:fld>
            <a:endParaRPr/>
          </a:p>
        </p:txBody>
      </p:sp>
      <p:sp>
        <p:nvSpPr>
          <p:cNvPr id="1516" name="Google Shape;1516;p147"/>
          <p:cNvSpPr txBox="1"/>
          <p:nvPr/>
        </p:nvSpPr>
        <p:spPr>
          <a:xfrm>
            <a:off x="442925" y="1665300"/>
            <a:ext cx="5715300" cy="4219200"/>
          </a:xfrm>
          <a:prstGeom prst="rect">
            <a:avLst/>
          </a:prstGeom>
          <a:noFill/>
          <a:ln>
            <a:noFill/>
          </a:ln>
        </p:spPr>
        <p:txBody>
          <a:bodyPr spcFirstLastPara="1" wrap="square" lIns="0" tIns="0" rIns="0" bIns="0" anchor="t" anchorCtr="0">
            <a:noAutofit/>
          </a:bodyPr>
          <a:lstStyle/>
          <a:p>
            <a:pPr marL="514350" marR="0" lvl="0" indent="-368300" algn="l" rtl="0">
              <a:lnSpc>
                <a:spcPct val="100000"/>
              </a:lnSpc>
              <a:spcBef>
                <a:spcPts val="0"/>
              </a:spcBef>
              <a:spcAft>
                <a:spcPts val="0"/>
              </a:spcAft>
              <a:buSzPts val="1900"/>
              <a:buFont typeface="Noto Sans Symbols"/>
              <a:buChar char="✔"/>
            </a:pPr>
            <a:r>
              <a:rPr lang="en-US" sz="1900"/>
              <a:t>Feedback should be requested for </a:t>
            </a:r>
            <a:r>
              <a:rPr lang="en-US" sz="1900" b="1"/>
              <a:t>reviewed</a:t>
            </a:r>
            <a:r>
              <a:rPr lang="en-US" sz="1900"/>
              <a:t> </a:t>
            </a:r>
            <a:r>
              <a:rPr lang="en-US" sz="1900" b="1"/>
              <a:t>work only </a:t>
            </a:r>
          </a:p>
          <a:p>
            <a:pPr marL="514350" marR="0" lvl="0" indent="-368300" algn="l" rtl="0">
              <a:lnSpc>
                <a:spcPct val="100000"/>
              </a:lnSpc>
              <a:spcBef>
                <a:spcPts val="0"/>
              </a:spcBef>
              <a:spcAft>
                <a:spcPts val="0"/>
              </a:spcAft>
              <a:buSzPts val="1900"/>
              <a:buFont typeface="Noto Sans Symbols"/>
              <a:buChar char="✔"/>
            </a:pPr>
            <a:r>
              <a:rPr lang="en-US" sz="1900" b="1"/>
              <a:t>Name</a:t>
            </a:r>
            <a:r>
              <a:rPr lang="en-US" sz="1900"/>
              <a:t> the Feedback request (description of the piece of work to be reviewed), provide specific details on context, describe your role, number of hours, etc.</a:t>
            </a:r>
          </a:p>
          <a:p>
            <a:pPr marL="514350" marR="0" lvl="0" indent="-368300" algn="l" rtl="0">
              <a:lnSpc>
                <a:spcPct val="100000"/>
              </a:lnSpc>
              <a:spcBef>
                <a:spcPts val="0"/>
              </a:spcBef>
              <a:spcAft>
                <a:spcPts val="0"/>
              </a:spcAft>
              <a:buSzPts val="1900"/>
              <a:buFont typeface="Noto Sans Symbols"/>
              <a:buChar char="✔"/>
            </a:pPr>
            <a:r>
              <a:rPr lang="en-US" sz="1900"/>
              <a:t>Request feedback on a piece of work you have recently done, to review strengths, correct behavior and check progress made. </a:t>
            </a:r>
            <a:r>
              <a:rPr lang="en-US" sz="1900" b="1"/>
              <a:t>Do not always wait for the end of a project</a:t>
            </a:r>
            <a:r>
              <a:rPr lang="en-US" sz="1900"/>
              <a:t>. </a:t>
            </a:r>
          </a:p>
          <a:p>
            <a:pPr marL="514350" indent="-368300">
              <a:spcBef>
                <a:spcPts val="900"/>
              </a:spcBef>
              <a:buSzPts val="1900"/>
              <a:buFont typeface="Noto Sans Symbols"/>
              <a:buChar char="✔"/>
            </a:pPr>
            <a:r>
              <a:rPr lang="en-US" sz="1900" b="1">
                <a:solidFill>
                  <a:schemeClr val="accent3"/>
                </a:solidFill>
              </a:rPr>
              <a:t>80% OF TIME </a:t>
            </a:r>
            <a:r>
              <a:rPr lang="en-US" sz="1900">
                <a:solidFill>
                  <a:schemeClr val="accent3"/>
                </a:solidFill>
              </a:rPr>
              <a:t>should be covered by Feedback Exchange feedbacks (9-12 feedbacks for performance year) </a:t>
            </a:r>
          </a:p>
          <a:p>
            <a:pPr marL="514350" indent="-368300">
              <a:spcBef>
                <a:spcPts val="900"/>
              </a:spcBef>
              <a:buSzPts val="1900"/>
              <a:buFont typeface="Noto Sans Symbols"/>
              <a:buChar char="✔"/>
            </a:pPr>
            <a:r>
              <a:rPr lang="en-US" sz="1900"/>
              <a:t>Feedback should be requested for a negative experience as well </a:t>
            </a:r>
            <a:endParaRPr lang="en-US" sz="1900" b="1"/>
          </a:p>
          <a:p>
            <a:pPr marL="514350" indent="-368300">
              <a:spcBef>
                <a:spcPts val="900"/>
              </a:spcBef>
              <a:buSzPts val="1900"/>
              <a:buFont typeface="Noto Sans Symbols"/>
              <a:buChar char="✔"/>
            </a:pPr>
            <a:endParaRPr lang="en-US" sz="1900">
              <a:solidFill>
                <a:schemeClr val="accent3"/>
              </a:solidFill>
            </a:endParaRPr>
          </a:p>
          <a:p>
            <a:pPr marL="146050" marR="0" lvl="0" algn="l" rtl="0">
              <a:lnSpc>
                <a:spcPct val="100000"/>
              </a:lnSpc>
              <a:spcBef>
                <a:spcPts val="900"/>
              </a:spcBef>
              <a:spcAft>
                <a:spcPts val="0"/>
              </a:spcAft>
              <a:buSzPts val="1900"/>
            </a:pPr>
            <a:endParaRPr lang="en-US" sz="1900"/>
          </a:p>
        </p:txBody>
      </p:sp>
      <p:pic>
        <p:nvPicPr>
          <p:cNvPr id="1517" name="Google Shape;1517;p147"/>
          <p:cNvPicPr preferRelativeResize="0"/>
          <p:nvPr/>
        </p:nvPicPr>
        <p:blipFill rotWithShape="1">
          <a:blip r:embed="rId3">
            <a:alphaModFix/>
          </a:blip>
          <a:srcRect l="10879" r="16882"/>
          <a:stretch/>
        </p:blipFill>
        <p:spPr>
          <a:xfrm>
            <a:off x="6602300" y="1422400"/>
            <a:ext cx="5146925" cy="4749802"/>
          </a:xfrm>
          <a:prstGeom prst="rect">
            <a:avLst/>
          </a:prstGeom>
          <a:noFill/>
          <a:ln>
            <a:noFill/>
          </a:ln>
        </p:spPr>
      </p:pic>
      <p:sp>
        <p:nvSpPr>
          <p:cNvPr id="1518" name="Google Shape;1518;p147"/>
          <p:cNvSpPr/>
          <p:nvPr/>
        </p:nvSpPr>
        <p:spPr>
          <a:xfrm>
            <a:off x="6602300" y="5512800"/>
            <a:ext cx="662100" cy="659400"/>
          </a:xfrm>
          <a:prstGeom prst="rect">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19" name="Google Shape;1519;p147"/>
          <p:cNvSpPr/>
          <p:nvPr/>
        </p:nvSpPr>
        <p:spPr>
          <a:xfrm>
            <a:off x="11529898" y="6198603"/>
            <a:ext cx="662100" cy="659400"/>
          </a:xfrm>
          <a:prstGeom prst="rect">
            <a:avLst/>
          </a:prstGeom>
          <a:solidFill>
            <a:srgbClr val="FEFEF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20" name="Google Shape;1520;p147"/>
          <p:cNvSpPr/>
          <p:nvPr/>
        </p:nvSpPr>
        <p:spPr>
          <a:xfrm>
            <a:off x="7264398" y="4848720"/>
            <a:ext cx="662100" cy="659400"/>
          </a:xfrm>
          <a:prstGeom prst="rect">
            <a:avLst/>
          </a:prstGeom>
          <a:solidFill>
            <a:srgbClr val="EB8C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21" name="Google Shape;1521;p147"/>
          <p:cNvSpPr/>
          <p:nvPr/>
        </p:nvSpPr>
        <p:spPr>
          <a:xfrm>
            <a:off x="11087125" y="2081800"/>
            <a:ext cx="662100" cy="6594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22" name="Google Shape;1522;p147"/>
          <p:cNvSpPr/>
          <p:nvPr/>
        </p:nvSpPr>
        <p:spPr>
          <a:xfrm>
            <a:off x="11087123" y="1422395"/>
            <a:ext cx="662100" cy="659400"/>
          </a:xfrm>
          <a:prstGeom prst="rect">
            <a:avLst/>
          </a:prstGeom>
          <a:solidFill>
            <a:srgbClr val="EB8C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covers" id="{98F2CEF4-6567-6443-B2FD-701CC35B720A}" vid="{DE9079C6-0E13-3442-B503-5C184716313C}"/>
    </a:ext>
  </a:extLst>
</a:theme>
</file>

<file path=ppt/theme/theme2.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93954"/>
      </a:accent5>
      <a:accent6>
        <a:srgbClr val="464646"/>
      </a:accent6>
      <a:hlink>
        <a:srgbClr val="D04A02"/>
      </a:hlink>
      <a:folHlink>
        <a:srgbClr val="D9395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26D05D9E76784389331D128FBB662F" ma:contentTypeVersion="11" ma:contentTypeDescription="Create a new document." ma:contentTypeScope="" ma:versionID="db1ff85b90d27bc7f15e0d7d10fb999c">
  <xsd:schema xmlns:xsd="http://www.w3.org/2001/XMLSchema" xmlns:xs="http://www.w3.org/2001/XMLSchema" xmlns:p="http://schemas.microsoft.com/office/2006/metadata/properties" xmlns:ns2="97e8b437-35a7-403d-b441-9a58c785291c" xmlns:ns3="3a9c51b2-9e0f-4bc2-9910-ef1614313984" targetNamespace="http://schemas.microsoft.com/office/2006/metadata/properties" ma:root="true" ma:fieldsID="abe7f5b73667b9bde4227a8167c12125" ns2:_="" ns3:_="">
    <xsd:import namespace="97e8b437-35a7-403d-b441-9a58c785291c"/>
    <xsd:import namespace="3a9c51b2-9e0f-4bc2-9910-ef1614313984"/>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e8b437-35a7-403d-b441-9a58c785291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7" nillable="true" ma:displayName="Taxonomy Catch All Column" ma:hidden="true" ma:list="{d6caf6a9-a355-43e7-a37c-ae4de4ef2ab5}" ma:internalName="TaxCatchAll" ma:showField="CatchAllData" ma:web="97e8b437-35a7-403d-b441-9a58c785291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a9c51b2-9e0f-4bc2-9910-ef161431398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7bde53e-b0a2-4e98-8550-8a152603f3a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7e8b437-35a7-403d-b441-9a58c785291c" xsi:nil="true"/>
    <lcf76f155ced4ddcb4097134ff3c332f xmlns="3a9c51b2-9e0f-4bc2-9910-ef1614313984">
      <Terms xmlns="http://schemas.microsoft.com/office/infopath/2007/PartnerControls"/>
    </lcf76f155ced4ddcb4097134ff3c332f>
    <_dlc_DocId xmlns="97e8b437-35a7-403d-b441-9a58c785291c">EWEH37SXK6E7-1222720316-889</_dlc_DocId>
    <_dlc_DocIdUrl xmlns="97e8b437-35a7-403d-b441-9a58c785291c">
      <Url>https://polpwc.sharepoint.com/sites/KZ-SD-0AHD0o_jXjSKtUk9PVA/_layouts/15/DocIdRedir.aspx?ID=EWEH37SXK6E7-1222720316-889</Url>
      <Description>EWEH37SXK6E7-1222720316-889</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E138683D-196C-4372-83C7-B6C5C2264183}"/>
</file>

<file path=customXml/itemProps2.xml><?xml version="1.0" encoding="utf-8"?>
<ds:datastoreItem xmlns:ds="http://schemas.openxmlformats.org/officeDocument/2006/customXml" ds:itemID="{43C52A80-AEE8-471A-9D8A-BF1C63DA3BC0}">
  <ds:schemaRefs>
    <ds:schemaRef ds:uri="a7529e29-47af-4223-bf8a-4d93ad245a4a"/>
    <ds:schemaRef ds:uri="http://purl.org/dc/elements/1.1/"/>
    <ds:schemaRef ds:uri="http://www.w3.org/XML/1998/namespace"/>
    <ds:schemaRef ds:uri="http://schemas.microsoft.com/office/infopath/2007/PartnerControls"/>
    <ds:schemaRef ds:uri="http://purl.org/dc/dcmitype/"/>
    <ds:schemaRef ds:uri="http://schemas.openxmlformats.org/package/2006/metadata/core-properties"/>
    <ds:schemaRef ds:uri="http://schemas.microsoft.com/office/2006/documentManagement/types"/>
    <ds:schemaRef ds:uri="http://schemas.microsoft.com/office/2006/metadata/properties"/>
    <ds:schemaRef ds:uri="a4d5b520-f1f1-4c0f-9c32-47be1f0065b4"/>
    <ds:schemaRef ds:uri="2fa8b27e-176c-4211-b460-b64fbc57d199"/>
    <ds:schemaRef ds:uri="http://purl.org/dc/terms/"/>
  </ds:schemaRefs>
</ds:datastoreItem>
</file>

<file path=customXml/itemProps3.xml><?xml version="1.0" encoding="utf-8"?>
<ds:datastoreItem xmlns:ds="http://schemas.openxmlformats.org/officeDocument/2006/customXml" ds:itemID="{52C0F736-D321-4AB2-A773-CD5E7E213EB0}">
  <ds:schemaRefs>
    <ds:schemaRef ds:uri="http://schemas.microsoft.com/sharepoint/v3/contenttype/forms"/>
  </ds:schemaRefs>
</ds:datastoreItem>
</file>

<file path=customXml/itemProps4.xml><?xml version="1.0" encoding="utf-8"?>
<ds:datastoreItem xmlns:ds="http://schemas.openxmlformats.org/officeDocument/2006/customXml" ds:itemID="{A0977B82-0C25-4F31-839A-BFCF8DE34FDE}"/>
</file>

<file path=docProps/app.xml><?xml version="1.0" encoding="utf-8"?>
<Properties xmlns="http://schemas.openxmlformats.org/officeDocument/2006/extended-properties" xmlns:vt="http://schemas.openxmlformats.org/officeDocument/2006/docPropsVTypes">
  <TotalTime>12399</TotalTime>
  <Words>3842</Words>
  <Application>Microsoft Office PowerPoint</Application>
  <PresentationFormat>Widescreen</PresentationFormat>
  <Paragraphs>295</Paragraphs>
  <Slides>19</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Georgia</vt:lpstr>
      <vt:lpstr>Google Sans</vt:lpstr>
      <vt:lpstr>Noto Sans Symbols</vt:lpstr>
      <vt:lpstr>Wingdings</vt:lpstr>
      <vt:lpstr>2_PwC Slide Master</vt:lpstr>
      <vt:lpstr>PowerPoint Presentation</vt:lpstr>
      <vt:lpstr>Feedback Exchange tool Technology supporting real-time feedback culture</vt:lpstr>
      <vt:lpstr>Introducing Feedback Exchange</vt:lpstr>
      <vt:lpstr>How we bring our culture to life: The PwC Professional </vt:lpstr>
      <vt:lpstr>Multi-directional feedback questions in Feedback Exchange</vt:lpstr>
      <vt:lpstr>Multi-directional feedback questions in Feedback Exchange </vt:lpstr>
      <vt:lpstr>Key things to know about requesting feedback  Feedback Exchange has been designed to be user-friendly, so users shouldn’t require detailed guidance. However, here are a few key tips to keep in mind:</vt:lpstr>
      <vt:lpstr>Key things to know about requesting feedback  Feedback Exchange has been designed to be user-friendly, so users shouldn’t require detailed guidance. However, here are a few key tips to keep in mind:</vt:lpstr>
      <vt:lpstr>Key things to know about giving feedback Feedback Exchange has been designed to be user-friendly, so users shouldn’t require detailed guidance. However, here are a few key tips to keep in mind:</vt:lpstr>
      <vt:lpstr>Key things to know about managing &amp; viewing feedback Feedback Exchange has been designed to be user-friendly, so users shouldn’t require detailed guidance. However, here are a few key tips to keep in mind:</vt:lpstr>
      <vt:lpstr>Understanding Likert scale for assessing PwC Professional behaviours </vt:lpstr>
      <vt:lpstr>Understanding Likert scale for assessing role expectations (downward only)</vt:lpstr>
      <vt:lpstr>Understanding Likert scale for Assurance Quality Dimensions (downward only)</vt:lpstr>
      <vt:lpstr>PowerPoint Presentation</vt:lpstr>
      <vt:lpstr>PowerPoint Presentation</vt:lpstr>
      <vt:lpstr>EEC model: three steps framework for giving feedback (focus on deliverable, not a person)</vt:lpstr>
      <vt:lpstr>EEC model: three steps framework for giving feedback (focus on deliverable, not a person)</vt:lpstr>
      <vt:lpstr>Tips for Reviewer</vt:lpstr>
      <vt:lpstr> Tips for Reviewee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our community  of solvers</dc:title>
  <dc:creator>Monika Vesela</dc:creator>
  <cp:lastModifiedBy>Aigerim Seitkali (KZ)</cp:lastModifiedBy>
  <cp:revision>82</cp:revision>
  <dcterms:modified xsi:type="dcterms:W3CDTF">2026-09-02T14:22:13Z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0x0101008D26D05D9E76784389331D128FBB662F</vt:lpwstr>
  </property>
  <property fmtid="{D5CDD505-2E9C-101B-9397-08002B2CF9AE}" pid="3" name="JiveCategories">
    <vt:lpwstr/>
  </property>
  <property fmtid="{D5CDD505-2E9C-101B-9397-08002B2CF9AE}" pid="4" name="MediaServiceImageTags">
    <vt:lpwstr/>
  </property>
  <property fmtid="{D5CDD505-2E9C-101B-9397-08002B2CF9AE}" pid="5" name="TaxKeyword">
    <vt:lpwstr/>
  </property>
  <property fmtid="{D5CDD505-2E9C-101B-9397-08002B2CF9AE}" pid="6" name="_dlc_DocIdItemGuid">
    <vt:lpwstr>65e2e37b-96bd-4e2c-8125-626f3775c24a</vt:lpwstr>
  </property>
</Properties>
</file>